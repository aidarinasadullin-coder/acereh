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1_2.png"/><Relationship Id="rId4" Type="http://schemas.openxmlformats.org/officeDocument/2006/relationships/image" Target="../media/image1_3.png"/><Relationship Id="rId5" Type="http://schemas.openxmlformats.org/officeDocument/2006/relationships/image" Target="../media/image1_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_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_1.png"/><Relationship Id="rId3" Type="http://schemas.openxmlformats.org/officeDocument/2006/relationships/image" Target="../media/image9_2.png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tern-tr"/>
          <p:cNvPicPr/>
          <p:nvPr/>
        </p:nvPicPr>
        <p:blipFill>
          <a:blip r:embed="rId2"/>
          <a:srcRect l="15" r="15"/>
          <a:stretch>
            <a:fillRect/>
          </a:stretch>
        </p:blipFill>
        <p:spPr>
          <a:xfrm>
            <a:off x="8382000" y="0"/>
            <a:ext cx="3810000" cy="238760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3"/>
          <a:srcRect l="-379" r="-379"/>
          <a:stretch>
            <a:fillRect/>
          </a:stretch>
        </p:blipFill>
        <p:spPr>
          <a:xfrm>
            <a:off x="762000" y="609600"/>
            <a:ext cx="2286000" cy="825500"/>
          </a:xfrm>
          <a:prstGeom prst="rect">
            <a:avLst/>
          </a:prstGeom>
          <a:ln>
            <a:noFill/>
          </a:ln>
        </p:spPr>
      </p:pic>
      <p:pic>
        <p:nvPicPr>
          <p:cNvPr id="4" name="app-icon"/>
          <p:cNvPicPr/>
          <p:nvPr/>
        </p:nvPicPr>
        <p:blipFill>
          <a:blip r:embed="rId4"/>
          <a:srcRect l="0" r="0"/>
          <a:stretch>
            <a:fillRect/>
          </a:stretch>
        </p:blipFill>
        <p:spPr>
          <a:xfrm>
            <a:off x="10058400" y="2844800"/>
            <a:ext cx="1371600" cy="1371600"/>
          </a:xfrm>
          <a:prstGeom prst="rect">
            <a:avLst/>
          </a:prstGeom>
          <a:ln>
            <a:noFill/>
          </a:ln>
        </p:spPr>
      </p:pic>
      <p:sp>
        <p:nvSpPr>
          <p:cNvPr id="5" name="accent-bar"/>
          <p:cNvSpPr/>
          <p:nvPr/>
        </p:nvSpPr>
        <p:spPr>
          <a:xfrm>
            <a:off x="787400" y="2768600"/>
            <a:ext cx="584200" cy="762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6" name="title"/>
          <p:cNvSpPr txBox="1"/>
          <p:nvPr/>
        </p:nvSpPr>
        <p:spPr>
          <a:xfrm>
            <a:off x="762000" y="3022600"/>
            <a:ext cx="812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15000"/>
              </a:lnSpc>
            </a:pPr>
            <a:r>
              <a:rPr lang="en-US" sz="4200" noProof="1" b="1">
                <a:solidFill>
                  <a:srgbClr val="000000"/>
                </a:solidFill>
                <a:latin typeface="MiSans"/>
                <a:ea typeface="MiSans"/>
              </a:rPr>
              <a:t>Калькулятор снеготаяния</a:t>
            </a:r>
            <a:endParaRPr lang="en-US" sz="4200" noProof="1"/>
          </a:p>
        </p:txBody>
      </p:sp>
      <p:sp>
        <p:nvSpPr>
          <p:cNvPr id="7" name="subtitle"/>
          <p:cNvSpPr txBox="1"/>
          <p:nvPr/>
        </p:nvSpPr>
        <p:spPr>
          <a:xfrm>
            <a:off x="762000" y="3911600"/>
            <a:ext cx="711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700" noProof="1">
                <a:solidFill>
                  <a:srgbClr val="4E4E4E"/>
                </a:solidFill>
                <a:latin typeface="MiSans"/>
                <a:ea typeface="MiSans"/>
              </a:rPr>
              <a:t>Тепловой и гидравлический расчёт систем антиобледенения открытых площадок — по нормативам, с продукцией РЕХАУ</a:t>
            </a:r>
            <a:endParaRPr lang="en-US" sz="1700" noProof="1"/>
          </a:p>
        </p:txBody>
      </p:sp>
      <p:pic>
        <p:nvPicPr>
          <p:cNvPr id="8" name="squares-br"/>
          <p:cNvPicPr/>
          <p:nvPr/>
        </p:nvPicPr>
        <p:blipFill>
          <a:blip r:embed="rId5"/>
          <a:srcRect l="-36" r="-36"/>
          <a:stretch>
            <a:fillRect/>
          </a:stretch>
        </p:blipFill>
        <p:spPr>
          <a:xfrm>
            <a:off x="10871200" y="5080000"/>
            <a:ext cx="711200" cy="1168400"/>
          </a:xfrm>
          <a:prstGeom prst="rect">
            <a:avLst/>
          </a:prstGeom>
          <a:ln>
            <a:noFill/>
          </a:ln>
        </p:spPr>
      </p:pic>
      <p:sp>
        <p:nvSpPr>
          <p:cNvPr id="9" name="slogan"/>
          <p:cNvSpPr txBox="1"/>
          <p:nvPr/>
        </p:nvSpPr>
        <p:spPr>
          <a:xfrm>
            <a:off x="762000" y="60706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>
                <a:solidFill>
                  <a:srgbClr val="818181"/>
                </a:solidFill>
                <a:latin typeface="MiSans"/>
                <a:ea typeface="MiSans"/>
              </a:rPr>
              <a:t>Решения для дома и бизнеса</a:t>
            </a:r>
            <a:endParaRPr lang="en-US" sz="1300" noProof="1"/>
          </a:p>
        </p:txBody>
      </p:sp>
      <p:sp>
        <p:nvSpPr>
          <p:cNvPr id="10" name="meta"/>
          <p:cNvSpPr txBox="1"/>
          <p:nvPr/>
        </p:nvSpPr>
        <p:spPr>
          <a:xfrm>
            <a:off x="5842000" y="60706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B0B0B0"/>
                </a:solidFill>
                <a:latin typeface="MiSans"/>
                <a:ea typeface="MiSans"/>
              </a:rPr>
              <a:t>Обзорная презентация · v1.1 · 2026</a:t>
            </a:r>
            <a:endParaRPr lang="en-US" sz="12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 spc="200" kern="0">
                <a:solidFill>
                  <a:srgbClr val="E50040"/>
                </a:solidFill>
                <a:latin typeface="MiSans"/>
                <a:ea typeface="MiSans"/>
              </a:rPr>
              <a:t>ПРОБЛЕМА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000000"/>
                </a:solidFill>
                <a:latin typeface="MiSans"/>
                <a:ea typeface="MiSans"/>
              </a:rPr>
              <a:t>Как сегодня считают снеготаяние</a:t>
            </a:r>
            <a:endParaRPr lang="en-US" sz="3000" noProof="1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pain-card-1"/>
          <p:cNvSpPr/>
          <p:nvPr/>
        </p:nvSpPr>
        <p:spPr>
          <a:xfrm>
            <a:off x="762000" y="1905000"/>
            <a:ext cx="3467100" cy="3048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6" name="pain-1-icon"/>
          <p:cNvSpPr/>
          <p:nvPr>
            <p:extLst>
              <p:ext uri="{F5677B7D-0D2A-4D9B-9A5C-6D8D7D0E5A5D}">
                <pptd:icon encoding="base64url">eyJpY29uTmFtZSI6ImZhczpjbG9jayJ9</pptd:icon>
              </p:ext>
            </p:extLst>
          </p:nvPr>
        </p:nvSpPr>
        <p:spPr>
          <a:xfrm>
            <a:off x="1066800" y="2235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lose/>
                <a:moveTo>
                  <a:pt x="232" y="120"/>
                </a:moveTo>
                <a:lnTo>
                  <a:pt x="232" y="256"/>
                </a:lnTo>
                <a:cubicBezTo>
                  <a:pt x="232" y="264"/>
                  <a:pt x="236" y="272"/>
                  <a:pt x="243" y="276"/>
                </a:cubicBezTo>
                <a:lnTo>
                  <a:pt x="339" y="340"/>
                </a:lnTo>
                <a:cubicBezTo>
                  <a:pt x="350" y="347"/>
                  <a:pt x="365" y="344"/>
                  <a:pt x="372" y="333"/>
                </a:cubicBezTo>
                <a:cubicBezTo>
                  <a:pt x="379" y="322"/>
                  <a:pt x="376" y="307"/>
                  <a:pt x="365" y="300"/>
                </a:cubicBezTo>
                <a:lnTo>
                  <a:pt x="280" y="243"/>
                </a:lnTo>
                <a:lnTo>
                  <a:pt x="280" y="120"/>
                </a:lnTo>
                <a:cubicBezTo>
                  <a:pt x="280" y="107"/>
                  <a:pt x="269" y="96"/>
                  <a:pt x="256" y="96"/>
                </a:cubicBezTo>
                <a:cubicBezTo>
                  <a:pt x="243" y="96"/>
                  <a:pt x="232" y="107"/>
                  <a:pt x="232" y="120"/>
                </a:cubicBezTo>
                <a:close/>
              </a:path>
            </a:pathLst>
          </a:custGeom>
          <a:solidFill>
            <a:srgbClr val="E50040"/>
          </a:solidFill>
          <a:ln>
            <a:noFill/>
          </a:ln>
        </p:spPr>
      </p:sp>
      <p:sp>
        <p:nvSpPr>
          <p:cNvPr id="7" name="pain-1-name"/>
          <p:cNvSpPr txBox="1"/>
          <p:nvPr/>
        </p:nvSpPr>
        <p:spPr>
          <a:xfrm>
            <a:off x="1066800" y="27940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000000"/>
                </a:solidFill>
                <a:latin typeface="MiSans"/>
                <a:ea typeface="MiSans"/>
              </a:rPr>
              <a:t>Часы ручной работы</a:t>
            </a:r>
            <a:endParaRPr lang="en-US" sz="1700" noProof="1"/>
          </a:p>
        </p:txBody>
      </p:sp>
      <p:sp>
        <p:nvSpPr>
          <p:cNvPr id="8" name="pain-1-desc"/>
          <p:cNvSpPr txBox="1"/>
          <p:nvPr/>
        </p:nvSpPr>
        <p:spPr>
          <a:xfrm>
            <a:off x="1066800" y="325120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Климатика ищется по СП, тепловой расчёт ведётся в Excel, гидравлика — в отдельных файлах</a:t>
            </a:r>
            <a:endParaRPr lang="en-US" sz="1300" noProof="1"/>
          </a:p>
        </p:txBody>
      </p:sp>
      <p:sp>
        <p:nvSpPr>
          <p:cNvPr id="9" name="pain-card-2"/>
          <p:cNvSpPr/>
          <p:nvPr/>
        </p:nvSpPr>
        <p:spPr>
          <a:xfrm>
            <a:off x="4483100" y="1905000"/>
            <a:ext cx="3467100" cy="3048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0" name="pain-2-icon"/>
          <p:cNvSpPr/>
          <p:nvPr>
            <p:extLst>
              <p:ext uri="{F5677B7D-0D2A-4D9B-9A5C-6D8D7D0E5A5D}">
                <pptd:icon encoding="base64url">eyJpY29uTmFtZSI6ImZhczp0cmlhbmdsZS1leGNsYW1hdGlvbiJ9</pptd:icon>
              </p:ext>
            </p:extLst>
          </p:nvPr>
        </p:nvSpPr>
        <p:spPr>
          <a:xfrm>
            <a:off x="4787900" y="2235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168"/>
                </a:moveTo>
                <a:cubicBezTo>
                  <a:pt x="243" y="168"/>
                  <a:pt x="232" y="179"/>
                  <a:pt x="232" y="192"/>
                </a:cubicBezTo>
                <a:lnTo>
                  <a:pt x="232" y="304"/>
                </a:lnTo>
                <a:cubicBezTo>
                  <a:pt x="232" y="317"/>
                  <a:pt x="243" y="328"/>
                  <a:pt x="256" y="328"/>
                </a:cubicBezTo>
                <a:cubicBezTo>
                  <a:pt x="269" y="328"/>
                  <a:pt x="280" y="317"/>
                  <a:pt x="280" y="304"/>
                </a:cubicBezTo>
                <a:lnTo>
                  <a:pt x="280" y="192"/>
                </a:lnTo>
                <a:cubicBezTo>
                  <a:pt x="280" y="179"/>
                  <a:pt x="269" y="168"/>
                  <a:pt x="256" y="168"/>
                </a:cubicBezTo>
                <a:close/>
                <a:moveTo>
                  <a:pt x="283" y="384"/>
                </a:moveTo>
                <a:cubicBezTo>
                  <a:pt x="283" y="374"/>
                  <a:pt x="278" y="365"/>
                  <a:pt x="270" y="360"/>
                </a:cubicBezTo>
                <a:cubicBezTo>
                  <a:pt x="261" y="354"/>
                  <a:pt x="251" y="354"/>
                  <a:pt x="242" y="360"/>
                </a:cubicBezTo>
                <a:cubicBezTo>
                  <a:pt x="234" y="365"/>
                  <a:pt x="229" y="374"/>
                  <a:pt x="229" y="384"/>
                </a:cubicBezTo>
                <a:cubicBezTo>
                  <a:pt x="229" y="394"/>
                  <a:pt x="234" y="403"/>
                  <a:pt x="242" y="408"/>
                </a:cubicBezTo>
                <a:cubicBezTo>
                  <a:pt x="251" y="414"/>
                  <a:pt x="261" y="414"/>
                  <a:pt x="270" y="408"/>
                </a:cubicBezTo>
                <a:cubicBezTo>
                  <a:pt x="278" y="403"/>
                  <a:pt x="283" y="394"/>
                  <a:pt x="283" y="384"/>
                </a:cubicBezTo>
                <a:close/>
              </a:path>
            </a:pathLst>
          </a:custGeom>
          <a:solidFill>
            <a:srgbClr val="E50040"/>
          </a:solidFill>
          <a:ln>
            <a:noFill/>
          </a:ln>
        </p:spPr>
      </p:sp>
      <p:sp>
        <p:nvSpPr>
          <p:cNvPr id="11" name="pain-2-name"/>
          <p:cNvSpPr txBox="1"/>
          <p:nvPr/>
        </p:nvSpPr>
        <p:spPr>
          <a:xfrm>
            <a:off x="4787900" y="27940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000000"/>
                </a:solidFill>
                <a:latin typeface="MiSans"/>
                <a:ea typeface="MiSans"/>
              </a:rPr>
              <a:t>Риск ошибок</a:t>
            </a:r>
            <a:endParaRPr lang="en-US" sz="1700" noProof="1"/>
          </a:p>
        </p:txBody>
      </p:sp>
      <p:sp>
        <p:nvSpPr>
          <p:cNvPr id="12" name="pain-2-desc"/>
          <p:cNvSpPr txBox="1"/>
          <p:nvPr/>
        </p:nvSpPr>
        <p:spPr>
          <a:xfrm>
            <a:off x="4787900" y="325120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Каждый проектировщик считает по-своему: ошибка в теплопроводности или потерях давления — переделка объекта</a:t>
            </a:r>
            <a:endParaRPr lang="en-US" sz="1300" noProof="1"/>
          </a:p>
        </p:txBody>
      </p:sp>
      <p:sp>
        <p:nvSpPr>
          <p:cNvPr id="13" name="pain-card-3"/>
          <p:cNvSpPr/>
          <p:nvPr/>
        </p:nvSpPr>
        <p:spPr>
          <a:xfrm>
            <a:off x="8204200" y="1905000"/>
            <a:ext cx="3479800" cy="3048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4" name="pain-3-icon"/>
          <p:cNvSpPr/>
          <p:nvPr>
            <p:extLst>
              <p:ext uri="{F5677B7D-0D2A-4D9B-9A5C-6D8D7D0E5A5D}">
                <pptd:icon encoding="base64url">eyJpY29uTmFtZSI6ImZhczpsaW5rLXNsYXNoIn0</pptd:icon>
              </p:ext>
            </p:extLst>
          </p:nvPr>
        </p:nvSpPr>
        <p:spPr>
          <a:xfrm>
            <a:off x="8509000" y="2235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41" y="-25"/>
                </a:moveTo>
                <a:cubicBezTo>
                  <a:pt x="32" y="-34"/>
                  <a:pt x="16" y="-34"/>
                  <a:pt x="7" y="-25"/>
                </a:cubicBezTo>
                <a:cubicBezTo>
                  <a:pt x="-2" y="-15"/>
                  <a:pt x="-2" y="0"/>
                  <a:pt x="7" y="9"/>
                </a:cubicBezTo>
                <a:lnTo>
                  <a:pt x="535" y="537"/>
                </a:lnTo>
                <a:cubicBezTo>
                  <a:pt x="544" y="547"/>
                  <a:pt x="560" y="547"/>
                  <a:pt x="569" y="537"/>
                </a:cubicBezTo>
                <a:cubicBezTo>
                  <a:pt x="578" y="528"/>
                  <a:pt x="578" y="513"/>
                  <a:pt x="569" y="503"/>
                </a:cubicBezTo>
                <a:lnTo>
                  <a:pt x="447" y="381"/>
                </a:lnTo>
                <a:cubicBezTo>
                  <a:pt x="451" y="378"/>
                  <a:pt x="455" y="374"/>
                  <a:pt x="459" y="370"/>
                </a:cubicBezTo>
                <a:lnTo>
                  <a:pt x="530" y="299"/>
                </a:lnTo>
                <a:cubicBezTo>
                  <a:pt x="559" y="270"/>
                  <a:pt x="576" y="230"/>
                  <a:pt x="576" y="189"/>
                </a:cubicBezTo>
                <a:cubicBezTo>
                  <a:pt x="576" y="102"/>
                  <a:pt x="506" y="32"/>
                  <a:pt x="419" y="32"/>
                </a:cubicBezTo>
                <a:cubicBezTo>
                  <a:pt x="382" y="32"/>
                  <a:pt x="346" y="45"/>
                  <a:pt x="318" y="69"/>
                </a:cubicBezTo>
                <a:cubicBezTo>
                  <a:pt x="338" y="79"/>
                  <a:pt x="357" y="93"/>
                  <a:pt x="373" y="109"/>
                </a:cubicBezTo>
                <a:cubicBezTo>
                  <a:pt x="387" y="101"/>
                  <a:pt x="403" y="96"/>
                  <a:pt x="419" y="96"/>
                </a:cubicBezTo>
                <a:cubicBezTo>
                  <a:pt x="471" y="96"/>
                  <a:pt x="512" y="138"/>
                  <a:pt x="512" y="189"/>
                </a:cubicBezTo>
                <a:cubicBezTo>
                  <a:pt x="512" y="213"/>
                  <a:pt x="502" y="237"/>
                  <a:pt x="485" y="254"/>
                </a:cubicBezTo>
                <a:lnTo>
                  <a:pt x="414" y="325"/>
                </a:lnTo>
                <a:cubicBezTo>
                  <a:pt x="410" y="329"/>
                  <a:pt x="406" y="333"/>
                  <a:pt x="401" y="336"/>
                </a:cubicBezTo>
                <a:lnTo>
                  <a:pt x="354" y="288"/>
                </a:lnTo>
                <a:cubicBezTo>
                  <a:pt x="370" y="287"/>
                  <a:pt x="383" y="274"/>
                  <a:pt x="384" y="257"/>
                </a:cubicBezTo>
                <a:cubicBezTo>
                  <a:pt x="384" y="256"/>
                  <a:pt x="384" y="254"/>
                  <a:pt x="384" y="253"/>
                </a:cubicBezTo>
                <a:cubicBezTo>
                  <a:pt x="384" y="167"/>
                  <a:pt x="314" y="96"/>
                  <a:pt x="227" y="96"/>
                </a:cubicBezTo>
                <a:cubicBezTo>
                  <a:pt x="208" y="96"/>
                  <a:pt x="189" y="100"/>
                  <a:pt x="172" y="106"/>
                </a:cubicBezTo>
                <a:lnTo>
                  <a:pt x="41" y="-25"/>
                </a:lnTo>
                <a:close/>
                <a:moveTo>
                  <a:pt x="226" y="160"/>
                </a:moveTo>
                <a:cubicBezTo>
                  <a:pt x="227" y="160"/>
                  <a:pt x="227" y="160"/>
                  <a:pt x="228" y="160"/>
                </a:cubicBezTo>
                <a:cubicBezTo>
                  <a:pt x="243" y="160"/>
                  <a:pt x="257" y="164"/>
                  <a:pt x="270" y="170"/>
                </a:cubicBezTo>
                <a:cubicBezTo>
                  <a:pt x="272" y="171"/>
                  <a:pt x="273" y="173"/>
                  <a:pt x="275" y="173"/>
                </a:cubicBezTo>
                <a:cubicBezTo>
                  <a:pt x="302" y="190"/>
                  <a:pt x="320" y="219"/>
                  <a:pt x="320" y="253"/>
                </a:cubicBezTo>
                <a:cubicBezTo>
                  <a:pt x="320" y="253"/>
                  <a:pt x="320" y="254"/>
                  <a:pt x="320" y="254"/>
                </a:cubicBezTo>
                <a:lnTo>
                  <a:pt x="226" y="160"/>
                </a:lnTo>
                <a:close/>
              </a:path>
              <a:path w="576" h="512">
                <a:moveTo>
                  <a:pt x="346" y="416"/>
                </a:moveTo>
                <a:lnTo>
                  <a:pt x="192" y="262"/>
                </a:lnTo>
                <a:cubicBezTo>
                  <a:pt x="193" y="346"/>
                  <a:pt x="262" y="415"/>
                  <a:pt x="346" y="416"/>
                </a:cubicBezTo>
                <a:close/>
              </a:path>
              <a:path w="576" h="512">
                <a:moveTo>
                  <a:pt x="140" y="210"/>
                </a:moveTo>
                <a:lnTo>
                  <a:pt x="94" y="164"/>
                </a:lnTo>
                <a:lnTo>
                  <a:pt x="46" y="213"/>
                </a:lnTo>
                <a:cubicBezTo>
                  <a:pt x="16" y="242"/>
                  <a:pt x="0" y="282"/>
                  <a:pt x="0" y="323"/>
                </a:cubicBezTo>
                <a:cubicBezTo>
                  <a:pt x="0" y="410"/>
                  <a:pt x="70" y="480"/>
                  <a:pt x="157" y="480"/>
                </a:cubicBezTo>
                <a:cubicBezTo>
                  <a:pt x="194" y="480"/>
                  <a:pt x="230" y="467"/>
                  <a:pt x="258" y="443"/>
                </a:cubicBezTo>
                <a:cubicBezTo>
                  <a:pt x="238" y="433"/>
                  <a:pt x="219" y="419"/>
                  <a:pt x="203" y="403"/>
                </a:cubicBezTo>
                <a:cubicBezTo>
                  <a:pt x="189" y="411"/>
                  <a:pt x="173" y="416"/>
                  <a:pt x="157" y="416"/>
                </a:cubicBezTo>
                <a:cubicBezTo>
                  <a:pt x="105" y="416"/>
                  <a:pt x="64" y="374"/>
                  <a:pt x="64" y="323"/>
                </a:cubicBezTo>
                <a:cubicBezTo>
                  <a:pt x="64" y="299"/>
                  <a:pt x="74" y="275"/>
                  <a:pt x="91" y="258"/>
                </a:cubicBezTo>
                <a:lnTo>
                  <a:pt x="140" y="209"/>
                </a:lnTo>
                <a:close/>
              </a:path>
            </a:pathLst>
          </a:custGeom>
          <a:solidFill>
            <a:srgbClr val="E50040"/>
          </a:solidFill>
          <a:ln>
            <a:noFill/>
          </a:ln>
        </p:spPr>
      </p:sp>
      <p:sp>
        <p:nvSpPr>
          <p:cNvPr id="15" name="pain-3-name"/>
          <p:cNvSpPr txBox="1"/>
          <p:nvPr/>
        </p:nvSpPr>
        <p:spPr>
          <a:xfrm>
            <a:off x="8509000" y="2794000"/>
            <a:ext cx="2946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000000"/>
                </a:solidFill>
                <a:latin typeface="MiSans"/>
                <a:ea typeface="MiSans"/>
              </a:rPr>
              <a:t>Разрыв с продукцией</a:t>
            </a:r>
            <a:endParaRPr lang="en-US" sz="1700" noProof="1"/>
          </a:p>
        </p:txBody>
      </p:sp>
      <p:sp>
        <p:nvSpPr>
          <p:cNvPr id="16" name="pain-3-desc"/>
          <p:cNvSpPr txBox="1"/>
          <p:nvPr/>
        </p:nvSpPr>
        <p:spPr>
          <a:xfrm>
            <a:off x="8509000" y="3251200"/>
            <a:ext cx="2921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Спецификация собирается вручную из каталогов — артикулы и типоразмеры подбираются отдельно от расчёта</a:t>
            </a:r>
            <a:endParaRPr lang="en-US" sz="1300" noProof="1"/>
          </a:p>
        </p:txBody>
      </p:sp>
      <p:sp>
        <p:nvSpPr>
          <p:cNvPr id="17" name="bottom-note"/>
          <p:cNvSpPr txBox="1"/>
          <p:nvPr/>
        </p:nvSpPr>
        <p:spPr>
          <a:xfrm>
            <a:off x="762000" y="5461000"/>
            <a:ext cx="10922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4E4E4E"/>
                </a:solidFill>
                <a:latin typeface="MiSans"/>
                <a:ea typeface="MiSans"/>
              </a:rPr>
              <a:t>Итог: долго, нестабильно по качеству и без гарантии, что в проект ляжет оборудование </a:t>
            </a:r>
            <a:r>
              <a:rPr lang="en-US" sz="1600" noProof="1" b="1">
                <a:solidFill>
                  <a:srgbClr val="E50040"/>
                </a:solidFill>
                <a:latin typeface="MiSans"/>
                <a:ea typeface="MiSans"/>
              </a:rPr>
              <a:t>РЕХАУ</a:t>
            </a:r>
            <a:endParaRPr lang="en-US" sz="1600" noProof="1"/>
          </a:p>
        </p:txBody>
      </p:sp>
      <p:pic>
        <p:nvPicPr>
          <p:cNvPr id="18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9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02</a:t>
            </a:r>
            <a:endParaRPr lang="en-US" sz="11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tern-right"/>
          <p:cNvPicPr/>
          <p:nvPr/>
        </p:nvPicPr>
        <p:blipFill>
          <a:blip r:embed="rId2">
            <a:alphaModFix amt="45000"/>
          </a:blip>
          <a:srcRect l="30987" r="30987"/>
          <a:stretch>
            <a:fillRect/>
          </a:stretch>
        </p:blipFill>
        <p:spPr>
          <a:xfrm>
            <a:off x="8128000" y="0"/>
            <a:ext cx="4064000" cy="6858000"/>
          </a:xfrm>
          <a:prstGeom prst="rect">
            <a:avLst/>
          </a:prstGeom>
          <a:ln>
            <a:noFill/>
          </a:ln>
        </p:spPr>
      </p:pic>
      <p:sp>
        <p:nvSpPr>
          <p:cNvPr id="3" name="tag"/>
          <p:cNvSpPr txBox="1"/>
          <p:nvPr/>
        </p:nvSpPr>
        <p:spPr>
          <a:xfrm>
            <a:off x="762000" y="762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 spc="200" kern="0">
                <a:solidFill>
                  <a:srgbClr val="4FC7B5"/>
                </a:solidFill>
                <a:latin typeface="MiSans"/>
                <a:ea typeface="MiSans"/>
              </a:rPr>
              <a:t>РЕШЕНИЕ</a:t>
            </a:r>
            <a:endParaRPr lang="en-US" sz="1200" noProof="1"/>
          </a:p>
        </p:txBody>
      </p:sp>
      <p:sp>
        <p:nvSpPr>
          <p:cNvPr id="4" name="statement"/>
          <p:cNvSpPr txBox="1"/>
          <p:nvPr/>
        </p:nvSpPr>
        <p:spPr>
          <a:xfrm>
            <a:off x="762000" y="1397000"/>
            <a:ext cx="9906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3400" noProof="1" b="1">
                <a:solidFill>
                  <a:srgbClr val="FFFFFF"/>
                </a:solidFill>
                <a:latin typeface="MiSans"/>
                <a:ea typeface="MiSans"/>
              </a:rPr>
              <a:t>Единый инструмент под брендом РЕХАУ: от климата объекта до спецификации </a:t>
            </a:r>
            <a:r>
              <a:rPr lang="en-US" sz="3400" noProof="1" b="1">
                <a:solidFill>
                  <a:srgbClr val="4FC7B5"/>
                </a:solidFill>
                <a:latin typeface="MiSans"/>
                <a:ea typeface="MiSans"/>
              </a:rPr>
              <a:t>за минуты</a:t>
            </a:r>
            <a:endParaRPr lang="en-US" sz="3400" noProof="1"/>
          </a:p>
        </p:txBody>
      </p:sp>
      <p:sp>
        <p:nvSpPr>
          <p:cNvPr id="5" name="sub"/>
          <p:cNvSpPr txBox="1"/>
          <p:nvPr/>
        </p:nvSpPr>
        <p:spPr>
          <a:xfrm>
            <a:off x="762000" y="3302000"/>
            <a:ext cx="762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600" noProof="1">
                <a:solidFill>
                  <a:srgbClr val="B0B0B0"/>
                </a:solidFill>
                <a:latin typeface="MiSans"/>
                <a:ea typeface="MiSans"/>
              </a:rPr>
              <a:t>Десктоп-программа для проектировщиков: тепловой и гидравлический расчёт систем снеготаяния по нормативам, с продукцией РЕХАУ внутри</a:t>
            </a:r>
            <a:endParaRPr lang="en-US" sz="1600" noProof="1"/>
          </a:p>
        </p:txBody>
      </p:sp>
      <p:sp>
        <p:nvSpPr>
          <p:cNvPr id="6" name="mini-1"/>
          <p:cNvSpPr/>
          <p:nvPr/>
        </p:nvSpPr>
        <p:spPr>
          <a:xfrm>
            <a:off x="762000" y="4445000"/>
            <a:ext cx="1905000" cy="685800"/>
          </a:xfrm>
          <a:prstGeom prst="homePlate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7" name="mini-1-t"/>
          <p:cNvSpPr txBox="1"/>
          <p:nvPr/>
        </p:nvSpPr>
        <p:spPr>
          <a:xfrm>
            <a:off x="914400" y="4445000"/>
            <a:ext cx="1651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Климат</a:t>
            </a:r>
            <a:endParaRPr lang="en-US" sz="1300" noProof="1"/>
          </a:p>
        </p:txBody>
      </p:sp>
      <p:sp>
        <p:nvSpPr>
          <p:cNvPr id="8" name="mini-2"/>
          <p:cNvSpPr/>
          <p:nvPr/>
        </p:nvSpPr>
        <p:spPr>
          <a:xfrm>
            <a:off x="2717800" y="4445000"/>
            <a:ext cx="1905000" cy="685800"/>
          </a:xfrm>
          <a:prstGeom prst="homePlate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</p:sp>
      <p:sp>
        <p:nvSpPr>
          <p:cNvPr id="9" name="mini-2-t"/>
          <p:cNvSpPr txBox="1"/>
          <p:nvPr/>
        </p:nvSpPr>
        <p:spPr>
          <a:xfrm>
            <a:off x="2895600" y="4445000"/>
            <a:ext cx="1651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Конструкция</a:t>
            </a:r>
            <a:endParaRPr lang="en-US" sz="1300" noProof="1"/>
          </a:p>
        </p:txBody>
      </p:sp>
      <p:sp>
        <p:nvSpPr>
          <p:cNvPr id="10" name="mini-3"/>
          <p:cNvSpPr/>
          <p:nvPr/>
        </p:nvSpPr>
        <p:spPr>
          <a:xfrm>
            <a:off x="4673600" y="4445000"/>
            <a:ext cx="1905000" cy="685800"/>
          </a:xfrm>
          <a:prstGeom prst="homePlate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</p:sp>
      <p:sp>
        <p:nvSpPr>
          <p:cNvPr id="11" name="mini-3-t"/>
          <p:cNvSpPr txBox="1"/>
          <p:nvPr/>
        </p:nvSpPr>
        <p:spPr>
          <a:xfrm>
            <a:off x="4851400" y="4445000"/>
            <a:ext cx="1651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Тепловой</a:t>
            </a:r>
            <a:endParaRPr lang="en-US" sz="1300" noProof="1"/>
          </a:p>
        </p:txBody>
      </p:sp>
      <p:sp>
        <p:nvSpPr>
          <p:cNvPr id="12" name="mini-4"/>
          <p:cNvSpPr/>
          <p:nvPr/>
        </p:nvSpPr>
        <p:spPr>
          <a:xfrm>
            <a:off x="6629400" y="4445000"/>
            <a:ext cx="1905000" cy="685800"/>
          </a:xfrm>
          <a:prstGeom prst="homePlate">
            <a:avLst/>
          </a:prstGeom>
          <a:solidFill>
            <a:srgbClr val="FFFFFF">
              <a:alpha val="14902"/>
            </a:srgbClr>
          </a:solidFill>
          <a:ln>
            <a:noFill/>
          </a:ln>
        </p:spPr>
      </p:sp>
      <p:sp>
        <p:nvSpPr>
          <p:cNvPr id="13" name="mini-4-t"/>
          <p:cNvSpPr txBox="1"/>
          <p:nvPr/>
        </p:nvSpPr>
        <p:spPr>
          <a:xfrm>
            <a:off x="6807200" y="4445000"/>
            <a:ext cx="1651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MiSans"/>
                <a:ea typeface="MiSans"/>
              </a:rPr>
              <a:t>Гидравлика</a:t>
            </a:r>
            <a:endParaRPr lang="en-US" sz="1300" noProof="1"/>
          </a:p>
        </p:txBody>
      </p:sp>
      <p:sp>
        <p:nvSpPr>
          <p:cNvPr id="14" name="mini-5"/>
          <p:cNvSpPr/>
          <p:nvPr/>
        </p:nvSpPr>
        <p:spPr>
          <a:xfrm>
            <a:off x="8585200" y="4445000"/>
            <a:ext cx="1905000" cy="685800"/>
          </a:xfrm>
          <a:prstGeom prst="homePlate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5" name="mini-5-t"/>
          <p:cNvSpPr txBox="1"/>
          <p:nvPr/>
        </p:nvSpPr>
        <p:spPr>
          <a:xfrm>
            <a:off x="8763000" y="4445000"/>
            <a:ext cx="1651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Результаты</a:t>
            </a:r>
            <a:endParaRPr lang="en-US" sz="1300" noProof="1"/>
          </a:p>
        </p:txBody>
      </p:sp>
      <p:sp>
        <p:nvSpPr>
          <p:cNvPr id="16" name="version"/>
          <p:cNvSpPr txBox="1"/>
          <p:nvPr/>
        </p:nvSpPr>
        <p:spPr>
          <a:xfrm>
            <a:off x="762000" y="5969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818181"/>
                </a:solidFill>
                <a:latin typeface="MiSans"/>
                <a:ea typeface="MiSans"/>
              </a:rPr>
              <a:t>Версия 1.0 — рабочий продукт, проверен на реальных объектах</a:t>
            </a:r>
            <a:endParaRPr lang="en-US" sz="1200" noProof="1"/>
          </a:p>
        </p:txBody>
      </p:sp>
      <p:sp>
        <p:nvSpPr>
          <p:cNvPr id="17" name="page-num"/>
          <p:cNvSpPr txBox="1"/>
          <p:nvPr/>
        </p:nvSpPr>
        <p:spPr>
          <a:xfrm>
            <a:off x="11176000" y="63246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03</a:t>
            </a:r>
            <a:endParaRPr lang="en-US" sz="11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 spc="200" kern="0">
                <a:solidFill>
                  <a:srgbClr val="E50040"/>
                </a:solidFill>
                <a:latin typeface="MiSans"/>
                <a:ea typeface="MiSans"/>
              </a:rPr>
              <a:t>ВОЗМОЖНОСТИ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000000"/>
                </a:solidFill>
                <a:latin typeface="MiSans"/>
                <a:ea typeface="MiSans"/>
              </a:rPr>
              <a:t>Что умеет программа</a:t>
            </a:r>
            <a:endParaRPr lang="en-US" sz="3000" noProof="1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f-card-1"/>
          <p:cNvSpPr/>
          <p:nvPr/>
        </p:nvSpPr>
        <p:spPr>
          <a:xfrm>
            <a:off x="762000" y="1905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6" name="f-1-icon"/>
          <p:cNvSpPr/>
          <p:nvPr>
            <p:extLst>
              <p:ext uri="{F5677B7D-0D2A-4D9B-9A5C-6D8D7D0E5A5D}">
                <pptd:icon encoding="base64url">eyJpY29uTmFtZSI6ImZhczptYXAtbG9jYXRpb24tZG90In0</pptd:icon>
              </p:ext>
            </p:extLst>
          </p:nvPr>
        </p:nvSpPr>
        <p:spPr>
          <a:xfrm>
            <a:off x="1066800" y="2209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576" y="48"/>
                </a:moveTo>
                <a:cubicBezTo>
                  <a:pt x="576" y="37"/>
                  <a:pt x="570" y="27"/>
                  <a:pt x="561" y="21"/>
                </a:cubicBezTo>
                <a:cubicBezTo>
                  <a:pt x="551" y="15"/>
                  <a:pt x="540" y="14"/>
                  <a:pt x="530" y="19"/>
                </a:cubicBezTo>
                <a:lnTo>
                  <a:pt x="414" y="78"/>
                </a:lnTo>
                <a:lnTo>
                  <a:pt x="234" y="18"/>
                </a:lnTo>
                <a:cubicBezTo>
                  <a:pt x="226" y="15"/>
                  <a:pt x="217" y="16"/>
                  <a:pt x="210" y="19"/>
                </a:cubicBezTo>
                <a:lnTo>
                  <a:pt x="82" y="83"/>
                </a:lnTo>
                <a:cubicBezTo>
                  <a:pt x="71" y="89"/>
                  <a:pt x="64" y="100"/>
                  <a:pt x="64" y="112"/>
                </a:cubicBezTo>
                <a:lnTo>
                  <a:pt x="64" y="464"/>
                </a:lnTo>
                <a:cubicBezTo>
                  <a:pt x="64" y="475"/>
                  <a:pt x="70" y="485"/>
                  <a:pt x="79" y="491"/>
                </a:cubicBezTo>
                <a:cubicBezTo>
                  <a:pt x="89" y="497"/>
                  <a:pt x="100" y="498"/>
                  <a:pt x="110" y="493"/>
                </a:cubicBezTo>
                <a:lnTo>
                  <a:pt x="226" y="434"/>
                </a:lnTo>
                <a:lnTo>
                  <a:pt x="400" y="492"/>
                </a:lnTo>
                <a:cubicBezTo>
                  <a:pt x="395" y="486"/>
                  <a:pt x="391" y="479"/>
                  <a:pt x="387" y="472"/>
                </a:cubicBezTo>
                <a:cubicBezTo>
                  <a:pt x="376" y="454"/>
                  <a:pt x="365" y="433"/>
                  <a:pt x="357" y="411"/>
                </a:cubicBezTo>
                <a:lnTo>
                  <a:pt x="256" y="377"/>
                </a:lnTo>
                <a:lnTo>
                  <a:pt x="256" y="92"/>
                </a:lnTo>
                <a:lnTo>
                  <a:pt x="384" y="135"/>
                </a:lnTo>
                <a:lnTo>
                  <a:pt x="384" y="234"/>
                </a:lnTo>
                <a:cubicBezTo>
                  <a:pt x="415" y="199"/>
                  <a:pt x="461" y="176"/>
                  <a:pt x="512" y="176"/>
                </a:cubicBezTo>
                <a:cubicBezTo>
                  <a:pt x="535" y="176"/>
                  <a:pt x="556" y="180"/>
                  <a:pt x="576" y="188"/>
                </a:cubicBezTo>
                <a:lnTo>
                  <a:pt x="576" y="48"/>
                </a:lnTo>
                <a:close/>
              </a:path>
              <a:path w="640" h="512">
                <a:moveTo>
                  <a:pt x="512" y="224"/>
                </a:moveTo>
                <a:cubicBezTo>
                  <a:pt x="446" y="224"/>
                  <a:pt x="392" y="277"/>
                  <a:pt x="392" y="342"/>
                </a:cubicBezTo>
                <a:cubicBezTo>
                  <a:pt x="392" y="411"/>
                  <a:pt x="456" y="492"/>
                  <a:pt x="491" y="531"/>
                </a:cubicBezTo>
                <a:cubicBezTo>
                  <a:pt x="502" y="544"/>
                  <a:pt x="522" y="544"/>
                  <a:pt x="534" y="531"/>
                </a:cubicBezTo>
                <a:cubicBezTo>
                  <a:pt x="568" y="492"/>
                  <a:pt x="632" y="411"/>
                  <a:pt x="632" y="342"/>
                </a:cubicBezTo>
                <a:cubicBezTo>
                  <a:pt x="632" y="277"/>
                  <a:pt x="578" y="224"/>
                  <a:pt x="512" y="224"/>
                </a:cubicBezTo>
                <a:close/>
                <a:moveTo>
                  <a:pt x="472" y="344"/>
                </a:moveTo>
                <a:cubicBezTo>
                  <a:pt x="472" y="322"/>
                  <a:pt x="490" y="304"/>
                  <a:pt x="512" y="304"/>
                </a:cubicBezTo>
                <a:cubicBezTo>
                  <a:pt x="534" y="304"/>
                  <a:pt x="552" y="322"/>
                  <a:pt x="552" y="344"/>
                </a:cubicBezTo>
                <a:cubicBezTo>
                  <a:pt x="552" y="366"/>
                  <a:pt x="534" y="384"/>
                  <a:pt x="512" y="384"/>
                </a:cubicBezTo>
                <a:cubicBezTo>
                  <a:pt x="490" y="384"/>
                  <a:pt x="472" y="366"/>
                  <a:pt x="472" y="344"/>
                </a:cubicBezTo>
                <a:close/>
              </a:path>
            </a:pathLst>
          </a:custGeom>
          <a:solidFill>
            <a:srgbClr val="E50040"/>
          </a:solidFill>
          <a:ln>
            <a:noFill/>
          </a:ln>
        </p:spPr>
      </p:sp>
      <p:sp>
        <p:nvSpPr>
          <p:cNvPr id="7" name="f-1-name"/>
          <p:cNvSpPr txBox="1"/>
          <p:nvPr/>
        </p:nvSpPr>
        <p:spPr>
          <a:xfrm>
            <a:off x="1600200" y="218440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00000"/>
                </a:solidFill>
                <a:latin typeface="MiSans"/>
                <a:ea typeface="MiSans"/>
              </a:rPr>
              <a:t>Климатика 550 городов РФ</a:t>
            </a:r>
            <a:endParaRPr lang="en-US" sz="1600" noProof="1"/>
          </a:p>
        </p:txBody>
      </p:sp>
      <p:sp>
        <p:nvSpPr>
          <p:cNvPr id="8" name="f-1-desc"/>
          <p:cNvSpPr txBox="1"/>
          <p:nvPr/>
        </p:nvSpPr>
        <p:spPr>
          <a:xfrm>
            <a:off x="1066800" y="2692400"/>
            <a:ext cx="4724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Параметры СП 131.13330.2025 подставляются автоматически — температура, ветер, влажность, снегопад</a:t>
            </a:r>
            <a:endParaRPr lang="en-US" sz="1300" noProof="1"/>
          </a:p>
        </p:txBody>
      </p:sp>
      <p:sp>
        <p:nvSpPr>
          <p:cNvPr id="9" name="f-card-2"/>
          <p:cNvSpPr/>
          <p:nvPr/>
        </p:nvSpPr>
        <p:spPr>
          <a:xfrm>
            <a:off x="6350000" y="1905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0" name="f-2-icon"/>
          <p:cNvSpPr/>
          <p:nvPr>
            <p:extLst>
              <p:ext uri="{F5677B7D-0D2A-4D9B-9A5C-6D8D7D0E5A5D}">
                <pptd:icon encoding="base64url">eyJpY29uTmFtZSI6ImZhczpnZWFycyJ9</pptd:icon>
              </p:ext>
            </p:extLst>
          </p:nvPr>
        </p:nvSpPr>
        <p:spPr>
          <a:xfrm>
            <a:off x="6654800" y="2209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416" y="211"/>
                </a:moveTo>
                <a:cubicBezTo>
                  <a:pt x="428" y="207"/>
                  <a:pt x="441" y="213"/>
                  <a:pt x="446" y="224"/>
                </a:cubicBezTo>
                <a:lnTo>
                  <a:pt x="465" y="262"/>
                </a:lnTo>
                <a:cubicBezTo>
                  <a:pt x="475" y="263"/>
                  <a:pt x="485" y="266"/>
                  <a:pt x="495" y="270"/>
                </a:cubicBezTo>
                <a:lnTo>
                  <a:pt x="530" y="247"/>
                </a:lnTo>
                <a:cubicBezTo>
                  <a:pt x="540" y="240"/>
                  <a:pt x="554" y="241"/>
                  <a:pt x="563" y="250"/>
                </a:cubicBezTo>
                <a:lnTo>
                  <a:pt x="582" y="269"/>
                </a:lnTo>
                <a:cubicBezTo>
                  <a:pt x="591" y="278"/>
                  <a:pt x="593" y="292"/>
                  <a:pt x="586" y="303"/>
                </a:cubicBezTo>
                <a:lnTo>
                  <a:pt x="562" y="337"/>
                </a:lnTo>
                <a:cubicBezTo>
                  <a:pt x="564" y="342"/>
                  <a:pt x="566" y="347"/>
                  <a:pt x="567" y="352"/>
                </a:cubicBezTo>
                <a:cubicBezTo>
                  <a:pt x="569" y="357"/>
                  <a:pt x="570" y="362"/>
                  <a:pt x="570" y="367"/>
                </a:cubicBezTo>
                <a:lnTo>
                  <a:pt x="608" y="386"/>
                </a:lnTo>
                <a:cubicBezTo>
                  <a:pt x="619" y="392"/>
                  <a:pt x="625" y="404"/>
                  <a:pt x="622" y="416"/>
                </a:cubicBezTo>
                <a:lnTo>
                  <a:pt x="615" y="443"/>
                </a:lnTo>
                <a:cubicBezTo>
                  <a:pt x="612" y="455"/>
                  <a:pt x="600" y="463"/>
                  <a:pt x="588" y="462"/>
                </a:cubicBezTo>
                <a:lnTo>
                  <a:pt x="546" y="459"/>
                </a:lnTo>
                <a:cubicBezTo>
                  <a:pt x="539" y="468"/>
                  <a:pt x="532" y="475"/>
                  <a:pt x="524" y="481"/>
                </a:cubicBezTo>
                <a:lnTo>
                  <a:pt x="527" y="523"/>
                </a:lnTo>
                <a:cubicBezTo>
                  <a:pt x="527" y="536"/>
                  <a:pt x="519" y="547"/>
                  <a:pt x="507" y="551"/>
                </a:cubicBezTo>
                <a:lnTo>
                  <a:pt x="481" y="558"/>
                </a:lnTo>
                <a:cubicBezTo>
                  <a:pt x="469" y="561"/>
                  <a:pt x="456" y="555"/>
                  <a:pt x="450" y="544"/>
                </a:cubicBezTo>
                <a:lnTo>
                  <a:pt x="432" y="506"/>
                </a:lnTo>
                <a:cubicBezTo>
                  <a:pt x="421" y="505"/>
                  <a:pt x="411" y="502"/>
                  <a:pt x="402" y="498"/>
                </a:cubicBezTo>
                <a:lnTo>
                  <a:pt x="367" y="521"/>
                </a:lnTo>
                <a:cubicBezTo>
                  <a:pt x="356" y="528"/>
                  <a:pt x="342" y="527"/>
                  <a:pt x="334" y="518"/>
                </a:cubicBezTo>
                <a:lnTo>
                  <a:pt x="314" y="499"/>
                </a:lnTo>
                <a:cubicBezTo>
                  <a:pt x="305" y="490"/>
                  <a:pt x="304" y="476"/>
                  <a:pt x="311" y="466"/>
                </a:cubicBezTo>
                <a:lnTo>
                  <a:pt x="334" y="431"/>
                </a:lnTo>
                <a:cubicBezTo>
                  <a:pt x="332" y="426"/>
                  <a:pt x="331" y="421"/>
                  <a:pt x="329" y="416"/>
                </a:cubicBezTo>
                <a:cubicBezTo>
                  <a:pt x="328" y="411"/>
                  <a:pt x="327" y="406"/>
                  <a:pt x="326" y="401"/>
                </a:cubicBezTo>
                <a:lnTo>
                  <a:pt x="289" y="382"/>
                </a:lnTo>
                <a:cubicBezTo>
                  <a:pt x="277" y="376"/>
                  <a:pt x="272" y="364"/>
                  <a:pt x="275" y="352"/>
                </a:cubicBezTo>
                <a:lnTo>
                  <a:pt x="282" y="325"/>
                </a:lnTo>
                <a:cubicBezTo>
                  <a:pt x="285" y="313"/>
                  <a:pt x="296" y="305"/>
                  <a:pt x="309" y="306"/>
                </a:cubicBezTo>
                <a:lnTo>
                  <a:pt x="351" y="309"/>
                </a:lnTo>
                <a:cubicBezTo>
                  <a:pt x="357" y="300"/>
                  <a:pt x="365" y="293"/>
                  <a:pt x="373" y="287"/>
                </a:cubicBezTo>
                <a:lnTo>
                  <a:pt x="370" y="245"/>
                </a:lnTo>
                <a:cubicBezTo>
                  <a:pt x="369" y="232"/>
                  <a:pt x="377" y="221"/>
                  <a:pt x="390" y="218"/>
                </a:cubicBezTo>
                <a:lnTo>
                  <a:pt x="416" y="211"/>
                </a:lnTo>
                <a:close/>
                <a:moveTo>
                  <a:pt x="448" y="340"/>
                </a:moveTo>
                <a:cubicBezTo>
                  <a:pt x="424" y="340"/>
                  <a:pt x="404" y="360"/>
                  <a:pt x="404" y="384"/>
                </a:cubicBezTo>
                <a:cubicBezTo>
                  <a:pt x="404" y="408"/>
                  <a:pt x="424" y="428"/>
                  <a:pt x="449" y="428"/>
                </a:cubicBezTo>
                <a:cubicBezTo>
                  <a:pt x="473" y="428"/>
                  <a:pt x="492" y="408"/>
                  <a:pt x="492" y="384"/>
                </a:cubicBezTo>
                <a:cubicBezTo>
                  <a:pt x="492" y="360"/>
                  <a:pt x="473" y="340"/>
                  <a:pt x="448" y="340"/>
                </a:cubicBezTo>
                <a:close/>
              </a:path>
              <a:path w="640" h="512">
                <a:moveTo>
                  <a:pt x="225" y="-45"/>
                </a:moveTo>
                <a:lnTo>
                  <a:pt x="251" y="-38"/>
                </a:lnTo>
                <a:cubicBezTo>
                  <a:pt x="263" y="-35"/>
                  <a:pt x="271" y="-24"/>
                  <a:pt x="271" y="-11"/>
                </a:cubicBezTo>
                <a:lnTo>
                  <a:pt x="268" y="30"/>
                </a:lnTo>
                <a:cubicBezTo>
                  <a:pt x="276" y="37"/>
                  <a:pt x="284" y="44"/>
                  <a:pt x="290" y="53"/>
                </a:cubicBezTo>
                <a:lnTo>
                  <a:pt x="332" y="50"/>
                </a:lnTo>
                <a:cubicBezTo>
                  <a:pt x="344" y="49"/>
                  <a:pt x="356" y="57"/>
                  <a:pt x="359" y="69"/>
                </a:cubicBezTo>
                <a:lnTo>
                  <a:pt x="366" y="96"/>
                </a:lnTo>
                <a:cubicBezTo>
                  <a:pt x="369" y="108"/>
                  <a:pt x="364" y="120"/>
                  <a:pt x="352" y="126"/>
                </a:cubicBezTo>
                <a:lnTo>
                  <a:pt x="315" y="145"/>
                </a:lnTo>
                <a:cubicBezTo>
                  <a:pt x="314" y="150"/>
                  <a:pt x="313" y="155"/>
                  <a:pt x="312" y="160"/>
                </a:cubicBezTo>
                <a:cubicBezTo>
                  <a:pt x="310" y="165"/>
                  <a:pt x="308" y="170"/>
                  <a:pt x="307" y="174"/>
                </a:cubicBezTo>
                <a:lnTo>
                  <a:pt x="330" y="209"/>
                </a:lnTo>
                <a:cubicBezTo>
                  <a:pt x="337" y="220"/>
                  <a:pt x="335" y="234"/>
                  <a:pt x="327" y="243"/>
                </a:cubicBezTo>
                <a:lnTo>
                  <a:pt x="307" y="262"/>
                </a:lnTo>
                <a:cubicBezTo>
                  <a:pt x="298" y="271"/>
                  <a:pt x="285" y="272"/>
                  <a:pt x="274" y="265"/>
                </a:cubicBezTo>
                <a:lnTo>
                  <a:pt x="239" y="242"/>
                </a:lnTo>
                <a:cubicBezTo>
                  <a:pt x="230" y="246"/>
                  <a:pt x="219" y="249"/>
                  <a:pt x="209" y="250"/>
                </a:cubicBezTo>
                <a:lnTo>
                  <a:pt x="191" y="288"/>
                </a:lnTo>
                <a:cubicBezTo>
                  <a:pt x="185" y="299"/>
                  <a:pt x="172" y="305"/>
                  <a:pt x="160" y="302"/>
                </a:cubicBezTo>
                <a:lnTo>
                  <a:pt x="134" y="295"/>
                </a:lnTo>
                <a:cubicBezTo>
                  <a:pt x="122" y="291"/>
                  <a:pt x="114" y="280"/>
                  <a:pt x="114" y="267"/>
                </a:cubicBezTo>
                <a:lnTo>
                  <a:pt x="117" y="225"/>
                </a:lnTo>
                <a:cubicBezTo>
                  <a:pt x="109" y="219"/>
                  <a:pt x="101" y="212"/>
                  <a:pt x="95" y="203"/>
                </a:cubicBezTo>
                <a:lnTo>
                  <a:pt x="53" y="206"/>
                </a:lnTo>
                <a:cubicBezTo>
                  <a:pt x="41" y="207"/>
                  <a:pt x="29" y="199"/>
                  <a:pt x="26" y="187"/>
                </a:cubicBezTo>
                <a:lnTo>
                  <a:pt x="19" y="160"/>
                </a:lnTo>
                <a:cubicBezTo>
                  <a:pt x="16" y="148"/>
                  <a:pt x="21" y="136"/>
                  <a:pt x="33" y="130"/>
                </a:cubicBezTo>
                <a:lnTo>
                  <a:pt x="70" y="111"/>
                </a:lnTo>
                <a:cubicBezTo>
                  <a:pt x="71" y="106"/>
                  <a:pt x="72" y="101"/>
                  <a:pt x="73" y="96"/>
                </a:cubicBezTo>
                <a:cubicBezTo>
                  <a:pt x="75" y="91"/>
                  <a:pt x="76" y="86"/>
                  <a:pt x="78" y="81"/>
                </a:cubicBezTo>
                <a:lnTo>
                  <a:pt x="55" y="47"/>
                </a:lnTo>
                <a:cubicBezTo>
                  <a:pt x="48" y="36"/>
                  <a:pt x="50" y="22"/>
                  <a:pt x="58" y="13"/>
                </a:cubicBezTo>
                <a:lnTo>
                  <a:pt x="78" y="-6"/>
                </a:lnTo>
                <a:cubicBezTo>
                  <a:pt x="87" y="-15"/>
                  <a:pt x="100" y="-16"/>
                  <a:pt x="111" y="-9"/>
                </a:cubicBezTo>
                <a:lnTo>
                  <a:pt x="146" y="14"/>
                </a:lnTo>
                <a:cubicBezTo>
                  <a:pt x="155" y="10"/>
                  <a:pt x="165" y="7"/>
                  <a:pt x="176" y="6"/>
                </a:cubicBezTo>
                <a:lnTo>
                  <a:pt x="194" y="-32"/>
                </a:lnTo>
                <a:cubicBezTo>
                  <a:pt x="200" y="-43"/>
                  <a:pt x="213" y="-49"/>
                  <a:pt x="225" y="-45"/>
                </a:cubicBezTo>
                <a:close/>
                <a:moveTo>
                  <a:pt x="192" y="84"/>
                </a:moveTo>
                <a:cubicBezTo>
                  <a:pt x="168" y="84"/>
                  <a:pt x="148" y="104"/>
                  <a:pt x="148" y="128"/>
                </a:cubicBezTo>
                <a:cubicBezTo>
                  <a:pt x="148" y="152"/>
                  <a:pt x="168" y="172"/>
                  <a:pt x="192" y="172"/>
                </a:cubicBezTo>
                <a:cubicBezTo>
                  <a:pt x="217" y="172"/>
                  <a:pt x="236" y="152"/>
                  <a:pt x="236" y="128"/>
                </a:cubicBezTo>
                <a:cubicBezTo>
                  <a:pt x="236" y="104"/>
                  <a:pt x="217" y="84"/>
                  <a:pt x="192" y="84"/>
                </a:cubicBezTo>
                <a:close/>
              </a:path>
            </a:pathLst>
          </a:custGeom>
          <a:solidFill>
            <a:srgbClr val="4FC7B5"/>
          </a:solidFill>
          <a:ln>
            <a:noFill/>
          </a:ln>
        </p:spPr>
      </p:sp>
      <p:sp>
        <p:nvSpPr>
          <p:cNvPr id="11" name="f-2-name"/>
          <p:cNvSpPr txBox="1"/>
          <p:nvPr/>
        </p:nvSpPr>
        <p:spPr>
          <a:xfrm>
            <a:off x="7188200" y="218440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00000"/>
                </a:solidFill>
                <a:latin typeface="MiSans"/>
                <a:ea typeface="MiSans"/>
              </a:rPr>
              <a:t>Полный цикл расчёта</a:t>
            </a:r>
            <a:endParaRPr lang="en-US" sz="1600" noProof="1"/>
          </a:p>
        </p:txBody>
      </p:sp>
      <p:sp>
        <p:nvSpPr>
          <p:cNvPr id="12" name="f-2-desc"/>
          <p:cNvSpPr txBox="1"/>
          <p:nvPr/>
        </p:nvSpPr>
        <p:spPr>
          <a:xfrm>
            <a:off x="6654800" y="2692400"/>
            <a:ext cx="4724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Климат → конструкция → тепловой → гидравлика → спецификация. Программа сама следит за актуальностью данных</a:t>
            </a:r>
            <a:endParaRPr lang="en-US" sz="1300" noProof="1"/>
          </a:p>
        </p:txBody>
      </p:sp>
      <p:sp>
        <p:nvSpPr>
          <p:cNvPr id="13" name="f-card-3"/>
          <p:cNvSpPr/>
          <p:nvPr/>
        </p:nvSpPr>
        <p:spPr>
          <a:xfrm>
            <a:off x="762000" y="3937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4" name="f-3-icon"/>
          <p:cNvSpPr/>
          <p:nvPr>
            <p:extLst>
              <p:ext uri="{F5677B7D-0D2A-4D9B-9A5C-6D8D7D0E5A5D}">
                <pptd:icon encoding="base64url">eyJpY29uTmFtZSI6ImZhczpmaWxlLXBkZiJ9</pptd:icon>
              </p:ext>
            </p:extLst>
          </p:nvPr>
        </p:nvSpPr>
        <p:spPr>
          <a:xfrm>
            <a:off x="1066800" y="4241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96" y="0"/>
                </a:moveTo>
                <a:cubicBezTo>
                  <a:pt x="61" y="0"/>
                  <a:pt x="32" y="29"/>
                  <a:pt x="32" y="64"/>
                </a:cubicBezTo>
                <a:lnTo>
                  <a:pt x="32" y="448"/>
                </a:lnTo>
                <a:cubicBezTo>
                  <a:pt x="32" y="483"/>
                  <a:pt x="61" y="512"/>
                  <a:pt x="96" y="512"/>
                </a:cubicBezTo>
                <a:lnTo>
                  <a:pt x="176" y="512"/>
                </a:lnTo>
                <a:lnTo>
                  <a:pt x="176" y="400"/>
                </a:lnTo>
                <a:cubicBezTo>
                  <a:pt x="176" y="365"/>
                  <a:pt x="205" y="336"/>
                  <a:pt x="240" y="336"/>
                </a:cubicBezTo>
                <a:lnTo>
                  <a:pt x="416" y="336"/>
                </a:lnTo>
                <a:lnTo>
                  <a:pt x="416" y="171"/>
                </a:lnTo>
                <a:cubicBezTo>
                  <a:pt x="416" y="154"/>
                  <a:pt x="409" y="137"/>
                  <a:pt x="397" y="125"/>
                </a:cubicBezTo>
                <a:lnTo>
                  <a:pt x="291" y="19"/>
                </a:lnTo>
                <a:cubicBezTo>
                  <a:pt x="279" y="7"/>
                  <a:pt x="263" y="0"/>
                  <a:pt x="246" y="0"/>
                </a:cubicBezTo>
                <a:lnTo>
                  <a:pt x="96" y="0"/>
                </a:lnTo>
                <a:close/>
                <a:moveTo>
                  <a:pt x="358" y="176"/>
                </a:moveTo>
                <a:lnTo>
                  <a:pt x="264" y="176"/>
                </a:lnTo>
                <a:cubicBezTo>
                  <a:pt x="251" y="176"/>
                  <a:pt x="240" y="165"/>
                  <a:pt x="240" y="152"/>
                </a:cubicBezTo>
                <a:lnTo>
                  <a:pt x="240" y="59"/>
                </a:lnTo>
                <a:lnTo>
                  <a:pt x="358" y="176"/>
                </a:lnTo>
                <a:close/>
              </a:path>
              <a:path w="576" h="512">
                <a:moveTo>
                  <a:pt x="240" y="380"/>
                </a:moveTo>
                <a:cubicBezTo>
                  <a:pt x="229" y="380"/>
                  <a:pt x="220" y="389"/>
                  <a:pt x="220" y="400"/>
                </a:cubicBezTo>
                <a:lnTo>
                  <a:pt x="220" y="528"/>
                </a:lnTo>
                <a:cubicBezTo>
                  <a:pt x="220" y="539"/>
                  <a:pt x="229" y="548"/>
                  <a:pt x="240" y="548"/>
                </a:cubicBezTo>
                <a:cubicBezTo>
                  <a:pt x="251" y="548"/>
                  <a:pt x="260" y="539"/>
                  <a:pt x="260" y="528"/>
                </a:cubicBezTo>
                <a:lnTo>
                  <a:pt x="260" y="500"/>
                </a:lnTo>
                <a:lnTo>
                  <a:pt x="272" y="500"/>
                </a:lnTo>
                <a:cubicBezTo>
                  <a:pt x="305" y="500"/>
                  <a:pt x="332" y="473"/>
                  <a:pt x="332" y="440"/>
                </a:cubicBezTo>
                <a:cubicBezTo>
                  <a:pt x="332" y="407"/>
                  <a:pt x="305" y="380"/>
                  <a:pt x="272" y="380"/>
                </a:cubicBezTo>
                <a:lnTo>
                  <a:pt x="240" y="380"/>
                </a:lnTo>
                <a:close/>
                <a:moveTo>
                  <a:pt x="272" y="460"/>
                </a:moveTo>
                <a:lnTo>
                  <a:pt x="260" y="460"/>
                </a:lnTo>
                <a:lnTo>
                  <a:pt x="260" y="420"/>
                </a:lnTo>
                <a:lnTo>
                  <a:pt x="272" y="420"/>
                </a:lnTo>
                <a:cubicBezTo>
                  <a:pt x="283" y="420"/>
                  <a:pt x="292" y="429"/>
                  <a:pt x="292" y="440"/>
                </a:cubicBezTo>
                <a:cubicBezTo>
                  <a:pt x="292" y="451"/>
                  <a:pt x="283" y="460"/>
                  <a:pt x="272" y="460"/>
                </a:cubicBezTo>
                <a:close/>
              </a:path>
              <a:path w="576" h="512">
                <a:moveTo>
                  <a:pt x="368" y="380"/>
                </a:moveTo>
                <a:cubicBezTo>
                  <a:pt x="357" y="380"/>
                  <a:pt x="348" y="389"/>
                  <a:pt x="348" y="400"/>
                </a:cubicBezTo>
                <a:lnTo>
                  <a:pt x="348" y="528"/>
                </a:lnTo>
                <a:cubicBezTo>
                  <a:pt x="348" y="539"/>
                  <a:pt x="357" y="548"/>
                  <a:pt x="368" y="548"/>
                </a:cubicBezTo>
                <a:lnTo>
                  <a:pt x="400" y="548"/>
                </a:lnTo>
                <a:cubicBezTo>
                  <a:pt x="429" y="548"/>
                  <a:pt x="452" y="525"/>
                  <a:pt x="452" y="496"/>
                </a:cubicBezTo>
                <a:lnTo>
                  <a:pt x="452" y="432"/>
                </a:lnTo>
                <a:cubicBezTo>
                  <a:pt x="452" y="403"/>
                  <a:pt x="429" y="380"/>
                  <a:pt x="400" y="380"/>
                </a:cubicBezTo>
                <a:lnTo>
                  <a:pt x="368" y="380"/>
                </a:lnTo>
                <a:close/>
                <a:moveTo>
                  <a:pt x="388" y="508"/>
                </a:moveTo>
                <a:lnTo>
                  <a:pt x="388" y="420"/>
                </a:lnTo>
                <a:lnTo>
                  <a:pt x="400" y="420"/>
                </a:lnTo>
                <a:cubicBezTo>
                  <a:pt x="407" y="420"/>
                  <a:pt x="412" y="425"/>
                  <a:pt x="412" y="432"/>
                </a:cubicBezTo>
                <a:lnTo>
                  <a:pt x="412" y="496"/>
                </a:lnTo>
                <a:cubicBezTo>
                  <a:pt x="412" y="503"/>
                  <a:pt x="407" y="508"/>
                  <a:pt x="400" y="508"/>
                </a:cubicBezTo>
                <a:lnTo>
                  <a:pt x="388" y="508"/>
                </a:lnTo>
                <a:close/>
              </a:path>
              <a:path w="576" h="512">
                <a:moveTo>
                  <a:pt x="476" y="400"/>
                </a:moveTo>
                <a:lnTo>
                  <a:pt x="476" y="528"/>
                </a:lnTo>
                <a:cubicBezTo>
                  <a:pt x="476" y="539"/>
                  <a:pt x="485" y="548"/>
                  <a:pt x="496" y="548"/>
                </a:cubicBezTo>
                <a:cubicBezTo>
                  <a:pt x="507" y="548"/>
                  <a:pt x="516" y="539"/>
                  <a:pt x="516" y="528"/>
                </a:cubicBezTo>
                <a:lnTo>
                  <a:pt x="516" y="484"/>
                </a:lnTo>
                <a:lnTo>
                  <a:pt x="544" y="484"/>
                </a:lnTo>
                <a:cubicBezTo>
                  <a:pt x="555" y="484"/>
                  <a:pt x="564" y="475"/>
                  <a:pt x="564" y="464"/>
                </a:cubicBezTo>
                <a:cubicBezTo>
                  <a:pt x="564" y="453"/>
                  <a:pt x="555" y="444"/>
                  <a:pt x="544" y="444"/>
                </a:cubicBezTo>
                <a:lnTo>
                  <a:pt x="516" y="444"/>
                </a:lnTo>
                <a:lnTo>
                  <a:pt x="516" y="420"/>
                </a:lnTo>
                <a:lnTo>
                  <a:pt x="544" y="420"/>
                </a:lnTo>
                <a:cubicBezTo>
                  <a:pt x="555" y="420"/>
                  <a:pt x="564" y="411"/>
                  <a:pt x="564" y="400"/>
                </a:cubicBezTo>
                <a:cubicBezTo>
                  <a:pt x="564" y="389"/>
                  <a:pt x="555" y="380"/>
                  <a:pt x="544" y="380"/>
                </a:cubicBezTo>
                <a:lnTo>
                  <a:pt x="496" y="380"/>
                </a:lnTo>
                <a:cubicBezTo>
                  <a:pt x="485" y="380"/>
                  <a:pt x="476" y="389"/>
                  <a:pt x="476" y="400"/>
                </a:cubicBezTo>
                <a:close/>
              </a:path>
            </a:pathLst>
          </a:custGeom>
          <a:solidFill>
            <a:srgbClr val="4FC7B5"/>
          </a:solidFill>
          <a:ln>
            <a:noFill/>
          </a:ln>
        </p:spPr>
      </p:sp>
      <p:sp>
        <p:nvSpPr>
          <p:cNvPr id="15" name="f-3-name"/>
          <p:cNvSpPr txBox="1"/>
          <p:nvPr/>
        </p:nvSpPr>
        <p:spPr>
          <a:xfrm>
            <a:off x="1600200" y="421640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00000"/>
                </a:solidFill>
                <a:latin typeface="MiSans"/>
                <a:ea typeface="MiSans"/>
              </a:rPr>
              <a:t>Отчёт PDF в один клик</a:t>
            </a:r>
            <a:endParaRPr lang="en-US" sz="1600" noProof="1"/>
          </a:p>
        </p:txBody>
      </p:sp>
      <p:sp>
        <p:nvSpPr>
          <p:cNvPr id="16" name="f-3-desc"/>
          <p:cNvSpPr txBox="1"/>
          <p:nvPr/>
        </p:nvSpPr>
        <p:spPr>
          <a:xfrm>
            <a:off x="1066800" y="4724400"/>
            <a:ext cx="4724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Брендированный документ с КПИ, ведомостью оборудования и приложением по каждому контуру</a:t>
            </a:r>
            <a:endParaRPr lang="en-US" sz="1300" noProof="1"/>
          </a:p>
        </p:txBody>
      </p:sp>
      <p:sp>
        <p:nvSpPr>
          <p:cNvPr id="17" name="f-card-4"/>
          <p:cNvSpPr/>
          <p:nvPr/>
        </p:nvSpPr>
        <p:spPr>
          <a:xfrm>
            <a:off x="6350000" y="3937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8" name="f-4-icon"/>
          <p:cNvSpPr/>
          <p:nvPr>
            <p:extLst>
              <p:ext uri="{F5677B7D-0D2A-4D9B-9A5C-6D8D7D0E5A5D}">
                <pptd:icon encoding="base64url">eyJpY29uTmFtZSI6ImZhczpzY2FsZS1iYWxhbmNlZCJ9</pptd:icon>
              </p:ext>
            </p:extLst>
          </p:nvPr>
        </p:nvSpPr>
        <p:spPr>
          <a:xfrm>
            <a:off x="6654800" y="4241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84" y="32"/>
                </a:moveTo>
                <a:lnTo>
                  <a:pt x="512" y="32"/>
                </a:lnTo>
                <a:cubicBezTo>
                  <a:pt x="530" y="32"/>
                  <a:pt x="544" y="46"/>
                  <a:pt x="544" y="64"/>
                </a:cubicBezTo>
                <a:cubicBezTo>
                  <a:pt x="544" y="82"/>
                  <a:pt x="530" y="96"/>
                  <a:pt x="512" y="96"/>
                </a:cubicBezTo>
                <a:lnTo>
                  <a:pt x="398" y="96"/>
                </a:lnTo>
                <a:cubicBezTo>
                  <a:pt x="393" y="122"/>
                  <a:pt x="376" y="143"/>
                  <a:pt x="352" y="153"/>
                </a:cubicBezTo>
                <a:lnTo>
                  <a:pt x="352" y="448"/>
                </a:lnTo>
                <a:lnTo>
                  <a:pt x="512" y="448"/>
                </a:lnTo>
                <a:cubicBezTo>
                  <a:pt x="530" y="448"/>
                  <a:pt x="544" y="462"/>
                  <a:pt x="544" y="480"/>
                </a:cubicBezTo>
                <a:cubicBezTo>
                  <a:pt x="544" y="498"/>
                  <a:pt x="530" y="512"/>
                  <a:pt x="512" y="512"/>
                </a:cubicBezTo>
                <a:lnTo>
                  <a:pt x="128" y="512"/>
                </a:lnTo>
                <a:cubicBezTo>
                  <a:pt x="110" y="512"/>
                  <a:pt x="96" y="498"/>
                  <a:pt x="96" y="480"/>
                </a:cubicBezTo>
                <a:cubicBezTo>
                  <a:pt x="96" y="462"/>
                  <a:pt x="110" y="448"/>
                  <a:pt x="128" y="448"/>
                </a:cubicBezTo>
                <a:lnTo>
                  <a:pt x="288" y="448"/>
                </a:lnTo>
                <a:lnTo>
                  <a:pt x="288" y="153"/>
                </a:lnTo>
                <a:cubicBezTo>
                  <a:pt x="265" y="143"/>
                  <a:pt x="247" y="122"/>
                  <a:pt x="242" y="96"/>
                </a:cubicBezTo>
                <a:lnTo>
                  <a:pt x="128" y="96"/>
                </a:lnTo>
                <a:cubicBezTo>
                  <a:pt x="110" y="96"/>
                  <a:pt x="96" y="82"/>
                  <a:pt x="96" y="64"/>
                </a:cubicBezTo>
                <a:cubicBezTo>
                  <a:pt x="96" y="46"/>
                  <a:pt x="110" y="32"/>
                  <a:pt x="128" y="32"/>
                </a:cubicBezTo>
                <a:lnTo>
                  <a:pt x="256" y="32"/>
                </a:lnTo>
                <a:cubicBezTo>
                  <a:pt x="271" y="13"/>
                  <a:pt x="294" y="0"/>
                  <a:pt x="320" y="0"/>
                </a:cubicBezTo>
                <a:cubicBezTo>
                  <a:pt x="346" y="0"/>
                  <a:pt x="369" y="13"/>
                  <a:pt x="384" y="32"/>
                </a:cubicBezTo>
                <a:close/>
              </a:path>
              <a:path w="640" h="512">
                <a:moveTo>
                  <a:pt x="512" y="416"/>
                </a:moveTo>
                <a:cubicBezTo>
                  <a:pt x="449" y="416"/>
                  <a:pt x="397" y="382"/>
                  <a:pt x="386" y="337"/>
                </a:cubicBezTo>
                <a:cubicBezTo>
                  <a:pt x="383" y="326"/>
                  <a:pt x="387" y="315"/>
                  <a:pt x="393" y="305"/>
                </a:cubicBezTo>
                <a:lnTo>
                  <a:pt x="488" y="142"/>
                </a:lnTo>
                <a:cubicBezTo>
                  <a:pt x="493" y="133"/>
                  <a:pt x="502" y="128"/>
                  <a:pt x="512" y="128"/>
                </a:cubicBezTo>
                <a:cubicBezTo>
                  <a:pt x="522" y="128"/>
                  <a:pt x="531" y="133"/>
                  <a:pt x="536" y="142"/>
                </a:cubicBezTo>
                <a:lnTo>
                  <a:pt x="631" y="305"/>
                </a:lnTo>
                <a:cubicBezTo>
                  <a:pt x="637" y="315"/>
                  <a:pt x="641" y="326"/>
                  <a:pt x="638" y="337"/>
                </a:cubicBezTo>
                <a:cubicBezTo>
                  <a:pt x="627" y="382"/>
                  <a:pt x="575" y="416"/>
                  <a:pt x="512" y="416"/>
                </a:cubicBezTo>
                <a:close/>
                <a:moveTo>
                  <a:pt x="440" y="320"/>
                </a:moveTo>
                <a:lnTo>
                  <a:pt x="584" y="320"/>
                </a:lnTo>
                <a:lnTo>
                  <a:pt x="512" y="196"/>
                </a:lnTo>
                <a:lnTo>
                  <a:pt x="440" y="320"/>
                </a:lnTo>
                <a:close/>
              </a:path>
              <a:path w="640" h="512">
                <a:moveTo>
                  <a:pt x="1" y="337"/>
                </a:moveTo>
                <a:cubicBezTo>
                  <a:pt x="-2" y="326"/>
                  <a:pt x="2" y="315"/>
                  <a:pt x="8" y="305"/>
                </a:cubicBezTo>
                <a:lnTo>
                  <a:pt x="103" y="142"/>
                </a:lnTo>
                <a:cubicBezTo>
                  <a:pt x="108" y="133"/>
                  <a:pt x="117" y="128"/>
                  <a:pt x="127" y="128"/>
                </a:cubicBezTo>
                <a:cubicBezTo>
                  <a:pt x="137" y="128"/>
                  <a:pt x="146" y="133"/>
                  <a:pt x="151" y="142"/>
                </a:cubicBezTo>
                <a:lnTo>
                  <a:pt x="246" y="305"/>
                </a:lnTo>
                <a:cubicBezTo>
                  <a:pt x="252" y="315"/>
                  <a:pt x="256" y="326"/>
                  <a:pt x="253" y="337"/>
                </a:cubicBezTo>
                <a:cubicBezTo>
                  <a:pt x="242" y="382"/>
                  <a:pt x="190" y="416"/>
                  <a:pt x="127" y="416"/>
                </a:cubicBezTo>
                <a:cubicBezTo>
                  <a:pt x="64" y="416"/>
                  <a:pt x="12" y="382"/>
                  <a:pt x="1" y="337"/>
                </a:cubicBezTo>
                <a:close/>
                <a:moveTo>
                  <a:pt x="127" y="196"/>
                </a:moveTo>
                <a:lnTo>
                  <a:pt x="54" y="320"/>
                </a:lnTo>
                <a:lnTo>
                  <a:pt x="199" y="320"/>
                </a:lnTo>
                <a:lnTo>
                  <a:pt x="127" y="196"/>
                </a:lnTo>
                <a:close/>
              </a:path>
            </a:pathLst>
          </a:custGeom>
          <a:solidFill>
            <a:srgbClr val="E50040"/>
          </a:solidFill>
          <a:ln>
            <a:noFill/>
          </a:ln>
        </p:spPr>
      </p:sp>
      <p:sp>
        <p:nvSpPr>
          <p:cNvPr id="19" name="f-4-name"/>
          <p:cNvSpPr txBox="1"/>
          <p:nvPr/>
        </p:nvSpPr>
        <p:spPr>
          <a:xfrm>
            <a:off x="7188200" y="421640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00000"/>
                </a:solidFill>
                <a:latin typeface="MiSans"/>
                <a:ea typeface="MiSans"/>
              </a:rPr>
              <a:t>Методика на нормативах</a:t>
            </a:r>
            <a:endParaRPr lang="en-US" sz="1600" noProof="1"/>
          </a:p>
        </p:txBody>
      </p:sp>
      <p:sp>
        <p:nvSpPr>
          <p:cNvPr id="20" name="f-4-desc"/>
          <p:cNvSpPr txBox="1"/>
          <p:nvPr/>
        </p:nvSpPr>
        <p:spPr>
          <a:xfrm>
            <a:off x="6654800" y="4724400"/>
            <a:ext cx="47244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СП 131.13330.2025, VDI 2075, DIN EN 60534, ASHRAE — расчёт воспроизводим и проверяем</a:t>
            </a:r>
            <a:endParaRPr lang="en-US" sz="1300" noProof="1"/>
          </a:p>
        </p:txBody>
      </p:sp>
      <p:pic>
        <p:nvPicPr>
          <p:cNvPr id="21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22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04</a:t>
            </a:r>
            <a:endParaRPr lang="en-US" sz="11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 spc="200" kern="0">
                <a:solidFill>
                  <a:srgbClr val="E50040"/>
                </a:solidFill>
                <a:latin typeface="MiSans"/>
                <a:ea typeface="MiSans"/>
              </a:rPr>
              <a:t>СПЕЦИФИКАЦИЯ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000000"/>
                </a:solidFill>
                <a:latin typeface="MiSans"/>
                <a:ea typeface="MiSans"/>
              </a:rPr>
              <a:t>В расчёте — только продукция РЕХАУ</a:t>
            </a:r>
            <a:endParaRPr lang="en-US" sz="3000" noProof="1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p-card-1"/>
          <p:cNvSpPr/>
          <p:nvPr/>
        </p:nvSpPr>
        <p:spPr>
          <a:xfrm>
            <a:off x="762000" y="1905000"/>
            <a:ext cx="3467100" cy="3175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6" name="p-1-mark"/>
          <p:cNvSpPr/>
          <p:nvPr/>
        </p:nvSpPr>
        <p:spPr>
          <a:xfrm>
            <a:off x="1041400" y="2184400"/>
            <a:ext cx="330200" cy="3302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7" name="p-1-name"/>
          <p:cNvSpPr txBox="1"/>
          <p:nvPr/>
        </p:nvSpPr>
        <p:spPr>
          <a:xfrm>
            <a:off x="1041400" y="2667000"/>
            <a:ext cx="292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00000"/>
                </a:solidFill>
                <a:latin typeface="MiSans"/>
                <a:ea typeface="MiSans"/>
              </a:rPr>
              <a:t>Трубы RAUTHERM S</a:t>
            </a:r>
            <a:endParaRPr lang="en-US" sz="1800" noProof="1"/>
          </a:p>
        </p:txBody>
      </p:sp>
      <p:sp>
        <p:nvSpPr>
          <p:cNvPr id="8" name="p-1-desc"/>
          <p:cNvSpPr txBox="1"/>
          <p:nvPr/>
        </p:nvSpPr>
        <p:spPr>
          <a:xfrm>
            <a:off x="1041400" y="3200400"/>
            <a:ext cx="2921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Диаметры 17, 20 и 25 мм для нагревательных контуров открытых площадок</a:t>
            </a:r>
            <a:endParaRPr lang="en-US" sz="13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818181"/>
                </a:solidFill>
                <a:latin typeface="MiSans"/>
                <a:ea typeface="MiSans"/>
              </a:rPr>
              <a:t>Учитываются реальные диаметры и шероховатость</a:t>
            </a:r>
            <a:endParaRPr lang="en-US" sz="1300" noProof="1"/>
          </a:p>
        </p:txBody>
      </p:sp>
      <p:sp>
        <p:nvSpPr>
          <p:cNvPr id="9" name="p-card-2"/>
          <p:cNvSpPr/>
          <p:nvPr/>
        </p:nvSpPr>
        <p:spPr>
          <a:xfrm>
            <a:off x="4483100" y="1905000"/>
            <a:ext cx="3467100" cy="3175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0" name="p-2-mark"/>
          <p:cNvSpPr/>
          <p:nvPr/>
        </p:nvSpPr>
        <p:spPr>
          <a:xfrm>
            <a:off x="4762500" y="2184400"/>
            <a:ext cx="330200" cy="3302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1" name="p-2-name"/>
          <p:cNvSpPr txBox="1"/>
          <p:nvPr/>
        </p:nvSpPr>
        <p:spPr>
          <a:xfrm>
            <a:off x="4762500" y="2667000"/>
            <a:ext cx="2921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00000"/>
                </a:solidFill>
                <a:latin typeface="MiSans"/>
                <a:ea typeface="MiSans"/>
              </a:rPr>
              <a:t>Коллекторы HKV-D</a:t>
            </a:r>
            <a:endParaRPr lang="en-US" sz="1800" noProof="1"/>
          </a:p>
        </p:txBody>
      </p:sp>
      <p:sp>
        <p:nvSpPr>
          <p:cNvPr id="12" name="p-2-desc"/>
          <p:cNvSpPr txBox="1"/>
          <p:nvPr/>
        </p:nvSpPr>
        <p:spPr>
          <a:xfrm>
            <a:off x="4762500" y="3200400"/>
            <a:ext cx="2921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Бытовые распределительные коллекторы на 2–12 контуров</a:t>
            </a:r>
            <a:endParaRPr lang="en-US" sz="13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818181"/>
                </a:solidFill>
                <a:latin typeface="MiSans"/>
                <a:ea typeface="MiSans"/>
              </a:rPr>
              <a:t>Подбор по Kv и числу контуров — с артикулами</a:t>
            </a:r>
            <a:endParaRPr lang="en-US" sz="1300" noProof="1"/>
          </a:p>
        </p:txBody>
      </p:sp>
      <p:sp>
        <p:nvSpPr>
          <p:cNvPr id="13" name="p-card-3"/>
          <p:cNvSpPr/>
          <p:nvPr/>
        </p:nvSpPr>
        <p:spPr>
          <a:xfrm>
            <a:off x="8204200" y="1905000"/>
            <a:ext cx="3479800" cy="3175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4" name="p-3-mark"/>
          <p:cNvSpPr/>
          <p:nvPr/>
        </p:nvSpPr>
        <p:spPr>
          <a:xfrm>
            <a:off x="8483600" y="2184400"/>
            <a:ext cx="330200" cy="3302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5" name="p-3-name"/>
          <p:cNvSpPr txBox="1"/>
          <p:nvPr/>
        </p:nvSpPr>
        <p:spPr>
          <a:xfrm>
            <a:off x="8483600" y="2667000"/>
            <a:ext cx="294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00000"/>
                </a:solidFill>
                <a:latin typeface="MiSans"/>
                <a:ea typeface="MiSans"/>
              </a:rPr>
              <a:t>Промышленные коллекторы IV</a:t>
            </a:r>
            <a:endParaRPr lang="en-US" sz="1600" noProof="1"/>
          </a:p>
        </p:txBody>
      </p:sp>
      <p:sp>
        <p:nvSpPr>
          <p:cNvPr id="16" name="p-3-desc"/>
          <p:cNvSpPr txBox="1"/>
          <p:nvPr/>
        </p:nvSpPr>
        <p:spPr>
          <a:xfrm>
            <a:off x="8483600" y="3200400"/>
            <a:ext cx="29464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IV 1¼" и IV 1½" для крупных площадок и больших расходов</a:t>
            </a:r>
            <a:endParaRPr lang="en-US" sz="1300" noProof="1"/>
          </a:p>
          <a:p>
            <a:pPr algn="l">
              <a:lnSpc>
                <a:spcPct val="145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818181"/>
                </a:solidFill>
                <a:latin typeface="MiSans"/>
                <a:ea typeface="MiSans"/>
              </a:rPr>
              <a:t>Автоматический выбор типоразмера по нагрузке</a:t>
            </a:r>
            <a:endParaRPr lang="en-US" sz="1300" noProof="1"/>
          </a:p>
        </p:txBody>
      </p:sp>
      <p:sp>
        <p:nvSpPr>
          <p:cNvPr id="17" name="note-bar"/>
          <p:cNvSpPr/>
          <p:nvPr/>
        </p:nvSpPr>
        <p:spPr>
          <a:xfrm>
            <a:off x="762000" y="5461000"/>
            <a:ext cx="10922000" cy="508000"/>
          </a:xfrm>
          <a:prstGeom prst="roundRect">
            <a:avLst>
              <a:gd name="adj" fmla="val 12000"/>
            </a:avLst>
          </a:prstGeom>
          <a:solidFill>
            <a:srgbClr val="4FC7B5"/>
          </a:solidFill>
          <a:ln>
            <a:noFill/>
          </a:ln>
        </p:spPr>
      </p:sp>
      <p:sp>
        <p:nvSpPr>
          <p:cNvPr id="18" name="note-text"/>
          <p:cNvSpPr txBox="1"/>
          <p:nvPr/>
        </p:nvSpPr>
        <p:spPr>
          <a:xfrm>
            <a:off x="1041400" y="5461000"/>
            <a:ext cx="1041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000000"/>
                </a:solidFill>
                <a:latin typeface="MiSans"/>
                <a:ea typeface="MiSans"/>
              </a:rPr>
              <a:t>Спецификация формируется с артикулами РЕХАУ</a:t>
            </a: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 — из расчёта сразу понятно, что заказывать</a:t>
            </a:r>
            <a:endParaRPr lang="en-US" sz="1400" noProof="1"/>
          </a:p>
        </p:txBody>
      </p:sp>
      <p:pic>
        <p:nvPicPr>
          <p:cNvPr id="19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20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05</a:t>
            </a:r>
            <a:endParaRPr lang="en-US" sz="11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 spc="200" kern="0">
                <a:solidFill>
                  <a:srgbClr val="E50040"/>
                </a:solidFill>
                <a:latin typeface="MiSans"/>
                <a:ea typeface="MiSans"/>
              </a:rPr>
              <a:t>КЕЙС · «ЕКАТЕРИНБУРГ, ОБОГРЕВ НАРУЖНЫХ ПОВЕРХНОСТЕЙ»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12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000000"/>
                </a:solidFill>
                <a:latin typeface="MiSans"/>
                <a:ea typeface="MiSans"/>
              </a:rPr>
              <a:t>Весь расчёт — на одном экране</a:t>
            </a:r>
            <a:endParaRPr lang="en-US" sz="3000" noProof="1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kpi-card-1"/>
          <p:cNvSpPr/>
          <p:nvPr/>
        </p:nvSpPr>
        <p:spPr>
          <a:xfrm>
            <a:off x="7620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6" name="kpi-val-1"/>
          <p:cNvSpPr txBox="1"/>
          <p:nvPr/>
        </p:nvSpPr>
        <p:spPr>
          <a:xfrm>
            <a:off x="9906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noProof="1" b="1">
                <a:solidFill>
                  <a:srgbClr val="E50040"/>
                </a:solidFill>
                <a:latin typeface="MiSans"/>
                <a:ea typeface="MiSans"/>
              </a:rPr>
              <a:t>96,8</a:t>
            </a:r>
            <a:endParaRPr lang="en-US" sz="3200" noProof="1"/>
          </a:p>
        </p:txBody>
      </p:sp>
      <p:sp>
        <p:nvSpPr>
          <p:cNvPr id="7" name="kpi-lbl-1"/>
          <p:cNvSpPr txBox="1"/>
          <p:nvPr/>
        </p:nvSpPr>
        <p:spPr>
          <a:xfrm>
            <a:off x="9906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818181"/>
                </a:solidFill>
                <a:latin typeface="MiSans"/>
                <a:ea typeface="MiSans"/>
              </a:rPr>
              <a:t>кВт — тепловая мощность системы</a:t>
            </a:r>
            <a:endParaRPr lang="en-US" sz="1300" noProof="1"/>
          </a:p>
        </p:txBody>
      </p:sp>
      <p:sp>
        <p:nvSpPr>
          <p:cNvPr id="8" name="kpi-card-2"/>
          <p:cNvSpPr/>
          <p:nvPr/>
        </p:nvSpPr>
        <p:spPr>
          <a:xfrm>
            <a:off x="36195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9" name="kpi-val-2"/>
          <p:cNvSpPr txBox="1"/>
          <p:nvPr/>
        </p:nvSpPr>
        <p:spPr>
          <a:xfrm>
            <a:off x="38481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noProof="1" b="1">
                <a:solidFill>
                  <a:srgbClr val="E50040"/>
                </a:solidFill>
                <a:latin typeface="MiSans"/>
                <a:ea typeface="MiSans"/>
              </a:rPr>
              <a:t>920</a:t>
            </a:r>
            <a:endParaRPr lang="en-US" sz="3200" noProof="1"/>
          </a:p>
        </p:txBody>
      </p:sp>
      <p:sp>
        <p:nvSpPr>
          <p:cNvPr id="10" name="kpi-lbl-2"/>
          <p:cNvSpPr txBox="1"/>
          <p:nvPr/>
        </p:nvSpPr>
        <p:spPr>
          <a:xfrm>
            <a:off x="38481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818181"/>
                </a:solidFill>
                <a:latin typeface="MiSans"/>
                <a:ea typeface="MiSans"/>
              </a:rPr>
              <a:t>м — труба RAUTHERM S 20×2,0</a:t>
            </a:r>
            <a:endParaRPr lang="en-US" sz="1300" noProof="1"/>
          </a:p>
        </p:txBody>
      </p:sp>
      <p:sp>
        <p:nvSpPr>
          <p:cNvPr id="11" name="kpi-card-3"/>
          <p:cNvSpPr/>
          <p:nvPr/>
        </p:nvSpPr>
        <p:spPr>
          <a:xfrm>
            <a:off x="6477000" y="1841500"/>
            <a:ext cx="2603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2" name="kpi-val-3"/>
          <p:cNvSpPr txBox="1"/>
          <p:nvPr/>
        </p:nvSpPr>
        <p:spPr>
          <a:xfrm>
            <a:off x="6705600" y="2057400"/>
            <a:ext cx="2159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noProof="1" b="1">
                <a:solidFill>
                  <a:srgbClr val="E50040"/>
                </a:solidFill>
                <a:latin typeface="MiSans"/>
                <a:ea typeface="MiSans"/>
              </a:rPr>
              <a:t>4,61</a:t>
            </a:r>
            <a:endParaRPr lang="en-US" sz="3200" noProof="1"/>
          </a:p>
        </p:txBody>
      </p:sp>
      <p:sp>
        <p:nvSpPr>
          <p:cNvPr id="13" name="kpi-lbl-3"/>
          <p:cNvSpPr txBox="1"/>
          <p:nvPr/>
        </p:nvSpPr>
        <p:spPr>
          <a:xfrm>
            <a:off x="6705600" y="2692400"/>
            <a:ext cx="2159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818181"/>
                </a:solidFill>
                <a:latin typeface="MiSans"/>
                <a:ea typeface="MiSans"/>
              </a:rPr>
              <a:t>м³/ч — расход насоса</a:t>
            </a:r>
            <a:endParaRPr lang="en-US" sz="1300" noProof="1"/>
          </a:p>
        </p:txBody>
      </p:sp>
      <p:sp>
        <p:nvSpPr>
          <p:cNvPr id="14" name="kpi-card-4"/>
          <p:cNvSpPr/>
          <p:nvPr/>
        </p:nvSpPr>
        <p:spPr>
          <a:xfrm>
            <a:off x="9334500" y="1841500"/>
            <a:ext cx="2349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5" name="kpi-val-4"/>
          <p:cNvSpPr txBox="1"/>
          <p:nvPr/>
        </p:nvSpPr>
        <p:spPr>
          <a:xfrm>
            <a:off x="9563100" y="2057400"/>
            <a:ext cx="1905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noProof="1" b="1">
                <a:solidFill>
                  <a:srgbClr val="E50040"/>
                </a:solidFill>
                <a:latin typeface="MiSans"/>
                <a:ea typeface="MiSans"/>
              </a:rPr>
              <a:t>46</a:t>
            </a:r>
            <a:endParaRPr lang="en-US" sz="3200" noProof="1"/>
          </a:p>
        </p:txBody>
      </p:sp>
      <p:sp>
        <p:nvSpPr>
          <p:cNvPr id="16" name="kpi-lbl-4"/>
          <p:cNvSpPr txBox="1"/>
          <p:nvPr/>
        </p:nvSpPr>
        <p:spPr>
          <a:xfrm>
            <a:off x="9563100" y="2692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300" noProof="1">
                <a:solidFill>
                  <a:srgbClr val="818181"/>
                </a:solidFill>
                <a:latin typeface="MiSans"/>
                <a:ea typeface="MiSans"/>
              </a:rPr>
              <a:t>кПа — напор насоса</a:t>
            </a:r>
            <a:endParaRPr lang="en-US" sz="1300" noProof="1"/>
          </a:p>
        </p:txBody>
      </p:sp>
      <p:sp>
        <p:nvSpPr>
          <p:cNvPr id="17" name="sub-card-1"/>
          <p:cNvSpPr/>
          <p:nvPr/>
        </p:nvSpPr>
        <p:spPr>
          <a:xfrm>
            <a:off x="7620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8" name="sub-val-1"/>
          <p:cNvSpPr txBox="1"/>
          <p:nvPr/>
        </p:nvSpPr>
        <p:spPr>
          <a:xfrm>
            <a:off x="9906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00000"/>
                </a:solidFill>
                <a:latin typeface="MiSans"/>
                <a:ea typeface="MiSans"/>
              </a:rPr>
              <a:t>53,0 / 37,4 °C</a:t>
            </a:r>
            <a:endParaRPr lang="en-US" sz="2200" noProof="1"/>
          </a:p>
        </p:txBody>
      </p:sp>
      <p:sp>
        <p:nvSpPr>
          <p:cNvPr id="19" name="sub-lbl-1"/>
          <p:cNvSpPr txBox="1"/>
          <p:nvPr/>
        </p:nvSpPr>
        <p:spPr>
          <a:xfrm>
            <a:off x="9906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818181"/>
                </a:solidFill>
                <a:latin typeface="MiSans"/>
                <a:ea typeface="MiSans"/>
              </a:rPr>
              <a:t>подача / обратка</a:t>
            </a:r>
            <a:endParaRPr lang="en-US" sz="1200" noProof="1"/>
          </a:p>
        </p:txBody>
      </p:sp>
      <p:sp>
        <p:nvSpPr>
          <p:cNvPr id="20" name="sub-card-2"/>
          <p:cNvSpPr/>
          <p:nvPr/>
        </p:nvSpPr>
        <p:spPr>
          <a:xfrm>
            <a:off x="36195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1" name="sub-val-2"/>
          <p:cNvSpPr txBox="1"/>
          <p:nvPr/>
        </p:nvSpPr>
        <p:spPr>
          <a:xfrm>
            <a:off x="38481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00000"/>
                </a:solidFill>
                <a:latin typeface="MiSans"/>
                <a:ea typeface="MiSans"/>
              </a:rPr>
              <a:t>4 коллектора</a:t>
            </a:r>
            <a:endParaRPr lang="en-US" sz="2200" noProof="1"/>
          </a:p>
        </p:txBody>
      </p:sp>
      <p:sp>
        <p:nvSpPr>
          <p:cNvPr id="22" name="sub-lbl-2"/>
          <p:cNvSpPr txBox="1"/>
          <p:nvPr/>
        </p:nvSpPr>
        <p:spPr>
          <a:xfrm>
            <a:off x="38481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818181"/>
                </a:solidFill>
                <a:latin typeface="MiSans"/>
                <a:ea typeface="MiSans"/>
              </a:rPr>
              <a:t>IV 1¼" и HKV-D, 19 контуров</a:t>
            </a:r>
            <a:endParaRPr lang="en-US" sz="1200" noProof="1"/>
          </a:p>
        </p:txBody>
      </p:sp>
      <p:sp>
        <p:nvSpPr>
          <p:cNvPr id="23" name="sub-card-3"/>
          <p:cNvSpPr/>
          <p:nvPr/>
        </p:nvSpPr>
        <p:spPr>
          <a:xfrm>
            <a:off x="6477000" y="3683000"/>
            <a:ext cx="2603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4" name="sub-val-3"/>
          <p:cNvSpPr txBox="1"/>
          <p:nvPr/>
        </p:nvSpPr>
        <p:spPr>
          <a:xfrm>
            <a:off x="6705600" y="3835400"/>
            <a:ext cx="2159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00000"/>
                </a:solidFill>
                <a:latin typeface="MiSans"/>
                <a:ea typeface="MiSans"/>
              </a:rPr>
              <a:t>335,4 Вт/м²</a:t>
            </a:r>
            <a:endParaRPr lang="en-US" sz="2200" noProof="1"/>
          </a:p>
        </p:txBody>
      </p:sp>
      <p:sp>
        <p:nvSpPr>
          <p:cNvPr id="25" name="sub-lbl-3"/>
          <p:cNvSpPr txBox="1"/>
          <p:nvPr/>
        </p:nvSpPr>
        <p:spPr>
          <a:xfrm>
            <a:off x="6705600" y="4292600"/>
            <a:ext cx="215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818181"/>
                </a:solidFill>
                <a:latin typeface="MiSans"/>
                <a:ea typeface="MiSans"/>
              </a:rPr>
              <a:t>суммарная удельная мощность</a:t>
            </a:r>
            <a:endParaRPr lang="en-US" sz="1200" noProof="1"/>
          </a:p>
        </p:txBody>
      </p:sp>
      <p:sp>
        <p:nvSpPr>
          <p:cNvPr id="26" name="sub-card-4"/>
          <p:cNvSpPr/>
          <p:nvPr/>
        </p:nvSpPr>
        <p:spPr>
          <a:xfrm>
            <a:off x="9334500" y="3683000"/>
            <a:ext cx="2349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27" name="sub-val-4"/>
          <p:cNvSpPr txBox="1"/>
          <p:nvPr/>
        </p:nvSpPr>
        <p:spPr>
          <a:xfrm>
            <a:off x="9563100" y="3835400"/>
            <a:ext cx="1905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00000"/>
                </a:solidFill>
                <a:latin typeface="MiSans"/>
                <a:ea typeface="MiSans"/>
              </a:rPr>
              <a:t>16 л</a:t>
            </a:r>
            <a:endParaRPr lang="en-US" sz="2200" noProof="1"/>
          </a:p>
        </p:txBody>
      </p:sp>
      <p:sp>
        <p:nvSpPr>
          <p:cNvPr id="28" name="sub-lbl-4"/>
          <p:cNvSpPr txBox="1"/>
          <p:nvPr/>
        </p:nvSpPr>
        <p:spPr>
          <a:xfrm>
            <a:off x="9563100" y="4292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>
                <a:solidFill>
                  <a:srgbClr val="818181"/>
                </a:solidFill>
                <a:latin typeface="MiSans"/>
                <a:ea typeface="MiSans"/>
              </a:rPr>
              <a:t>расширительный бак</a:t>
            </a:r>
            <a:endParaRPr lang="en-US" sz="1200" noProof="1"/>
          </a:p>
        </p:txBody>
      </p:sp>
      <p:sp>
        <p:nvSpPr>
          <p:cNvPr id="29" name="note-bar"/>
          <p:cNvSpPr/>
          <p:nvPr/>
        </p:nvSpPr>
        <p:spPr>
          <a:xfrm>
            <a:off x="762000" y="5207000"/>
            <a:ext cx="10922000" cy="711200"/>
          </a:xfrm>
          <a:prstGeom prst="roundRect">
            <a:avLst>
              <a:gd name="adj" fmla="val 12000"/>
            </a:avLst>
          </a:prstGeom>
          <a:solidFill>
            <a:srgbClr val="4FC7B5"/>
          </a:solidFill>
          <a:ln>
            <a:noFill/>
          </a:ln>
        </p:spPr>
      </p:sp>
      <p:sp>
        <p:nvSpPr>
          <p:cNvPr id="30" name="note-text"/>
          <p:cNvSpPr txBox="1"/>
          <p:nvPr/>
        </p:nvSpPr>
        <p:spPr>
          <a:xfrm>
            <a:off x="1041400" y="5207000"/>
            <a:ext cx="1041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000000"/>
                </a:solidFill>
                <a:latin typeface="MiSans"/>
                <a:ea typeface="MiSans"/>
              </a:rPr>
              <a:t>Итог для объекта:</a:t>
            </a:r>
            <a:r>
              <a:rPr lang="en-US" sz="1400" noProof="1">
                <a:solidFill>
                  <a:srgbClr val="000000"/>
                </a:solidFill>
                <a:latin typeface="MiSans"/>
                <a:ea typeface="MiSans"/>
              </a:rPr>
              <a:t> полная спецификация оборудования и гидравлики сформирована автоматически и готова к выгрузке в PDF</a:t>
            </a:r>
            <a:endParaRPr lang="en-US" sz="1400" noProof="1"/>
          </a:p>
        </p:txBody>
      </p:sp>
      <p:pic>
        <p:nvPicPr>
          <p:cNvPr id="31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2992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32" name="page-num"/>
          <p:cNvSpPr txBox="1"/>
          <p:nvPr/>
        </p:nvSpPr>
        <p:spPr>
          <a:xfrm>
            <a:off x="11430000" y="63246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06</a:t>
            </a:r>
            <a:endParaRPr lang="en-US" sz="11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 spc="200" kern="0">
                <a:solidFill>
                  <a:srgbClr val="E50040"/>
                </a:solidFill>
                <a:latin typeface="MiSans"/>
                <a:ea typeface="MiSans"/>
              </a:rPr>
              <a:t>ЦЕННОСТЬ ДЛЯ РЕХАУ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000000"/>
                </a:solidFill>
                <a:latin typeface="MiSans"/>
                <a:ea typeface="MiSans"/>
              </a:rPr>
              <a:t>Что это даёт компании</a:t>
            </a:r>
            <a:endParaRPr lang="en-US" sz="3000" noProof="1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v-card-1"/>
          <p:cNvSpPr/>
          <p:nvPr/>
        </p:nvSpPr>
        <p:spPr>
          <a:xfrm>
            <a:off x="762000" y="1905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6" name="v-1-bar"/>
          <p:cNvSpPr/>
          <p:nvPr/>
        </p:nvSpPr>
        <p:spPr>
          <a:xfrm>
            <a:off x="762000" y="1905000"/>
            <a:ext cx="76200" cy="17780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7" name="v-1-name"/>
          <p:cNvSpPr txBox="1"/>
          <p:nvPr/>
        </p:nvSpPr>
        <p:spPr>
          <a:xfrm>
            <a:off x="1117600" y="2108200"/>
            <a:ext cx="469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000000"/>
                </a:solidFill>
                <a:latin typeface="MiSans"/>
                <a:ea typeface="MiSans"/>
              </a:rPr>
              <a:t>Продажи оборудования</a:t>
            </a:r>
            <a:endParaRPr lang="en-US" sz="1700" noProof="1"/>
          </a:p>
        </p:txBody>
      </p:sp>
      <p:sp>
        <p:nvSpPr>
          <p:cNvPr id="8" name="v-1-desc"/>
          <p:cNvSpPr txBox="1"/>
          <p:nvPr/>
        </p:nvSpPr>
        <p:spPr>
          <a:xfrm>
            <a:off x="1117600" y="2565400"/>
            <a:ext cx="46736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Спецификация с артикулами РЕХАУ формируется автоматически — трубы и коллекторы закладываются в проект по умолчанию</a:t>
            </a:r>
            <a:endParaRPr lang="en-US" sz="1300" noProof="1"/>
          </a:p>
        </p:txBody>
      </p:sp>
      <p:sp>
        <p:nvSpPr>
          <p:cNvPr id="9" name="v-card-2"/>
          <p:cNvSpPr/>
          <p:nvPr/>
        </p:nvSpPr>
        <p:spPr>
          <a:xfrm>
            <a:off x="6350000" y="1905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0" name="v-2-bar"/>
          <p:cNvSpPr/>
          <p:nvPr/>
        </p:nvSpPr>
        <p:spPr>
          <a:xfrm>
            <a:off x="6350000" y="1905000"/>
            <a:ext cx="76200" cy="17780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1" name="v-2-name"/>
          <p:cNvSpPr txBox="1"/>
          <p:nvPr/>
        </p:nvSpPr>
        <p:spPr>
          <a:xfrm>
            <a:off x="6705600" y="2108200"/>
            <a:ext cx="469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000000"/>
                </a:solidFill>
                <a:latin typeface="MiSans"/>
                <a:ea typeface="MiSans"/>
              </a:rPr>
              <a:t>Лояльность проектировщиков</a:t>
            </a:r>
            <a:endParaRPr lang="en-US" sz="1700" noProof="1"/>
          </a:p>
        </p:txBody>
      </p:sp>
      <p:sp>
        <p:nvSpPr>
          <p:cNvPr id="12" name="v-2-desc"/>
          <p:cNvSpPr txBox="1"/>
          <p:nvPr/>
        </p:nvSpPr>
        <p:spPr>
          <a:xfrm>
            <a:off x="6705600" y="2565400"/>
            <a:ext cx="46736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Инструмент экономит часы на каждом объекте — проектировщик возвращается к решениям РЕХАУ снова и снова</a:t>
            </a:r>
            <a:endParaRPr lang="en-US" sz="1300" noProof="1"/>
          </a:p>
        </p:txBody>
      </p:sp>
      <p:sp>
        <p:nvSpPr>
          <p:cNvPr id="13" name="v-card-3"/>
          <p:cNvSpPr/>
          <p:nvPr/>
        </p:nvSpPr>
        <p:spPr>
          <a:xfrm>
            <a:off x="762000" y="3937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4" name="v-3-bar"/>
          <p:cNvSpPr/>
          <p:nvPr/>
        </p:nvSpPr>
        <p:spPr>
          <a:xfrm>
            <a:off x="762000" y="3937000"/>
            <a:ext cx="76200" cy="1778000"/>
          </a:xfrm>
          <a:prstGeom prst="rect">
            <a:avLst/>
          </a:prstGeom>
          <a:solidFill>
            <a:srgbClr val="4FC7B5"/>
          </a:solidFill>
          <a:ln>
            <a:noFill/>
          </a:ln>
        </p:spPr>
      </p:sp>
      <p:sp>
        <p:nvSpPr>
          <p:cNvPr id="15" name="v-3-name"/>
          <p:cNvSpPr txBox="1"/>
          <p:nvPr/>
        </p:nvSpPr>
        <p:spPr>
          <a:xfrm>
            <a:off x="1117600" y="4140200"/>
            <a:ext cx="469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000000"/>
                </a:solidFill>
                <a:latin typeface="MiSans"/>
                <a:ea typeface="MiSans"/>
              </a:rPr>
              <a:t>Стандарт качества под брендом</a:t>
            </a:r>
            <a:endParaRPr lang="en-US" sz="1700" noProof="1"/>
          </a:p>
        </p:txBody>
      </p:sp>
      <p:sp>
        <p:nvSpPr>
          <p:cNvPr id="16" name="v-3-desc"/>
          <p:cNvSpPr txBox="1"/>
          <p:nvPr/>
        </p:nvSpPr>
        <p:spPr>
          <a:xfrm>
            <a:off x="1117600" y="4597400"/>
            <a:ext cx="46736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Единая проверяемая методика расчёта ассоциируется с РЕХАУ: меньше ошибок в проектах — меньше репутационных рисков</a:t>
            </a:r>
            <a:endParaRPr lang="en-US" sz="1300" noProof="1"/>
          </a:p>
        </p:txBody>
      </p:sp>
      <p:sp>
        <p:nvSpPr>
          <p:cNvPr id="17" name="v-card-4"/>
          <p:cNvSpPr/>
          <p:nvPr/>
        </p:nvSpPr>
        <p:spPr>
          <a:xfrm>
            <a:off x="6350000" y="3937000"/>
            <a:ext cx="5334000" cy="1778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</p:sp>
      <p:sp>
        <p:nvSpPr>
          <p:cNvPr id="18" name="v-4-bar"/>
          <p:cNvSpPr/>
          <p:nvPr/>
        </p:nvSpPr>
        <p:spPr>
          <a:xfrm>
            <a:off x="6350000" y="3937000"/>
            <a:ext cx="76200" cy="17780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19" name="v-4-name"/>
          <p:cNvSpPr txBox="1"/>
          <p:nvPr/>
        </p:nvSpPr>
        <p:spPr>
          <a:xfrm>
            <a:off x="6705600" y="4140200"/>
            <a:ext cx="4699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000000"/>
                </a:solidFill>
                <a:latin typeface="MiSans"/>
                <a:ea typeface="MiSans"/>
              </a:rPr>
              <a:t>Канал обратной связи</a:t>
            </a:r>
            <a:endParaRPr lang="en-US" sz="1700" noProof="1"/>
          </a:p>
        </p:txBody>
      </p:sp>
      <p:sp>
        <p:nvSpPr>
          <p:cNvPr id="20" name="v-4-desc"/>
          <p:cNvSpPr txBox="1"/>
          <p:nvPr/>
        </p:nvSpPr>
        <p:spPr>
          <a:xfrm>
            <a:off x="6705600" y="4597400"/>
            <a:ext cx="46736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Пожелания пользователей формируют дорожную карту — прямой контакт с проектировщиками без посредников</a:t>
            </a:r>
            <a:endParaRPr lang="en-US" sz="1300" noProof="1"/>
          </a:p>
        </p:txBody>
      </p:sp>
      <p:pic>
        <p:nvPicPr>
          <p:cNvPr id="21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22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07</a:t>
            </a:r>
            <a:endParaRPr lang="en-US" sz="11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 txBox="1"/>
          <p:nvPr/>
        </p:nvSpPr>
        <p:spPr>
          <a:xfrm>
            <a:off x="762000" y="508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 spc="200" kern="0">
                <a:solidFill>
                  <a:srgbClr val="E50040"/>
                </a:solidFill>
                <a:latin typeface="MiSans"/>
                <a:ea typeface="MiSans"/>
              </a:rPr>
              <a:t>РАЗВИТИЕ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7620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000000"/>
                </a:solidFill>
                <a:latin typeface="MiSans"/>
                <a:ea typeface="MiSans"/>
              </a:rPr>
              <a:t>Что уже есть и что дальше</a:t>
            </a:r>
            <a:endParaRPr lang="en-US" sz="3000" noProof="1"/>
          </a:p>
        </p:txBody>
      </p:sp>
      <p:sp>
        <p:nvSpPr>
          <p:cNvPr id="4" name="title-bar"/>
          <p:cNvSpPr/>
          <p:nvPr/>
        </p:nvSpPr>
        <p:spPr>
          <a:xfrm>
            <a:off x="787400" y="1422400"/>
            <a:ext cx="584200" cy="635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col-1-head"/>
          <p:cNvSpPr/>
          <p:nvPr/>
        </p:nvSpPr>
        <p:spPr>
          <a:xfrm>
            <a:off x="762000" y="1905000"/>
            <a:ext cx="3467100" cy="558800"/>
          </a:xfrm>
          <a:prstGeom prst="roundRect">
            <a:avLst>
              <a:gd name="adj" fmla="val 16000"/>
            </a:avLst>
          </a:prstGeom>
          <a:solidFill>
            <a:srgbClr val="4FC7B5"/>
          </a:solidFill>
          <a:ln>
            <a:noFill/>
          </a:ln>
        </p:spPr>
      </p:sp>
      <p:sp>
        <p:nvSpPr>
          <p:cNvPr id="6" name="col-1-head-text"/>
          <p:cNvSpPr txBox="1"/>
          <p:nvPr/>
        </p:nvSpPr>
        <p:spPr>
          <a:xfrm>
            <a:off x="1041400" y="1905000"/>
            <a:ext cx="292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000000"/>
                </a:solidFill>
                <a:latin typeface="MiSans"/>
                <a:ea typeface="MiSans"/>
              </a:rPr>
              <a:t>Реализовано</a:t>
            </a:r>
            <a:endParaRPr lang="en-US" sz="1600" noProof="1"/>
          </a:p>
        </p:txBody>
      </p:sp>
      <p:sp>
        <p:nvSpPr>
          <p:cNvPr id="7" name="col-1-body"/>
          <p:cNvSpPr/>
          <p:nvPr/>
        </p:nvSpPr>
        <p:spPr>
          <a:xfrm>
            <a:off x="762000" y="2565400"/>
            <a:ext cx="3467100" cy="3327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8" name="col-1-text"/>
          <p:cNvSpPr txBox="1"/>
          <p:nvPr/>
        </p:nvSpPr>
        <p:spPr>
          <a:xfrm>
            <a:off x="1041400" y="2743200"/>
            <a:ext cx="2921000" cy="294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Климат: 550 городов по СП 131.13330.2025</a:t>
            </a:r>
            <a:endParaRPr lang="en-US" sz="13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Конструкция с визуализацией «пирога»</a:t>
            </a:r>
            <a:endParaRPr lang="en-US" sz="13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Тепловой расчёт (режимы Melting)</a:t>
            </a:r>
            <a:endParaRPr lang="en-US" sz="13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Гидравлика с балансировкой по VDI 2075</a:t>
            </a:r>
            <a:endParaRPr lang="en-US" sz="13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PDF-отчёт с приложением по контурам</a:t>
            </a:r>
            <a:endParaRPr lang="en-US" sz="1300" noProof="1"/>
          </a:p>
        </p:txBody>
      </p:sp>
      <p:sp>
        <p:nvSpPr>
          <p:cNvPr id="9" name="col-2-head"/>
          <p:cNvSpPr/>
          <p:nvPr/>
        </p:nvSpPr>
        <p:spPr>
          <a:xfrm>
            <a:off x="4483100" y="1905000"/>
            <a:ext cx="3467100" cy="558800"/>
          </a:xfrm>
          <a:prstGeom prst="roundRect">
            <a:avLst>
              <a:gd name="adj" fmla="val 16000"/>
            </a:avLst>
          </a:prstGeom>
          <a:solidFill>
            <a:srgbClr val="E50040"/>
          </a:solidFill>
          <a:ln>
            <a:noFill/>
          </a:ln>
        </p:spPr>
      </p:sp>
      <p:sp>
        <p:nvSpPr>
          <p:cNvPr id="10" name="col-2-head-text"/>
          <p:cNvSpPr txBox="1"/>
          <p:nvPr/>
        </p:nvSpPr>
        <p:spPr>
          <a:xfrm>
            <a:off x="4762500" y="1905000"/>
            <a:ext cx="2921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MiSans"/>
                <a:ea typeface="MiSans"/>
              </a:rPr>
              <a:t>В работе</a:t>
            </a:r>
            <a:endParaRPr lang="en-US" sz="1600" noProof="1"/>
          </a:p>
        </p:txBody>
      </p:sp>
      <p:sp>
        <p:nvSpPr>
          <p:cNvPr id="11" name="col-2-body"/>
          <p:cNvSpPr/>
          <p:nvPr/>
        </p:nvSpPr>
        <p:spPr>
          <a:xfrm>
            <a:off x="4483100" y="2565400"/>
            <a:ext cx="3467100" cy="3327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2" name="col-2-text"/>
          <p:cNvSpPr txBox="1"/>
          <p:nvPr/>
        </p:nvSpPr>
        <p:spPr>
          <a:xfrm>
            <a:off x="4762500" y="2743200"/>
            <a:ext cx="2921000" cy="294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Рабочий и холодный режимы гидравлики — выгрузка в .md</a:t>
            </a:r>
            <a:endParaRPr lang="en-US" sz="13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Полные формулы расчёта в составе PDF-отчёта</a:t>
            </a:r>
            <a:endParaRPr lang="en-US" sz="1300" noProof="1"/>
          </a:p>
        </p:txBody>
      </p:sp>
      <p:sp>
        <p:nvSpPr>
          <p:cNvPr id="13" name="col-3-head"/>
          <p:cNvSpPr/>
          <p:nvPr/>
        </p:nvSpPr>
        <p:spPr>
          <a:xfrm>
            <a:off x="8204200" y="1905000"/>
            <a:ext cx="3479800" cy="5588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14" name="col-3-head-text"/>
          <p:cNvSpPr txBox="1"/>
          <p:nvPr/>
        </p:nvSpPr>
        <p:spPr>
          <a:xfrm>
            <a:off x="8483600" y="1905000"/>
            <a:ext cx="294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MiSans"/>
                <a:ea typeface="MiSans"/>
              </a:rPr>
              <a:t>Далее</a:t>
            </a:r>
            <a:endParaRPr lang="en-US" sz="1600" noProof="1"/>
          </a:p>
        </p:txBody>
      </p:sp>
      <p:sp>
        <p:nvSpPr>
          <p:cNvPr id="15" name="col-3-body"/>
          <p:cNvSpPr/>
          <p:nvPr/>
        </p:nvSpPr>
        <p:spPr>
          <a:xfrm>
            <a:off x="8204200" y="2565400"/>
            <a:ext cx="3479800" cy="3327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D9D9D9"/>
            </a:solidFill>
          </a:ln>
        </p:spPr>
      </p:sp>
      <p:sp>
        <p:nvSpPr>
          <p:cNvPr id="16" name="col-3-text"/>
          <p:cNvSpPr txBox="1"/>
          <p:nvPr/>
        </p:nvSpPr>
        <p:spPr>
          <a:xfrm>
            <a:off x="8483600" y="2743200"/>
            <a:ext cx="2946400" cy="294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Экспорт отчётов Word и Excel</a:t>
            </a:r>
            <a:endParaRPr lang="en-US" sz="13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Библиотека типовых проектов</a:t>
            </a:r>
            <a:endParaRPr lang="en-US" sz="13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300" noProof="1">
                <a:solidFill>
                  <a:srgbClr val="4E4E4E"/>
                </a:solidFill>
                <a:latin typeface="MiSans"/>
                <a:ea typeface="MiSans"/>
              </a:rPr>
              <a:t>Пожелания проектировщиков — по итогам пилота</a:t>
            </a:r>
            <a:endParaRPr lang="en-US" sz="1300" noProof="1"/>
          </a:p>
        </p:txBody>
      </p:sp>
      <p:pic>
        <p:nvPicPr>
          <p:cNvPr id="17" name="footer-logo"/>
          <p:cNvPicPr/>
          <p:nvPr/>
        </p:nvPicPr>
        <p:blipFill>
          <a:blip r:embed="rId2"/>
          <a:srcRect t="-84" b="-84"/>
          <a:stretch>
            <a:fillRect/>
          </a:stretch>
        </p:blipFill>
        <p:spPr>
          <a:xfrm>
            <a:off x="11074400" y="6350000"/>
            <a:ext cx="304800" cy="317500"/>
          </a:xfrm>
          <a:prstGeom prst="rect">
            <a:avLst/>
          </a:prstGeom>
          <a:ln>
            <a:noFill/>
          </a:ln>
        </p:spPr>
      </p:pic>
      <p:sp>
        <p:nvSpPr>
          <p:cNvPr id="18" name="page-num"/>
          <p:cNvSpPr txBox="1"/>
          <p:nvPr/>
        </p:nvSpPr>
        <p:spPr>
          <a:xfrm>
            <a:off x="11430000" y="637540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08</a:t>
            </a:r>
            <a:endParaRPr lang="en-US" sz="1100" noProof="1"/>
          </a:p>
        </p:txBody>
      </p:sp>
    </p:spTree>
  </p:cSld>
  <p:clrMapOvr>
    <a:masterClrMapping/>
  </p:clrMapOvr>
  <p:transition spd="fast" advClick="1">
    <p:checker dir="horz"/>
  </p:transition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ttern-right"/>
          <p:cNvPicPr/>
          <p:nvPr/>
        </p:nvPicPr>
        <p:blipFill>
          <a:blip r:embed="rId2">
            <a:alphaModFix amt="55000"/>
          </a:blip>
          <a:srcRect l="30987" r="30987"/>
          <a:stretch>
            <a:fillRect/>
          </a:stretch>
        </p:blipFill>
        <p:spPr>
          <a:xfrm>
            <a:off x="8128000" y="0"/>
            <a:ext cx="4064000" cy="6858000"/>
          </a:xfrm>
          <a:prstGeom prst="rect">
            <a:avLst/>
          </a:prstGeom>
          <a:ln>
            <a:noFill/>
          </a:ln>
        </p:spPr>
      </p:pic>
      <p:pic>
        <p:nvPicPr>
          <p:cNvPr id="3" name="logo"/>
          <p:cNvPicPr/>
          <p:nvPr/>
        </p:nvPicPr>
        <p:blipFill>
          <a:blip r:embed="rId3"/>
          <a:srcRect l="-160" r="-160"/>
          <a:stretch>
            <a:fillRect/>
          </a:stretch>
        </p:blipFill>
        <p:spPr>
          <a:xfrm>
            <a:off x="762000" y="2540000"/>
            <a:ext cx="2413000" cy="1270000"/>
          </a:xfrm>
          <a:prstGeom prst="rect">
            <a:avLst/>
          </a:prstGeom>
          <a:ln>
            <a:noFill/>
          </a:ln>
        </p:spPr>
      </p:pic>
      <p:sp>
        <p:nvSpPr>
          <p:cNvPr id="4" name="accent-bar"/>
          <p:cNvSpPr/>
          <p:nvPr/>
        </p:nvSpPr>
        <p:spPr>
          <a:xfrm>
            <a:off x="787400" y="4064000"/>
            <a:ext cx="584200" cy="76200"/>
          </a:xfrm>
          <a:prstGeom prst="rect">
            <a:avLst/>
          </a:prstGeom>
          <a:solidFill>
            <a:srgbClr val="E50040"/>
          </a:solidFill>
          <a:ln>
            <a:noFill/>
          </a:ln>
        </p:spPr>
      </p:sp>
      <p:sp>
        <p:nvSpPr>
          <p:cNvPr id="5" name="slogan"/>
          <p:cNvSpPr txBox="1"/>
          <p:nvPr/>
        </p:nvSpPr>
        <p:spPr>
          <a:xfrm>
            <a:off x="762000" y="4318000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FFFFFF"/>
                </a:solidFill>
                <a:latin typeface="MiSans"/>
                <a:ea typeface="MiSans"/>
              </a:rPr>
              <a:t>Решения для дома и бизнеса</a:t>
            </a:r>
            <a:endParaRPr lang="en-US" sz="2000" noProof="1"/>
          </a:p>
        </p:txBody>
      </p:sp>
      <p:sp>
        <p:nvSpPr>
          <p:cNvPr id="6" name="manual-note"/>
          <p:cNvSpPr txBox="1"/>
          <p:nvPr/>
        </p:nvSpPr>
        <p:spPr>
          <a:xfrm>
            <a:off x="762000" y="4876800"/>
            <a:ext cx="609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B0B0B0"/>
                </a:solidFill>
                <a:latin typeface="MiSans"/>
                <a:ea typeface="MiSans"/>
              </a:rPr>
              <a:t>В комплекте — руководство пользователя: все расчёты разобраны по шагам на сквозном примере (Екатеринбург, 370 м²)</a:t>
            </a:r>
            <a:endParaRPr lang="en-US" sz="1200" noProof="1"/>
          </a:p>
        </p:txBody>
      </p:sp>
      <p:sp>
        <p:nvSpPr>
          <p:cNvPr id="7" name="contacts"/>
          <p:cNvSpPr txBox="1"/>
          <p:nvPr/>
        </p:nvSpPr>
        <p:spPr>
          <a:xfrm>
            <a:off x="762000" y="5511800"/>
            <a:ext cx="6096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300" noProof="1">
                <a:solidFill>
                  <a:srgbClr val="B0B0B0"/>
                </a:solidFill>
                <a:latin typeface="MiSans"/>
                <a:ea typeface="MiSans"/>
              </a:rPr>
              <a:t>Автор: Асадуллин Айдар</a:t>
            </a:r>
            <a:endParaRPr lang="en-US" sz="1300" noProof="1"/>
          </a:p>
          <a:p>
            <a:pPr algn="l">
              <a:lnSpc>
                <a:spcPct val="150000"/>
              </a:lnSpc>
            </a:pPr>
            <a:r>
              <a:rPr lang="en-US" sz="1300" noProof="1">
                <a:solidFill>
                  <a:srgbClr val="B0B0B0"/>
                </a:solidFill>
                <a:latin typeface="MiSans"/>
                <a:ea typeface="MiSans"/>
              </a:rPr>
              <a:t>aydar.asadullin@rhsolutions.ru · +7 922 157 01 80</a:t>
            </a:r>
            <a:endParaRPr lang="en-US" sz="1300" noProof="1"/>
          </a:p>
        </p:txBody>
      </p:sp>
      <p:sp>
        <p:nvSpPr>
          <p:cNvPr id="8" name="page-num"/>
          <p:cNvSpPr txBox="1"/>
          <p:nvPr/>
        </p:nvSpPr>
        <p:spPr>
          <a:xfrm>
            <a:off x="10922000" y="63246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>
                <a:solidFill>
                  <a:srgbClr val="818181"/>
                </a:solidFill>
                <a:latin typeface="MiSans"/>
                <a:ea typeface="MiSans"/>
              </a:rPr>
              <a:t>09</a:t>
            </a:r>
            <a:endParaRPr lang="en-US" sz="1100" noProof="1"/>
          </a:p>
        </p:txBody>
      </p:sp>
    </p:spTree>
  </p:cSld>
  <p:clrMapOvr>
    <a:masterClrMapping/>
  </p:clrMapOvr>
  <p:transition spd="fast" advClick="1">
    <p:checker dir="horz"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Company>Moonshot</Company>
  <Slides>9</Slides>
</Properties>
</file>

<file path=docProps/core.xml><?xml version="1.0" encoding="utf-8"?>
<cp:coreProperties xmlns:cp="http://schemas.openxmlformats.org/package/2006/metadata/core-properties" xmlns:dc="http://purl.org/dc/elements/1.1/">
  <dc:title>РЕХАУ Калькулятор снеготаяния — обзорная презентация</dc:title>
  <dc:subject>РЕХАУ Калькулятор снеготаяния — обзорная презентация</dc:subject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{"Label":"РЕХАУ Калькулятор снеготаяния — обзорная презентация","ContentProducer":"001191110108MACG2KBH8F10000","ProduceID":"rehau_pitch","ReservedCode1":"","ContentPropagator":"001191110108MACG2KBH8F20000","PropagateID":"agent:main:main:conversation:0e45d92d-2496-4a30-aac0-f895591856da","ReservedCode2":""}</vt:lpwstr>
  </property>
</Properties>
</file>