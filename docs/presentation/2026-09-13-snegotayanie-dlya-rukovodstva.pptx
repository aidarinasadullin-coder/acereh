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Открытие: программа уже готова и работает внутри компании. Сегодня — о том, как превратить её из инструмента проектировщиков в канал продаж.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опоры презентации: внутренняя эффективность, втягивание рынка через бесплатный инструмент, отсутствие конкуренции в нише.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 известна каждому: расчёт снеготаяния — редкая и сложная задача. Пять шагов, и на каждом — риск потерять время, качество или заказ.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Программа — это не калькулятор формул, а конвейер: от выбора города до готового комплекта материалов. Последний шаг — красный: именно он делает расчёт продающим.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единая методика в программе снижает зависимость от конкретного специалиста и ускоряет ввод новых людей.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механизм продаж: спецификация с артикулами встроена в итоговый документ. Проектировщик отдаёт заказчику наш PDF — и закупка предопределена.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Механика втягивания рынка: обучение даёт контакты и компетенцию, доступ формирует привычку, привычка формирует спецификацию — а спецификация это заказ.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Существующие инструменты конкурентов решают другую задачу — греющий кабель. В нише «водяные системы + климат РФ + гидравлика + спецификация» мы первые.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Предлагаем не абстрактную «эффективность», а измеримый пилот: четыре метрики, три месяца, отчёт руководству по факту.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просим три решения — статус, пилот, ресурсы. Веб-версия обозначена как горизонт после пилота.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920240"/>
            <a:ext cx="2606040" cy="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1920240"/>
            <a:ext cx="0" cy="77724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2697480"/>
            <a:ext cx="2606040" cy="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2697480"/>
            <a:ext cx="0" cy="77724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3474720"/>
            <a:ext cx="2606040" cy="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3474720"/>
            <a:ext cx="0" cy="77724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251960"/>
            <a:ext cx="2606040" cy="0"/>
          </a:xfrm>
          <a:prstGeom prst="line">
            <a:avLst/>
          </a:prstGeom>
          <a:noFill/>
          <a:ln w="44450">
            <a:solidFill>
              <a:srgbClr val="E50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1837944"/>
            <a:ext cx="164592" cy="164592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10" name="Shape 8"/>
          <p:cNvSpPr/>
          <p:nvPr/>
        </p:nvSpPr>
        <p:spPr>
          <a:xfrm>
            <a:off x="11210544" y="4169664"/>
            <a:ext cx="164592" cy="164592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83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РЕХАУ · СИСТЕМЫ СНЕГОТАЯНИЯ ОТКРЫТЫХ ПЛОЩАДОК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РЕХАУ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66928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снеготаяния — проще и нагляднее.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расчёт — спецификация наших материалов.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66928" y="6035040"/>
            <a:ext cx="118872" cy="118872"/>
          </a:xfrm>
          <a:prstGeom prst="ellipse">
            <a:avLst/>
          </a:prstGeom>
          <a:solidFill>
            <a:srgbClr val="E5004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9436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Асадуллин Айдар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СУТЬ ИДЕИ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владеет расчётом —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тот продаёт материалы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041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Своим — скорость и порядок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681728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Климат, нормативы и гидравлика — внутри программы: расчёт проще, а цифры не расходятся между разделами.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62272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462272" y="4041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Рынку — наш инструмент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62272" y="4681728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Сторонние проектировщики считают бесплатно — на продукции РЕХАУ и со спецификацией наших артикулов.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75904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375904" y="4041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Конкурентам — ответа нет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75904" y="4681728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Аналога для водяных систем снеготаяния по российским нормам на рынке нет.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3429000"/>
            <a:ext cx="0" cy="246888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82712" y="3429000"/>
            <a:ext cx="0" cy="246888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Сегодня расчёт — ручной, долгий и штучный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7784" y="21488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57784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 на расчёт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57784" y="3200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 ждёт ответа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23744" y="2578608"/>
            <a:ext cx="310896" cy="0"/>
          </a:xfrm>
          <a:prstGeom prst="line">
            <a:avLst/>
          </a:prstGeom>
          <a:noFill/>
          <a:ln w="22225">
            <a:solidFill>
              <a:srgbClr val="81818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1488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— в головах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34640" y="3200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знание не масштабируется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2578608"/>
            <a:ext cx="310896" cy="0"/>
          </a:xfrm>
          <a:prstGeom prst="line">
            <a:avLst/>
          </a:prstGeom>
          <a:noFill/>
          <a:ln w="22225">
            <a:solidFill>
              <a:srgbClr val="81818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11496" y="21488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11496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Ручной счёт в Excel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11496" y="3200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климат, гликоли, гидравлика — всё руками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77456" y="2578608"/>
            <a:ext cx="310896" cy="0"/>
          </a:xfrm>
          <a:prstGeom prst="line">
            <a:avLst/>
          </a:prstGeom>
          <a:noFill/>
          <a:ln w="22225">
            <a:solidFill>
              <a:srgbClr val="81818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88352" y="21488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8352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Перепроверка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88352" y="3200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ошибку найдёт заказчик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54312" y="2578608"/>
            <a:ext cx="310896" cy="0"/>
          </a:xfrm>
          <a:prstGeom prst="line">
            <a:avLst/>
          </a:prstGeom>
          <a:noFill/>
          <a:ln w="22225">
            <a:solidFill>
              <a:srgbClr val="8181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65208" y="21488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5208" y="2148840"/>
            <a:ext cx="19659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клиенту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65208" y="3200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 считаем — заказ уходит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5212080"/>
            <a:ext cx="12188952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223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 расчёт ручной, клиент уходит к тому, кто отвечает раньше, —</a:t>
            </a:r>
            <a:endParaRPr lang="en-US" sz="16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закладывает в проект то, что ему предложили.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города до спецификации — пять шагов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81912" y="2542032"/>
            <a:ext cx="8851392" cy="0"/>
          </a:xfrm>
          <a:prstGeom prst="line">
            <a:avLst/>
          </a:prstGeom>
          <a:noFill/>
          <a:ln w="1905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213055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0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Климат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3703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550 городов РФ: температура и ветер по СП 131.13330.2025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13055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0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7432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Конструкция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743200" y="3703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Покрытие, слои основания, утеплитель, грунт, УГВ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96128" y="213055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0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56048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расчёт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956048" y="3703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Мощность, шаг трубы, температура поверхности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08976" y="2130552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0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08976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16889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Гидравлика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68896" y="3703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Расходы, потери, подбор и балансировка коллекторов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21824" y="2130552"/>
            <a:ext cx="822960" cy="822960"/>
          </a:xfrm>
          <a:prstGeom prst="ellipse">
            <a:avLst/>
          </a:prstGeom>
          <a:solidFill>
            <a:srgbClr val="E50040"/>
          </a:solidFill>
          <a:ln w="25400">
            <a:solidFill>
              <a:srgbClr val="E50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21824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38174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81744" y="3703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PDF-отчёт: спецификация с артикулами, насос и бак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Нормативы и справочники уже внутри: СП 131.13330.2025 · свойства гликолей ASHRAE · VDI 2075 · DIN EN 60534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ВНУТРЕННИЙ ЭФФЕКТ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Своим: проще, собраннее, нагляднее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больше не зависит от одного человека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Новый проектировщик выходит на самостоятельные расчёты за дни: нормативы, справочники и проверки уже в программе.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440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Стабильность расчётного ядра подкреплена 2200+ автотестами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ПРОЩЕ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37760" y="231343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Город, климат, свойства гликолей и материалы конструкции подставляются автоматически; гидравлика и балансировка коллекторов считаются сами.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937760" y="3264408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СОБРАННЕЕ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3749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проект-файл вместо трёх Excel-файлов: правку не нужно разносить руками — связанные разделы пересчитываются сами, ничего не забудешь и не пропустишь.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937760" y="4700016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4837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НАГЛЯДНЕЕ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37760" y="518464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Фирменный PDF «Результаты расчёта»: от требуемой мощности до спецификации — документ, готовый к отправке заказчику без доработок.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ПРОДАЖ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расчёт — это спецификация РЕХАУ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806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Программа подбирает не «абстрактную трубу», а конкретную продукцию РЕХАУ — с артикулами и метражом. Заказчик получает готовый проект, в котором уже заложены наши материалы.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700784" cy="603504"/>
          </a:xfrm>
          <a:prstGeom prst="roundRect">
            <a:avLst>
              <a:gd name="adj" fmla="val 13636"/>
            </a:avLst>
          </a:prstGeom>
          <a:solidFill>
            <a:srgbClr val="F5F5F5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343400"/>
            <a:ext cx="170078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49424" y="4370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615184" y="4343400"/>
            <a:ext cx="1700784" cy="603504"/>
          </a:xfrm>
          <a:prstGeom prst="roundRect">
            <a:avLst>
              <a:gd name="adj" fmla="val 13636"/>
            </a:avLst>
          </a:prstGeom>
          <a:solidFill>
            <a:srgbClr val="F5F5F5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4343400"/>
            <a:ext cx="170078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на РЕХАУ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15968" y="4370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81728" y="4343400"/>
            <a:ext cx="1700784" cy="603504"/>
          </a:xfrm>
          <a:prstGeom prst="roundRect">
            <a:avLst>
              <a:gd name="adj" fmla="val 13636"/>
            </a:avLst>
          </a:prstGeom>
          <a:solidFill>
            <a:srgbClr val="E50040"/>
          </a:solidFill>
          <a:ln w="12700">
            <a:solidFill>
              <a:srgbClr val="E50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4343400"/>
            <a:ext cx="170078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 у нас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от запроса проектировщика до нашей отгрузки становится короче.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920240"/>
            <a:ext cx="4892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2240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СПЕЦИФИКАЦИЯ ЗАКУПКИ · ИЗ ОТЧЁТА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2807208"/>
            <a:ext cx="118872" cy="118872"/>
          </a:xfrm>
          <a:prstGeom prst="rect">
            <a:avLst/>
          </a:prstGeom>
          <a:solidFill>
            <a:srgbClr val="4FC7B5"/>
          </a:solidFill>
          <a:ln/>
        </p:spPr>
      </p:sp>
      <p:sp>
        <p:nvSpPr>
          <p:cNvPr id="17" name="Text 15"/>
          <p:cNvSpPr/>
          <p:nvPr/>
        </p:nvSpPr>
        <p:spPr>
          <a:xfrm>
            <a:off x="7333488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Труба RAUTHERM S 17 / 20 / 25 мм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33488" y="3072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метраж по контурам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86600" y="3483864"/>
            <a:ext cx="118872" cy="118872"/>
          </a:xfrm>
          <a:prstGeom prst="rect">
            <a:avLst/>
          </a:prstGeom>
          <a:solidFill>
            <a:srgbClr val="4FC7B5"/>
          </a:solidFill>
          <a:ln/>
        </p:spPr>
      </p:sp>
      <p:sp>
        <p:nvSpPr>
          <p:cNvPr id="20" name="Text 18"/>
          <p:cNvSpPr/>
          <p:nvPr/>
        </p:nvSpPr>
        <p:spPr>
          <a:xfrm>
            <a:off x="7333488" y="3419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Коллекторы HKV-D · 2–12 контуров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33488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подбор по числу контуров, с арматурой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4160520"/>
            <a:ext cx="118872" cy="118872"/>
          </a:xfrm>
          <a:prstGeom prst="rect">
            <a:avLst/>
          </a:prstGeom>
          <a:solidFill>
            <a:srgbClr val="4FC7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33488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Промышленные коллекторы IV 1¼" / 1½"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33488" y="4425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крупных объектов, по гидравлике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086600" y="4837176"/>
            <a:ext cx="118872" cy="118872"/>
          </a:xfrm>
          <a:prstGeom prst="rect">
            <a:avLst/>
          </a:prstGeom>
          <a:solidFill>
            <a:srgbClr val="4FC7B5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4773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Насос и расширительный бак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33488" y="5102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расход, напор и объём — параметры подбора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086600" y="5468112"/>
            <a:ext cx="41605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55778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 уходит заказчику вместе с проектом — бренд РЕХАУ попадает в тендер.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 · ВНЕШНИЙ РЫНОК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 как канал продаж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считает в нашем инструменте — тот проектирует на наших материалах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2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Обучение — точка контакта: собираем базу проектных организаций для менеджеров по продажам</a:t>
            </a:r>
            <a:endParaRPr lang="en-US" sz="1450" dirty="0"/>
          </a:p>
          <a:p>
            <a:pPr marL="127000" indent="-127000">
              <a:lnSpc>
                <a:spcPts val="2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лицензии стоят дешевле любой рекламной кампании с тем же охватом</a:t>
            </a:r>
            <a:endParaRPr lang="en-US" sz="1450" dirty="0"/>
          </a:p>
          <a:p>
            <a:pPr marL="127000" indent="-127000">
              <a:lnSpc>
                <a:spcPts val="2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внешний расчёт — объект, где снеготаяние уже заложено на РЕХАУ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93408" y="2212848"/>
            <a:ext cx="0" cy="3429000"/>
          </a:xfrm>
          <a:prstGeom prst="line">
            <a:avLst/>
          </a:prstGeom>
          <a:noFill/>
          <a:ln w="1905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2029968"/>
            <a:ext cx="402336" cy="402336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866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2295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семинар или вебинар: система и расчёт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2889504"/>
            <a:ext cx="402336" cy="402336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86600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бесплатная лицензия проектировщику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749040"/>
            <a:ext cx="402336" cy="402336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8660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проектировщик считает в нашем инструменте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4608576"/>
            <a:ext cx="402336" cy="402336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8660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873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спецификации — продукция РЕХАУ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5468112"/>
            <a:ext cx="402336" cy="402336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86600" y="5449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5733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поставка материалов через нас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КОНКУРЕНТНОЕ ПОЛОЖЕНИЕ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водяного снеготаяния аналогов нет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846320" cy="47548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28800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828800"/>
            <a:ext cx="3017520" cy="47548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4688" y="1828800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Российские инструменты расчёта *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1828800"/>
            <a:ext cx="3200400" cy="475488"/>
          </a:xfrm>
          <a:prstGeom prst="rect">
            <a:avLst/>
          </a:prstGeom>
          <a:solidFill>
            <a:srgbClr val="E50040"/>
          </a:solidFill>
          <a:ln w="9525">
            <a:solidFill>
              <a:srgbClr val="E50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22208" y="182880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4846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04288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Инженерный расчёт водяной системы: мощность, шаг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304288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304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0" y="2304288"/>
            <a:ext cx="3200400" cy="512064"/>
          </a:xfrm>
          <a:prstGeom prst="rect">
            <a:avLst/>
          </a:prstGeom>
          <a:solidFill>
            <a:srgbClr val="95DDD3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3042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7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4846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16352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Климат 550 городов РФ по СП 131.13330.2025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2816352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8163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12480" y="2816352"/>
            <a:ext cx="3200400" cy="512064"/>
          </a:xfrm>
          <a:prstGeom prst="rect">
            <a:avLst/>
          </a:prstGeom>
          <a:solidFill>
            <a:srgbClr val="95DDD3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8163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7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4846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28416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Гидравлика: подбор и балансировка коллекторов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3328416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3284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412480" y="3328416"/>
            <a:ext cx="3200400" cy="512064"/>
          </a:xfrm>
          <a:prstGeom prst="rect">
            <a:avLst/>
          </a:prstGeom>
          <a:solidFill>
            <a:srgbClr val="95DDD3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32841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7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4846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40480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Спецификация продукции РЕХАУ с артикулами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3840480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8404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3840480"/>
            <a:ext cx="3200400" cy="512064"/>
          </a:xfrm>
          <a:prstGeom prst="rect">
            <a:avLst/>
          </a:prstGeom>
          <a:solidFill>
            <a:srgbClr val="95DDD3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8404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7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352544"/>
            <a:ext cx="4846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352544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Фирменный PDF-отчёт для заказчика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94960" y="4352544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43525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412480" y="4352544"/>
            <a:ext cx="3200400" cy="512064"/>
          </a:xfrm>
          <a:prstGeom prst="rect">
            <a:avLst/>
          </a:prstGeom>
          <a:solidFill>
            <a:srgbClr val="95DDD3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435254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7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Полного инженерного расчёта водяного снеготаяния в РФ нет — первыми задаём стандарт.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У российских брендов — методики-статьи (VALTEC) и расчёт стоимости по площади (PERTiX, USYSTEMS); калькуляторы греющего кабеля (ССТ, DEVI) — не про водяные системы. Проверка поиска: сентябрь 2026.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 на три месяца: что фиксируем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Скорость и согласованность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80560" y="20848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графику и длины контуров снимают как раньше, пересчёт и сверка цифр — автоматически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0068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переделок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10642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Внешние проектировщики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926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обучены и оснащены доступом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06840" y="2898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 10–20 на старте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110642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398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Расчёты в программе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7673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учтённый расчёт — потенциальный объект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37398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месяц к месяцу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398264"/>
            <a:ext cx="110642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81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Конверсия в заказ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4608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расчётов, ставших спецификацией и поставкой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45811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50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метрика возврата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Возврат для нас — каждая спецификация РЕХАУ, ушедшая в проект и в отгрузку.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Целевые значения фиксируем при старте пилота.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решения для старта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1965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Официальный статус инструмента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828800" y="238658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расчёты для заказчиков ведём в программе; фирменный PDF — стандарт коммуникации с клиентом.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 для внешнего рынка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828800" y="35935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учебная группа внешних проектировщиков (10–20 человек): обучение, бесплатные лицензии, поддержка.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7997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7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43799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 на сопровождение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828800" y="4800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Ответственный за вопросы пользователей и актуализацию баз: климат по СП, продукция, методика.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6144768"/>
            <a:ext cx="118872" cy="118872"/>
          </a:xfrm>
          <a:prstGeom prst="ellipse">
            <a:avLst/>
          </a:prstGeom>
          <a:solidFill>
            <a:srgbClr val="4FC7B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6053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Следующий шаг после пилота — веб-версия: доступ из браузера, охват по всей стране.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0" y="1965960"/>
            <a:ext cx="246888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0" descr="C:/Users/Admin/AppData/Local/Temp/mgmt-deck/qr-d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240280"/>
            <a:ext cx="1920240" cy="19202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Установщик и документы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14400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4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Диск · QR-код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снеготаяния РЕХАУ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698480" y="64556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181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Калькулятор снеготаяния РЕХАУ</dc:title>
  <dc:subject>PptxGenJS Presentation</dc:subject>
  <dc:creator>РЕХАУ</dc:creator>
  <cp:lastModifiedBy>РЕХАУ</cp:lastModifiedBy>
  <cp:revision>1</cp:revision>
  <dcterms:created xsi:type="dcterms:W3CDTF">2026-09-12T21:49:38Z</dcterms:created>
  <dcterms:modified xsi:type="dcterms:W3CDTF">2026-09-12T21:49:38Z</dcterms:modified>
</cp:coreProperties>
</file>