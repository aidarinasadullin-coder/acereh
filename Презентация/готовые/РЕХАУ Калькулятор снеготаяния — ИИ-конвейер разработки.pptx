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1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1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1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1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1.png"/><Relationship Id="rId4" Type="http://schemas.openxmlformats.org/officeDocument/2006/relationships/image" Target="../media/image12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1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1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2_2.png"/><Relationship Id="rId4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tr"/>
          <p:cNvPicPr/>
          <p:nvPr/>
        </p:nvPicPr>
        <p:blipFill>
          <a:blip r:embed="rId2"/>
          <a:srcRect l="15" r="15"/>
          <a:stretch>
            <a:fillRect/>
          </a:stretch>
        </p:blipFill>
        <p:spPr>
          <a:xfrm>
            <a:off x="8382000" y="0"/>
            <a:ext cx="3810000" cy="23876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379" r="-379"/>
          <a:stretch>
            <a:fillRect/>
          </a:stretch>
        </p:blipFill>
        <p:spPr>
          <a:xfrm>
            <a:off x="762000" y="609600"/>
            <a:ext cx="2286000" cy="8255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27686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762000" y="3022600"/>
            <a:ext cx="812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200" b="1">
                <a:solidFill>
                  <a:srgbClr val="000000"/>
                </a:solidFill>
                <a:latin typeface="Inter"/>
                <a:ea typeface="Inter"/>
              </a:rPr>
              <a:t>Калькулятор снеготаяния</a:t>
            </a:r>
            <a:endParaRPr lang="en-US" sz="4200"/>
          </a:p>
        </p:txBody>
      </p:sp>
      <p:sp>
        <p:nvSpPr>
          <p:cNvPr id="6" name="subtitle"/>
          <p:cNvSpPr txBox="1"/>
          <p:nvPr/>
        </p:nvSpPr>
        <p:spPr>
          <a:xfrm>
            <a:off x="762000" y="39116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4E4E4E"/>
                </a:solidFill>
                <a:latin typeface="Inter"/>
                <a:ea typeface="Inter"/>
              </a:rPr>
              <a:t>Один инженер и AI-агент: от формул и нормативки — до установщика, отчётов и облака проверок</a:t>
            </a:r>
            <a:endParaRPr lang="en-US" sz="1700"/>
          </a:p>
        </p:txBody>
      </p:sp>
      <p:pic>
        <p:nvPicPr>
          <p:cNvPr id="7" name="squares-br"/>
          <p:cNvPicPr/>
          <p:nvPr/>
        </p:nvPicPr>
        <p:blipFill>
          <a:blip r:embed="rId4"/>
          <a:srcRect l="-36" r="-36"/>
          <a:stretch>
            <a:fillRect/>
          </a:stretch>
        </p:blipFill>
        <p:spPr>
          <a:xfrm>
            <a:off x="10871200" y="5080000"/>
            <a:ext cx="711200" cy="1168400"/>
          </a:xfrm>
          <a:prstGeom prst="rect">
            <a:avLst/>
          </a:prstGeom>
          <a:ln>
            <a:noFill/>
          </a:ln>
        </p:spPr>
      </p:pic>
      <p:sp>
        <p:nvSpPr>
          <p:cNvPr id="8" name="slogan"/>
          <p:cNvSpPr txBox="1"/>
          <p:nvPr/>
        </p:nvSpPr>
        <p:spPr>
          <a:xfrm>
            <a:off x="762000" y="6070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Решения для дома и бизнеса</a:t>
            </a:r>
            <a:endParaRPr lang="en-US" sz="1300"/>
          </a:p>
        </p:txBody>
      </p:sp>
      <p:sp>
        <p:nvSpPr>
          <p:cNvPr id="9" name="meta"/>
          <p:cNvSpPr txBox="1"/>
          <p:nvPr/>
        </p:nvSpPr>
        <p:spPr>
          <a:xfrm>
            <a:off x="7112000" y="60706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>
                <a:solidFill>
                  <a:srgbClr val="B0B0B0"/>
                </a:solidFill>
                <a:latin typeface="Inter"/>
                <a:ea typeface="Inter"/>
              </a:rPr>
              <a:t>ИИ-конвейер · v1.2.0 · сентябрь 2026</a:t>
            </a:r>
            <a:endParaRPr lang="en-US" sz="12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ПРОДУКТ · ЧТО ДЕЛАЕТ ПРИЛОЖЕНИЕ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Полный цикл: от климата до записки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Расчёт снеготаяния — тепловая нагрузка по климату города</a:t>
            </a:r>
            <a:endParaRPr lang="en-US" sz="14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Гидравлика коллекторов — диаметры, скорости, балансировка</a:t>
            </a:r>
            <a:endParaRPr lang="en-US" sz="14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Подбор оборудования РЕХАУ — по каталогу, с ограничениями</a:t>
            </a:r>
            <a:endParaRPr lang="en-US" sz="14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Пояснительная записка в PDF — одним кликом, для экспертизы</a:t>
            </a:r>
            <a:endParaRPr lang="en-US" sz="1400"/>
          </a:p>
        </p:txBody>
      </p:sp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Гидравлический расчёт: контуры, коллекторы, дросселирование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02</a:t>
            </a:r>
            <a:endParaRPr lang="en-US" sz="1100"/>
          </a:p>
        </p:txBody>
      </p:sp>
      <p:pic>
        <p:nvPicPr>
          <p:cNvPr id="18" name="Picture 17" descr="render-hydraul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</p:spPr>
      </p:pic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СТЕК · ТЕХНОЛОГИИ ВНУТРИ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Стек вендора + ИИ-инструментарий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kpi-card-1"/>
          <p:cNvSpPr/>
          <p:nvPr/>
        </p:nvSpPr>
        <p:spPr>
          <a:xfrm>
            <a:off x="762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kpi-val-1"/>
          <p:cNvSpPr txBox="1"/>
          <p:nvPr/>
        </p:nvSpPr>
        <p:spPr>
          <a:xfrm>
            <a:off x="990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.NET 8</a:t>
            </a:r>
            <a:endParaRPr lang="en-US" sz="3200"/>
          </a:p>
        </p:txBody>
      </p:sp>
      <p:sp>
        <p:nvSpPr>
          <p:cNvPr id="7" name="kpi-lbl-1"/>
          <p:cNvSpPr txBox="1"/>
          <p:nvPr/>
        </p:nvSpPr>
        <p:spPr>
          <a:xfrm>
            <a:off x="990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язык и рантайм от Microsoft</a:t>
            </a:r>
            <a:endParaRPr lang="en-US" sz="1300"/>
          </a:p>
        </p:txBody>
      </p:sp>
      <p:sp>
        <p:nvSpPr>
          <p:cNvPr id="8" name="kpi-card-2"/>
          <p:cNvSpPr/>
          <p:nvPr/>
        </p:nvSpPr>
        <p:spPr>
          <a:xfrm>
            <a:off x="36195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9" name="kpi-val-2"/>
          <p:cNvSpPr txBox="1"/>
          <p:nvPr/>
        </p:nvSpPr>
        <p:spPr>
          <a:xfrm>
            <a:off x="38481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WPF</a:t>
            </a:r>
            <a:endParaRPr lang="en-US" sz="3200"/>
          </a:p>
        </p:txBody>
      </p:sp>
      <p:sp>
        <p:nvSpPr>
          <p:cNvPr id="10" name="kpi-lbl-2"/>
          <p:cNvSpPr txBox="1"/>
          <p:nvPr/>
        </p:nvSpPr>
        <p:spPr>
          <a:xfrm>
            <a:off x="38481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настольный UI-фреймворк Windows</a:t>
            </a:r>
            <a:endParaRPr lang="en-US" sz="1300"/>
          </a:p>
        </p:txBody>
      </p:sp>
      <p:sp>
        <p:nvSpPr>
          <p:cNvPr id="11" name="kpi-card-3"/>
          <p:cNvSpPr/>
          <p:nvPr/>
        </p:nvSpPr>
        <p:spPr>
          <a:xfrm>
            <a:off x="6477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2" name="kpi-val-3"/>
          <p:cNvSpPr txBox="1"/>
          <p:nvPr/>
        </p:nvSpPr>
        <p:spPr>
          <a:xfrm>
            <a:off x="6705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2 237</a:t>
            </a:r>
            <a:endParaRPr lang="en-US" sz="3200"/>
          </a:p>
        </p:txBody>
      </p:sp>
      <p:sp>
        <p:nvSpPr>
          <p:cNvPr id="13" name="kpi-lbl-3"/>
          <p:cNvSpPr txBox="1"/>
          <p:nvPr/>
        </p:nvSpPr>
        <p:spPr>
          <a:xfrm>
            <a:off x="6705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автотестов NUnit на каждый расчёт</a:t>
            </a:r>
            <a:endParaRPr lang="en-US" sz="1300"/>
          </a:p>
        </p:txBody>
      </p:sp>
      <p:sp>
        <p:nvSpPr>
          <p:cNvPr id="14" name="kpi-card-4"/>
          <p:cNvSpPr/>
          <p:nvPr/>
        </p:nvSpPr>
        <p:spPr>
          <a:xfrm>
            <a:off x="9334500" y="1841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5" name="kpi-val-4"/>
          <p:cNvSpPr txBox="1"/>
          <p:nvPr/>
        </p:nvSpPr>
        <p:spPr>
          <a:xfrm>
            <a:off x="9563100" y="20574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MIT</a:t>
            </a:r>
            <a:endParaRPr lang="en-US" sz="3200"/>
          </a:p>
        </p:txBody>
      </p:sp>
      <p:sp>
        <p:nvSpPr>
          <p:cNvPr id="16" name="kpi-lbl-4"/>
          <p:cNvSpPr txBox="1"/>
          <p:nvPr/>
        </p:nvSpPr>
        <p:spPr>
          <a:xfrm>
            <a:off x="9563100" y="2692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свободная лицензия PDF-движка</a:t>
            </a:r>
            <a:endParaRPr lang="en-US" sz="1300"/>
          </a:p>
        </p:txBody>
      </p:sp>
      <p:sp>
        <p:nvSpPr>
          <p:cNvPr id="17" name="sub-card-1"/>
          <p:cNvSpPr/>
          <p:nvPr/>
        </p:nvSpPr>
        <p:spPr>
          <a:xfrm>
            <a:off x="762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sub-val-1"/>
          <p:cNvSpPr txBox="1"/>
          <p:nvPr/>
        </p:nvSpPr>
        <p:spPr>
          <a:xfrm>
            <a:off x="990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GitHub Actions</a:t>
            </a:r>
            <a:endParaRPr lang="en-US" sz="2200"/>
          </a:p>
        </p:txBody>
      </p:sp>
      <p:sp>
        <p:nvSpPr>
          <p:cNvPr id="19" name="sub-lbl-1"/>
          <p:cNvSpPr txBox="1"/>
          <p:nvPr/>
        </p:nvSpPr>
        <p:spPr>
          <a:xfrm>
            <a:off x="990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CI: проверка каждой сборки</a:t>
            </a:r>
            <a:endParaRPr lang="en-US" sz="1200"/>
          </a:p>
        </p:txBody>
      </p:sp>
      <p:sp>
        <p:nvSpPr>
          <p:cNvPr id="20" name="sub-card-2"/>
          <p:cNvSpPr/>
          <p:nvPr/>
        </p:nvSpPr>
        <p:spPr>
          <a:xfrm>
            <a:off x="36195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1" name="sub-val-2"/>
          <p:cNvSpPr txBox="1"/>
          <p:nvPr/>
        </p:nvSpPr>
        <p:spPr>
          <a:xfrm>
            <a:off x="38481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ZCode · GLM</a:t>
            </a:r>
            <a:endParaRPr lang="en-US" sz="2200"/>
          </a:p>
        </p:txBody>
      </p:sp>
      <p:sp>
        <p:nvSpPr>
          <p:cNvPr id="22" name="sub-lbl-2"/>
          <p:cNvSpPr txBox="1"/>
          <p:nvPr/>
        </p:nvSpPr>
        <p:spPr>
          <a:xfrm>
            <a:off x="38481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AI-агент: план, код, ревью</a:t>
            </a:r>
            <a:endParaRPr lang="en-US" sz="1200"/>
          </a:p>
        </p:txBody>
      </p:sp>
      <p:sp>
        <p:nvSpPr>
          <p:cNvPr id="23" name="sub-card-3"/>
          <p:cNvSpPr/>
          <p:nvPr/>
        </p:nvSpPr>
        <p:spPr>
          <a:xfrm>
            <a:off x="6477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4" name="sub-val-3"/>
          <p:cNvSpPr txBox="1"/>
          <p:nvPr/>
        </p:nvSpPr>
        <p:spPr>
          <a:xfrm>
            <a:off x="6705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Inno Setup</a:t>
            </a:r>
            <a:endParaRPr lang="en-US" sz="2200"/>
          </a:p>
        </p:txBody>
      </p:sp>
      <p:sp>
        <p:nvSpPr>
          <p:cNvPr id="25" name="sub-lbl-3"/>
          <p:cNvSpPr txBox="1"/>
          <p:nvPr/>
        </p:nvSpPr>
        <p:spPr>
          <a:xfrm>
            <a:off x="6705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Windows-установщик</a:t>
            </a:r>
            <a:endParaRPr lang="en-US" sz="1200"/>
          </a:p>
        </p:txBody>
      </p:sp>
      <p:sp>
        <p:nvSpPr>
          <p:cNvPr id="26" name="sub-card-4"/>
          <p:cNvSpPr/>
          <p:nvPr/>
        </p:nvSpPr>
        <p:spPr>
          <a:xfrm>
            <a:off x="9334500" y="3683000"/>
            <a:ext cx="2349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7" name="sub-val-4"/>
          <p:cNvSpPr txBox="1"/>
          <p:nvPr/>
        </p:nvSpPr>
        <p:spPr>
          <a:xfrm>
            <a:off x="9563100" y="38354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Брендбук</a:t>
            </a:r>
            <a:endParaRPr lang="en-US" sz="2200"/>
          </a:p>
        </p:txBody>
      </p:sp>
      <p:sp>
        <p:nvSpPr>
          <p:cNvPr id="28" name="sub-lbl-4"/>
          <p:cNvSpPr txBox="1"/>
          <p:nvPr/>
        </p:nvSpPr>
        <p:spPr>
          <a:xfrm>
            <a:off x="9563100" y="429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токены дизайн-системы</a:t>
            </a:r>
            <a:endParaRPr lang="en-US" sz="1200"/>
          </a:p>
        </p:txBody>
      </p:sp>
      <p:sp>
        <p:nvSpPr>
          <p:cNvPr id="29" name="note-bar"/>
          <p:cNvSpPr/>
          <p:nvPr/>
        </p:nvSpPr>
        <p:spPr>
          <a:xfrm>
            <a:off x="762000" y="5207000"/>
            <a:ext cx="10922000" cy="7112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30" name="note-text"/>
          <p:cNvSpPr txBox="1"/>
          <p:nvPr/>
        </p:nvSpPr>
        <p:spPr>
          <a:xfrm>
            <a:off x="1041400" y="52070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Inter"/>
                <a:ea typeface="Inter"/>
              </a:rPr>
              <a:t>Ни одного компонента с лицензионным риском: каждый выбор зафиксирован в журнале решений проекта.</a:t>
            </a:r>
            <a:endParaRPr lang="en-US" sz="1400"/>
          </a:p>
        </p:txBody>
      </p:sp>
      <p:pic>
        <p:nvPicPr>
          <p:cNvPr id="3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32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КОНВЕЙЕР · КАК ДЕЛАЕТСЯ ФИЧА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Шесть шагов — и ни один без гейта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План и ревью — второй ИИ ищет дефекты до написания кода</a:t>
            </a:r>
            <a:endParaRPr lang="en-US" sz="14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Show-me — владелец утверждает картинку будущего</a:t>
            </a:r>
            <a:endParaRPr lang="en-US" sz="14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Реализация с тестами — 2 237 проверок на каждом шаге</a:t>
            </a:r>
            <a:endParaRPr lang="en-US" sz="14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Независимое ревью диффа — затем приёмка человеком</a:t>
            </a:r>
            <a:endParaRPr lang="en-US" sz="1400"/>
          </a:p>
        </p:txBody>
      </p:sp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11 решений до кода · 3 дефекта нашло ревью · +22 теста · 0 регрессий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04</a:t>
            </a:r>
            <a:endParaRPr lang="en-US" sz="1100"/>
          </a:p>
        </p:txBody>
      </p:sp>
      <p:pic>
        <p:nvPicPr>
          <p:cNvPr id="18" name="Picture 17" descr="conv-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</p:spPr>
      </p:pic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ХАРНЕСС · ПРАВИЛА ДЛЯ ИИ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Устав проекта обеспечен машиной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AGENTS.md — правила архитектуры и процесса в репозитории</a:t>
            </a:r>
            <a:endParaRPr lang="en-US" sz="14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ADR-журнал — 14 решений с причинами и последствиями</a:t>
            </a:r>
            <a:endParaRPr lang="en-US" sz="14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Машинные проверки — инварианты превращены в тесты</a:t>
            </a:r>
            <a:endParaRPr lang="en-US" sz="14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Списки писателей меняются только через ADR-запись</a:t>
            </a:r>
            <a:endParaRPr lang="en-US" sz="1400"/>
          </a:p>
        </p:txBody>
      </p:sp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Нарушение правила падает тестом — автоматически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05</a:t>
            </a:r>
            <a:endParaRPr lang="en-US" sz="1100"/>
          </a:p>
        </p:txBody>
      </p:sp>
      <p:pic>
        <p:nvPicPr>
          <p:cNvPr id="18" name="Picture 17" descr="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</p:spPr>
      </p:pic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ХАРНЕСС · ПАМЯТЬ ПРОЕКТА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ИИ не начинает с нуля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Журнал решений: 14 ADR — почему система устроена так</a:t>
            </a:r>
            <a:endParaRPr lang="en-US" sz="14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Журнал уроков: 21 запись — ошибку не повторить «по незнанию»</a:t>
            </a:r>
            <a:endParaRPr lang="en-US" sz="14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Коммиты-досье: история каждой фичи читается как отчёт</a:t>
            </a:r>
            <a:endParaRPr lang="en-US" sz="14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Новая сессия ИИ читает историю и продолжает работу</a:t>
            </a:r>
            <a:endParaRPr lang="en-US" sz="1400"/>
          </a:p>
        </p:txBody>
      </p:sp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Реальные записи: ADR-009, ADR-012, ADR-014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06</a:t>
            </a:r>
            <a:endParaRPr lang="en-US" sz="1100"/>
          </a:p>
        </p:txBody>
      </p:sp>
      <p:pic>
        <p:nvPicPr>
          <p:cNvPr id="18" name="Picture 17" descr="adr-t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</p:spPr>
      </p:pic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МОБИЛЬНОСТЬ · ПУЛЬТ В КАРМАНЕ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Разработка управляется с телефона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ZCode Remote Control — сессия агента видна в реальном времени</a:t>
            </a:r>
            <a:endParaRPr lang="en-US" sz="14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Планы и визуализации открываются на экране телефона</a:t>
            </a:r>
            <a:endParaRPr lang="en-US" sz="14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Приёмка фазы — коротким сообщением, где бы вы ни были</a:t>
            </a:r>
            <a:endParaRPr lang="en-US" sz="14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На скрине — живые задачи этого проекта</a:t>
            </a:r>
            <a:endParaRPr lang="en-US" sz="1400"/>
          </a:p>
        </p:txBody>
      </p:sp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Живые задачи проекта: расчёты, редизайны, дедлоки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07</a:t>
            </a:r>
            <a:endParaRPr lang="en-US" sz="1100"/>
          </a:p>
        </p:txBody>
      </p:sp>
      <p:pic>
        <p:nvPicPr>
          <p:cNvPr id="18" name="Picture 17" descr="phone-anim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</p:spPr>
      </p:pic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КАЧЕСТВО · НАДЁЖНОСТЬ В ЦИФРАХ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Каждая цифра подкреплена тестом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kpi-card-1"/>
          <p:cNvSpPr/>
          <p:nvPr/>
        </p:nvSpPr>
        <p:spPr>
          <a:xfrm>
            <a:off x="762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kpi-val-1"/>
          <p:cNvSpPr txBox="1"/>
          <p:nvPr/>
        </p:nvSpPr>
        <p:spPr>
          <a:xfrm>
            <a:off x="990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2 237</a:t>
            </a:r>
            <a:endParaRPr lang="en-US" sz="3200"/>
          </a:p>
        </p:txBody>
      </p:sp>
      <p:sp>
        <p:nvSpPr>
          <p:cNvPr id="7" name="kpi-lbl-1"/>
          <p:cNvSpPr txBox="1"/>
          <p:nvPr/>
        </p:nvSpPr>
        <p:spPr>
          <a:xfrm>
            <a:off x="990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автотестов: код, расчёты, правила</a:t>
            </a:r>
            <a:endParaRPr lang="en-US" sz="1300"/>
          </a:p>
        </p:txBody>
      </p:sp>
      <p:sp>
        <p:nvSpPr>
          <p:cNvPr id="8" name="kpi-card-2"/>
          <p:cNvSpPr/>
          <p:nvPr/>
        </p:nvSpPr>
        <p:spPr>
          <a:xfrm>
            <a:off x="36195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9" name="kpi-val-2"/>
          <p:cNvSpPr txBox="1"/>
          <p:nvPr/>
        </p:nvSpPr>
        <p:spPr>
          <a:xfrm>
            <a:off x="38481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11</a:t>
            </a:r>
            <a:endParaRPr lang="en-US" sz="3200"/>
          </a:p>
        </p:txBody>
      </p:sp>
      <p:sp>
        <p:nvSpPr>
          <p:cNvPr id="10" name="kpi-lbl-2"/>
          <p:cNvSpPr txBox="1"/>
          <p:nvPr/>
        </p:nvSpPr>
        <p:spPr>
          <a:xfrm>
            <a:off x="38481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фаз перестройки без потери данных</a:t>
            </a:r>
            <a:endParaRPr lang="en-US" sz="1300"/>
          </a:p>
        </p:txBody>
      </p:sp>
      <p:sp>
        <p:nvSpPr>
          <p:cNvPr id="11" name="kpi-card-3"/>
          <p:cNvSpPr/>
          <p:nvPr/>
        </p:nvSpPr>
        <p:spPr>
          <a:xfrm>
            <a:off x="6477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2" name="kpi-val-3"/>
          <p:cNvSpPr txBox="1"/>
          <p:nvPr/>
        </p:nvSpPr>
        <p:spPr>
          <a:xfrm>
            <a:off x="6705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10</a:t>
            </a:r>
            <a:endParaRPr lang="en-US" sz="3200"/>
          </a:p>
        </p:txBody>
      </p:sp>
      <p:sp>
        <p:nvSpPr>
          <p:cNvPr id="13" name="kpi-lbl-3"/>
          <p:cNvSpPr txBox="1"/>
          <p:nvPr/>
        </p:nvSpPr>
        <p:spPr>
          <a:xfrm>
            <a:off x="6705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шагов отмены любых правок</a:t>
            </a:r>
            <a:endParaRPr lang="en-US" sz="1300"/>
          </a:p>
        </p:txBody>
      </p:sp>
      <p:sp>
        <p:nvSpPr>
          <p:cNvPr id="14" name="kpi-card-4"/>
          <p:cNvSpPr/>
          <p:nvPr/>
        </p:nvSpPr>
        <p:spPr>
          <a:xfrm>
            <a:off x="9334500" y="1841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5" name="kpi-val-4"/>
          <p:cNvSpPr txBox="1"/>
          <p:nvPr/>
        </p:nvSpPr>
        <p:spPr>
          <a:xfrm>
            <a:off x="9563100" y="20574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0</a:t>
            </a:r>
            <a:endParaRPr lang="en-US" sz="3200"/>
          </a:p>
        </p:txBody>
      </p:sp>
      <p:sp>
        <p:nvSpPr>
          <p:cNvPr id="16" name="kpi-lbl-4"/>
          <p:cNvSpPr txBox="1"/>
          <p:nvPr/>
        </p:nvSpPr>
        <p:spPr>
          <a:xfrm>
            <a:off x="9563100" y="2692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регрессий в кейсе undo/redo</a:t>
            </a:r>
            <a:endParaRPr lang="en-US" sz="1300"/>
          </a:p>
        </p:txBody>
      </p:sp>
      <p:sp>
        <p:nvSpPr>
          <p:cNvPr id="17" name="sub-card-1"/>
          <p:cNvSpPr/>
          <p:nvPr/>
        </p:nvSpPr>
        <p:spPr>
          <a:xfrm>
            <a:off x="762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sub-val-1"/>
          <p:cNvSpPr txBox="1"/>
          <p:nvPr/>
        </p:nvSpPr>
        <p:spPr>
          <a:xfrm>
            <a:off x="990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всегда</a:t>
            </a:r>
            <a:endParaRPr lang="en-US" sz="2200"/>
          </a:p>
        </p:txBody>
      </p:sp>
      <p:sp>
        <p:nvSpPr>
          <p:cNvPr id="19" name="sub-lbl-1"/>
          <p:cNvSpPr txBox="1"/>
          <p:nvPr/>
        </p:nvSpPr>
        <p:spPr>
          <a:xfrm>
            <a:off x="990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старые файлы открываются в новых</a:t>
            </a:r>
            <a:endParaRPr lang="en-US" sz="1200"/>
          </a:p>
        </p:txBody>
      </p:sp>
      <p:sp>
        <p:nvSpPr>
          <p:cNvPr id="20" name="sub-card-2"/>
          <p:cNvSpPr/>
          <p:nvPr/>
        </p:nvSpPr>
        <p:spPr>
          <a:xfrm>
            <a:off x="36195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1" name="sub-val-2"/>
          <p:cNvSpPr txBox="1"/>
          <p:nvPr/>
        </p:nvSpPr>
        <p:spPr>
          <a:xfrm>
            <a:off x="38481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ru-RU</a:t>
            </a:r>
            <a:endParaRPr lang="en-US" sz="2200"/>
          </a:p>
        </p:txBody>
      </p:sp>
      <p:sp>
        <p:nvSpPr>
          <p:cNvPr id="22" name="sub-lbl-2"/>
          <p:cNvSpPr txBox="1"/>
          <p:nvPr/>
        </p:nvSpPr>
        <p:spPr>
          <a:xfrm>
            <a:off x="38481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каноническая локаль всех чисел</a:t>
            </a:r>
            <a:endParaRPr lang="en-US" sz="1200"/>
          </a:p>
        </p:txBody>
      </p:sp>
      <p:sp>
        <p:nvSpPr>
          <p:cNvPr id="23" name="sub-card-3"/>
          <p:cNvSpPr/>
          <p:nvPr/>
        </p:nvSpPr>
        <p:spPr>
          <a:xfrm>
            <a:off x="6477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4" name="sub-val-3"/>
          <p:cNvSpPr txBox="1"/>
          <p:nvPr/>
        </p:nvSpPr>
        <p:spPr>
          <a:xfrm>
            <a:off x="6705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UiSmoke</a:t>
            </a:r>
            <a:endParaRPr lang="en-US" sz="2200"/>
          </a:p>
        </p:txBody>
      </p:sp>
      <p:sp>
        <p:nvSpPr>
          <p:cNvPr id="25" name="sub-lbl-3"/>
          <p:cNvSpPr txBox="1"/>
          <p:nvPr/>
        </p:nvSpPr>
        <p:spPr>
          <a:xfrm>
            <a:off x="6705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интерфейс проверяется тестами</a:t>
            </a:r>
            <a:endParaRPr lang="en-US" sz="1200"/>
          </a:p>
        </p:txBody>
      </p:sp>
      <p:sp>
        <p:nvSpPr>
          <p:cNvPr id="26" name="sub-card-4"/>
          <p:cNvSpPr/>
          <p:nvPr/>
        </p:nvSpPr>
        <p:spPr>
          <a:xfrm>
            <a:off x="9334500" y="3683000"/>
            <a:ext cx="2349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7" name="sub-val-4"/>
          <p:cNvSpPr txBox="1"/>
          <p:nvPr/>
        </p:nvSpPr>
        <p:spPr>
          <a:xfrm>
            <a:off x="9563100" y="38354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Ревью</a:t>
            </a:r>
            <a:endParaRPr lang="en-US" sz="2200"/>
          </a:p>
        </p:txBody>
      </p:sp>
      <p:sp>
        <p:nvSpPr>
          <p:cNvPr id="28" name="sub-lbl-4"/>
          <p:cNvSpPr txBox="1"/>
          <p:nvPr/>
        </p:nvSpPr>
        <p:spPr>
          <a:xfrm>
            <a:off x="9563100" y="429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перед серьёзными изменениями</a:t>
            </a:r>
            <a:endParaRPr lang="en-US" sz="1200"/>
          </a:p>
        </p:txBody>
      </p:sp>
      <p:sp>
        <p:nvSpPr>
          <p:cNvPr id="29" name="note-bar"/>
          <p:cNvSpPr/>
          <p:nvPr/>
        </p:nvSpPr>
        <p:spPr>
          <a:xfrm>
            <a:off x="762000" y="5207000"/>
            <a:ext cx="10922000" cy="7112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30" name="note-text"/>
          <p:cNvSpPr txBox="1"/>
          <p:nvPr/>
        </p:nvSpPr>
        <p:spPr>
          <a:xfrm>
            <a:off x="1041400" y="52070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Inter"/>
                <a:ea typeface="Inter"/>
              </a:rPr>
              <a:t>Источник цифр — репозиторий проекта: тесты, журнал ADR, история изменений (сентябрь 2026).</a:t>
            </a:r>
            <a:endParaRPr lang="en-US" sz="1400"/>
          </a:p>
        </p:txBody>
      </p:sp>
      <p:pic>
        <p:nvPicPr>
          <p:cNvPr id="3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32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08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АВТОМАТИЗАЦИЯ · ИНФРАСТРУКТУРА КАЧЕСТВА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GitHub проверяет каждую сборку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CI в облаке: сборка плюс 2 237 тестов на каждый коммит</a:t>
            </a:r>
            <a:endParaRPr lang="en-US" sz="14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Зелёная галочка — к приёмке, красный крест — обратно агенту</a:t>
            </a:r>
            <a:endParaRPr lang="en-US" sz="14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Реестр «правило → проверка» — правило не может протухнуть</a:t>
            </a:r>
            <a:endParaRPr lang="en-US" sz="14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Ревью-чеки — у каждого ревью перечитываемый вердикт</a:t>
            </a:r>
            <a:endParaRPr lang="en-US" sz="1400"/>
          </a:p>
        </p:txBody>
      </p:sp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Контур: изменение → GitHub → CI → приёмка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09</a:t>
            </a:r>
            <a:endParaRPr lang="en-US" sz="1100"/>
          </a:p>
        </p:txBody>
      </p:sp>
      <p:pic>
        <p:nvPicPr>
          <p:cNvPr id="18" name="Picture 17" descr="ci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</p:spPr>
      </p:pic>
    </p:spTree>
  </p:cSld>
  <p:clrMapOvr>
    <a:masterClrMapping/>
  </p:clrMapOvr>
  <p:transition spd="fast" advClick="1">
    <p:checker dir="horz"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РАЗВИТИЕ · КУДА РАСТУ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Следующие модули того же конвейера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Telegram-приёмка — аппрувы фаз прямо в мессенджере</a:t>
            </a:r>
            <a:endParaRPr lang="en-US" sz="14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RAG: агент сам ищет в брендбуке и нормативке — с цитатой</a:t>
            </a:r>
            <a:endParaRPr lang="en-US" sz="14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MCP: GitHub, сборки, задачи — как инструменты агента</a:t>
            </a:r>
            <a:endParaRPr lang="en-US" sz="14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Inter"/>
                <a:ea typeface="Inter"/>
              </a:rPr>
              <a:t>Автономные сценарии: релиз, разбор сбоев, метрики</a:t>
            </a:r>
            <a:endParaRPr lang="en-US" sz="1400"/>
          </a:p>
        </p:txBody>
      </p:sp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Все технологии — отраслевые стандарты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10</a:t>
            </a:r>
            <a:endParaRPr lang="en-US" sz="1100"/>
          </a:p>
        </p:txBody>
      </p:sp>
      <p:pic>
        <p:nvPicPr>
          <p:cNvPr id="18" name="Picture 17" descr="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</p:spPr>
      </p:pic>
    </p:spTree>
  </p:cSld>
  <p:clrMapOvr>
    <a:masterClrMapping/>
  </p:clrMapOvr>
  <p:transition spd="fast" advClick="1">
    <p:checker dir="horz"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Inter"/>
                <a:ea typeface="Inter"/>
              </a:rPr>
              <a:t>МАСШТАБИРОВАНИЕ · ПЕРЕНОС НА КОМАНДУ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</a:rPr>
              <a:t>Тот же контур работает у отдела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kpi-card-1"/>
          <p:cNvSpPr/>
          <p:nvPr/>
        </p:nvSpPr>
        <p:spPr>
          <a:xfrm>
            <a:off x="762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kpi-val-1"/>
          <p:cNvSpPr txBox="1"/>
          <p:nvPr/>
        </p:nvSpPr>
        <p:spPr>
          <a:xfrm>
            <a:off x="990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01</a:t>
            </a:r>
            <a:endParaRPr lang="en-US" sz="3200"/>
          </a:p>
        </p:txBody>
      </p:sp>
      <p:sp>
        <p:nvSpPr>
          <p:cNvPr id="7" name="kpi-lbl-1"/>
          <p:cNvSpPr txBox="1"/>
          <p:nvPr/>
        </p:nvSpPr>
        <p:spPr>
          <a:xfrm>
            <a:off x="990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Правила — письменно, в репозитории</a:t>
            </a:r>
            <a:endParaRPr lang="en-US" sz="1300"/>
          </a:p>
        </p:txBody>
      </p:sp>
      <p:sp>
        <p:nvSpPr>
          <p:cNvPr id="8" name="kpi-card-2"/>
          <p:cNvSpPr/>
          <p:nvPr/>
        </p:nvSpPr>
        <p:spPr>
          <a:xfrm>
            <a:off x="36195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9" name="kpi-val-2"/>
          <p:cNvSpPr txBox="1"/>
          <p:nvPr/>
        </p:nvSpPr>
        <p:spPr>
          <a:xfrm>
            <a:off x="38481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02</a:t>
            </a:r>
            <a:endParaRPr lang="en-US" sz="3200"/>
          </a:p>
        </p:txBody>
      </p:sp>
      <p:sp>
        <p:nvSpPr>
          <p:cNvPr id="10" name="kpi-lbl-2"/>
          <p:cNvSpPr txBox="1"/>
          <p:nvPr/>
        </p:nvSpPr>
        <p:spPr>
          <a:xfrm>
            <a:off x="38481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Проверки — машинные, тестами</a:t>
            </a:r>
            <a:endParaRPr lang="en-US" sz="1300"/>
          </a:p>
        </p:txBody>
      </p:sp>
      <p:sp>
        <p:nvSpPr>
          <p:cNvPr id="11" name="kpi-card-3"/>
          <p:cNvSpPr/>
          <p:nvPr/>
        </p:nvSpPr>
        <p:spPr>
          <a:xfrm>
            <a:off x="6477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2" name="kpi-val-3"/>
          <p:cNvSpPr txBox="1"/>
          <p:nvPr/>
        </p:nvSpPr>
        <p:spPr>
          <a:xfrm>
            <a:off x="6705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03</a:t>
            </a:r>
            <a:endParaRPr lang="en-US" sz="3200"/>
          </a:p>
        </p:txBody>
      </p:sp>
      <p:sp>
        <p:nvSpPr>
          <p:cNvPr id="13" name="kpi-lbl-3"/>
          <p:cNvSpPr txBox="1"/>
          <p:nvPr/>
        </p:nvSpPr>
        <p:spPr>
          <a:xfrm>
            <a:off x="6705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Сборки — в облаке, автоматически</a:t>
            </a:r>
            <a:endParaRPr lang="en-US" sz="1300"/>
          </a:p>
        </p:txBody>
      </p:sp>
      <p:sp>
        <p:nvSpPr>
          <p:cNvPr id="14" name="kpi-card-4"/>
          <p:cNvSpPr/>
          <p:nvPr/>
        </p:nvSpPr>
        <p:spPr>
          <a:xfrm>
            <a:off x="9334500" y="1841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5" name="kpi-val-4"/>
          <p:cNvSpPr txBox="1"/>
          <p:nvPr/>
        </p:nvSpPr>
        <p:spPr>
          <a:xfrm>
            <a:off x="9563100" y="20574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Inter"/>
                <a:ea typeface="Inter"/>
              </a:rPr>
              <a:t>04</a:t>
            </a:r>
            <a:endParaRPr lang="en-US" sz="3200"/>
          </a:p>
        </p:txBody>
      </p:sp>
      <p:sp>
        <p:nvSpPr>
          <p:cNvPr id="16" name="kpi-lbl-4"/>
          <p:cNvSpPr txBox="1"/>
          <p:nvPr/>
        </p:nvSpPr>
        <p:spPr>
          <a:xfrm>
            <a:off x="9563100" y="2692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Inter"/>
                <a:ea typeface="Inter"/>
              </a:rPr>
              <a:t>Ревью — ИИ проверяет ИИ</a:t>
            </a:r>
            <a:endParaRPr lang="en-US" sz="1300"/>
          </a:p>
        </p:txBody>
      </p:sp>
      <p:sp>
        <p:nvSpPr>
          <p:cNvPr id="17" name="sub-card-1"/>
          <p:cNvSpPr/>
          <p:nvPr/>
        </p:nvSpPr>
        <p:spPr>
          <a:xfrm>
            <a:off x="762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sub-val-1"/>
          <p:cNvSpPr txBox="1"/>
          <p:nvPr/>
        </p:nvSpPr>
        <p:spPr>
          <a:xfrm>
            <a:off x="990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День</a:t>
            </a:r>
            <a:endParaRPr lang="en-US" sz="2200"/>
          </a:p>
        </p:txBody>
      </p:sp>
      <p:sp>
        <p:nvSpPr>
          <p:cNvPr id="19" name="sub-lbl-1"/>
          <p:cNvSpPr txBox="1"/>
          <p:nvPr/>
        </p:nvSpPr>
        <p:spPr>
          <a:xfrm>
            <a:off x="990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старт — обычный текстовый файл</a:t>
            </a:r>
            <a:endParaRPr lang="en-US" sz="1200"/>
          </a:p>
        </p:txBody>
      </p:sp>
      <p:sp>
        <p:nvSpPr>
          <p:cNvPr id="20" name="sub-card-2"/>
          <p:cNvSpPr/>
          <p:nvPr/>
        </p:nvSpPr>
        <p:spPr>
          <a:xfrm>
            <a:off x="36195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1" name="sub-val-2"/>
          <p:cNvSpPr txBox="1"/>
          <p:nvPr/>
        </p:nvSpPr>
        <p:spPr>
          <a:xfrm>
            <a:off x="38481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₽0</a:t>
            </a:r>
            <a:endParaRPr lang="en-US" sz="2200"/>
          </a:p>
        </p:txBody>
      </p:sp>
      <p:sp>
        <p:nvSpPr>
          <p:cNvPr id="22" name="sub-lbl-2"/>
          <p:cNvSpPr txBox="1"/>
          <p:nvPr/>
        </p:nvSpPr>
        <p:spPr>
          <a:xfrm>
            <a:off x="38481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GitHub и CI — бесплатный тариф</a:t>
            </a:r>
            <a:endParaRPr lang="en-US" sz="1200"/>
          </a:p>
        </p:txBody>
      </p:sp>
      <p:sp>
        <p:nvSpPr>
          <p:cNvPr id="23" name="sub-card-3"/>
          <p:cNvSpPr/>
          <p:nvPr/>
        </p:nvSpPr>
        <p:spPr>
          <a:xfrm>
            <a:off x="6477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4" name="sub-val-3"/>
          <p:cNvSpPr txBox="1"/>
          <p:nvPr/>
        </p:nvSpPr>
        <p:spPr>
          <a:xfrm>
            <a:off x="6705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1 → N</a:t>
            </a:r>
            <a:endParaRPr lang="en-US" sz="2200"/>
          </a:p>
        </p:txBody>
      </p:sp>
      <p:sp>
        <p:nvSpPr>
          <p:cNvPr id="25" name="sub-lbl-3"/>
          <p:cNvSpPr txBox="1"/>
          <p:nvPr/>
        </p:nvSpPr>
        <p:spPr>
          <a:xfrm>
            <a:off x="6705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подходит и одному, и отделу</a:t>
            </a:r>
            <a:endParaRPr lang="en-US" sz="1200"/>
          </a:p>
        </p:txBody>
      </p:sp>
      <p:sp>
        <p:nvSpPr>
          <p:cNvPr id="26" name="sub-card-4"/>
          <p:cNvSpPr/>
          <p:nvPr/>
        </p:nvSpPr>
        <p:spPr>
          <a:xfrm>
            <a:off x="9334500" y="3683000"/>
            <a:ext cx="2349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7" name="sub-val-4"/>
          <p:cNvSpPr txBox="1"/>
          <p:nvPr/>
        </p:nvSpPr>
        <p:spPr>
          <a:xfrm>
            <a:off x="9563100" y="38354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Inter"/>
                <a:ea typeface="Inter"/>
              </a:rPr>
              <a:t>Человек</a:t>
            </a:r>
            <a:endParaRPr lang="en-US" sz="2200"/>
          </a:p>
        </p:txBody>
      </p:sp>
      <p:sp>
        <p:nvSpPr>
          <p:cNvPr id="28" name="sub-lbl-4"/>
          <p:cNvSpPr txBox="1"/>
          <p:nvPr/>
        </p:nvSpPr>
        <p:spPr>
          <a:xfrm>
            <a:off x="9563100" y="429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Inter"/>
                <a:ea typeface="Inter"/>
              </a:rPr>
              <a:t>цель ставит и принимает результат</a:t>
            </a:r>
            <a:endParaRPr lang="en-US" sz="1200"/>
          </a:p>
        </p:txBody>
      </p:sp>
      <p:sp>
        <p:nvSpPr>
          <p:cNvPr id="29" name="note-bar"/>
          <p:cNvSpPr/>
          <p:nvPr/>
        </p:nvSpPr>
        <p:spPr>
          <a:xfrm>
            <a:off x="762000" y="5207000"/>
            <a:ext cx="10922000" cy="7112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30" name="note-text"/>
          <p:cNvSpPr txBox="1"/>
          <p:nvPr/>
        </p:nvSpPr>
        <p:spPr>
          <a:xfrm>
            <a:off x="1041400" y="52070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Inter"/>
                <a:ea typeface="Inter"/>
              </a:rPr>
              <a:t>Четыре шага внедряются по очереди — каждый уже опробован в этом проекте.</a:t>
            </a:r>
            <a:endParaRPr lang="en-US" sz="1400"/>
          </a:p>
        </p:txBody>
      </p:sp>
      <p:pic>
        <p:nvPicPr>
          <p:cNvPr id="3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32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11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/>
          <p:cNvPicPr/>
          <p:nvPr/>
        </p:nvPicPr>
        <p:blipFill>
          <a:blip r:embed="rId3"/>
          <a:srcRect l="-160" r="-160"/>
          <a:stretch>
            <a:fillRect/>
          </a:stretch>
        </p:blipFill>
        <p:spPr>
          <a:xfrm>
            <a:off x="762000" y="2540000"/>
            <a:ext cx="2413000" cy="12700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40640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slogan"/>
          <p:cNvSpPr txBox="1"/>
          <p:nvPr/>
        </p:nvSpPr>
        <p:spPr>
          <a:xfrm>
            <a:off x="762000" y="43180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</a:rPr>
              <a:t>Решения для дома и бизнеса</a:t>
            </a:r>
            <a:endParaRPr lang="en-US" sz="2000"/>
          </a:p>
        </p:txBody>
      </p:sp>
      <p:sp>
        <p:nvSpPr>
          <p:cNvPr id="6" name="contacts"/>
          <p:cNvSpPr txBox="1"/>
          <p:nvPr/>
        </p:nvSpPr>
        <p:spPr>
          <a:xfrm>
            <a:off x="762000" y="54610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B0B0B0"/>
                </a:solidFill>
                <a:latin typeface="Inter"/>
                <a:ea typeface="Inter"/>
              </a:rPr>
              <a:t>Готов к пилоту — проверим на реальных задачах проектировщиков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B0B0B0"/>
                </a:solidFill>
                <a:latin typeface="Inter"/>
                <a:ea typeface="Inter"/>
              </a:rPr>
              <a:t>Калькулятор снеготаяния · v1.2.0 · сентябрь 2026</a:t>
            </a:r>
            <a:endParaRPr lang="en-US" sz="1300"/>
          </a:p>
        </p:txBody>
      </p:sp>
      <p:sp>
        <p:nvSpPr>
          <p:cNvPr id="7" name="page-num"/>
          <p:cNvSpPr txBox="1"/>
          <p:nvPr/>
        </p:nvSpPr>
        <p:spPr>
          <a:xfrm>
            <a:off x="10922000" y="63246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Inter"/>
                <a:ea typeface="Inter"/>
              </a:rPr>
              <a:t>12</a:t>
            </a:r>
            <a:endParaRPr lang="en-US" sz="1100"/>
          </a:p>
        </p:txBody>
      </p:sp>
      <p:pic>
        <p:nvPicPr>
          <p:cNvPr id="8" name="Picture 7" descr="squares-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4876800"/>
            <a:ext cx="2340864" cy="1828800"/>
          </a:xfrm>
          <a:prstGeom prst="rect">
            <a:avLst/>
          </a:prstGeom>
        </p:spPr>
      </p:pic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Inter"/>
        <a:ea typeface="Inter"/>
        <a:cs typeface="Inter"/>
      </a:majorFont>
      <a:minorFont>
        <a:latin typeface="Inter"/>
        <a:ea typeface="Inter"/>
        <a:cs typeface="Inter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5</Slides>
</Properties>
</file>

<file path=docProps/core.xml><?xml version="1.0" encoding="utf-8"?>
<cp:coreProperties xmlns:cp="http://schemas.openxmlformats.org/package/2006/metadata/core-properties" xmlns:dc="http://purl.org/dc/elements/1.1/">
  <dc:title>Калькулятор снеготаяния — ИИ-конвейер разработки</dc:title>
  <dc:subject>РЕХАУ Калькулятор снеготаяния — дизайн-шаблон</dc:subject>
  <dc:creator>РЕХАУ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{"Label":"РЕХАУ Калькулятор снеготаяния — дизайн-шаблон","ContentProducer":"001191110108MACG2KBH8F10000","ProduceID":"rehau_template","ReservedCode1":"","ContentPropagator":"001191110108MACG2KBH8F20000","PropagateID":"agent:main:main:conversation:0e45d92d-2496-4a30-aac0-f895591856da","ReservedCode2":""}</vt:lpwstr>
  </property>
</Properties>
</file>