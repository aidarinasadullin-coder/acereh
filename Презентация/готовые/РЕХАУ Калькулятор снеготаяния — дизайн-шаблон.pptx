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2_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4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2_2.png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tr"/>
          <p:cNvPicPr/>
          <p:nvPr/>
        </p:nvPicPr>
        <p:blipFill>
          <a:blip r:embed="rId2"/>
          <a:srcRect l="15" r="15"/>
          <a:stretch>
            <a:fillRect/>
          </a:stretch>
        </p:blipFill>
        <p:spPr>
          <a:xfrm>
            <a:off x="8382000" y="0"/>
            <a:ext cx="3810000" cy="23876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379" r="-379"/>
          <a:stretch>
            <a:fillRect/>
          </a:stretch>
        </p:blipFill>
        <p:spPr>
          <a:xfrm>
            <a:off x="762000" y="609600"/>
            <a:ext cx="2286000" cy="8255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27686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762000" y="3022600"/>
            <a:ext cx="812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200" b="1">
                <a:solidFill>
                  <a:srgbClr val="000000"/>
                </a:solidFill>
                <a:latin typeface="MiSans"/>
                <a:ea typeface="MiSans"/>
              </a:rPr>
              <a:t>Калькулятор снеготаяния</a:t>
            </a:r>
            <a:endParaRPr lang="en-US" sz="4200"/>
          </a:p>
        </p:txBody>
      </p:sp>
      <p:sp>
        <p:nvSpPr>
          <p:cNvPr id="6" name="subtitle"/>
          <p:cNvSpPr txBox="1"/>
          <p:nvPr/>
        </p:nvSpPr>
        <p:spPr>
          <a:xfrm>
            <a:off x="762000" y="39116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4E4E4E"/>
                </a:solidFill>
                <a:latin typeface="MiSans"/>
                <a:ea typeface="MiSans"/>
              </a:rPr>
              <a:t>Система теплового и гидравлического расчёта систем антиобледенения открытых площадок</a:t>
            </a:r>
            <a:endParaRPr lang="en-US" sz="1700"/>
          </a:p>
        </p:txBody>
      </p:sp>
      <p:pic>
        <p:nvPicPr>
          <p:cNvPr id="7" name="squares-br"/>
          <p:cNvPicPr/>
          <p:nvPr/>
        </p:nvPicPr>
        <p:blipFill>
          <a:blip r:embed="rId4"/>
          <a:srcRect l="-36" r="-36"/>
          <a:stretch>
            <a:fillRect/>
          </a:stretch>
        </p:blipFill>
        <p:spPr>
          <a:xfrm>
            <a:off x="10871200" y="5080000"/>
            <a:ext cx="711200" cy="1168400"/>
          </a:xfrm>
          <a:prstGeom prst="rect">
            <a:avLst/>
          </a:prstGeom>
          <a:ln>
            <a:noFill/>
          </a:ln>
        </p:spPr>
      </p:pic>
      <p:sp>
        <p:nvSpPr>
          <p:cNvPr id="8" name="slogan"/>
          <p:cNvSpPr txBox="1"/>
          <p:nvPr/>
        </p:nvSpPr>
        <p:spPr>
          <a:xfrm>
            <a:off x="762000" y="607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1300"/>
          </a:p>
        </p:txBody>
      </p:sp>
      <p:sp>
        <p:nvSpPr>
          <p:cNvPr id="9" name="meta"/>
          <p:cNvSpPr txBox="1"/>
          <p:nvPr/>
        </p:nvSpPr>
        <p:spPr>
          <a:xfrm>
            <a:off x="7112000" y="60706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>
                <a:solidFill>
                  <a:srgbClr val="B0B0B0"/>
                </a:solidFill>
                <a:latin typeface="MiSans"/>
                <a:ea typeface="MiSans"/>
              </a:rPr>
              <a:t>Презентация продукта · v1.0 · 2026</a:t>
            </a:r>
            <a:endParaRPr lang="en-US" sz="1200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/>
          <a:srcRect l="29799" r="29799"/>
          <a:stretch>
            <a:fillRect/>
          </a:stretch>
        </p:blipFill>
        <p:spPr>
          <a:xfrm>
            <a:off x="7874000" y="0"/>
            <a:ext cx="4318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286" r="-286"/>
          <a:stretch>
            <a:fillRect/>
          </a:stretch>
        </p:blipFill>
        <p:spPr>
          <a:xfrm>
            <a:off x="762000" y="609600"/>
            <a:ext cx="1524000" cy="800100"/>
          </a:xfrm>
          <a:prstGeom prst="rect">
            <a:avLst/>
          </a:prstGeom>
          <a:ln>
            <a:noFill/>
          </a:ln>
        </p:spPr>
      </p:pic>
      <p:sp>
        <p:nvSpPr>
          <p:cNvPr id="4" name="chapter-num"/>
          <p:cNvSpPr txBox="1"/>
          <p:nvPr/>
        </p:nvSpPr>
        <p:spPr>
          <a:xfrm>
            <a:off x="762000" y="2413000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800" b="1">
                <a:solidFill>
                  <a:srgbClr val="E50040"/>
                </a:solidFill>
                <a:latin typeface="MiSans"/>
                <a:ea typeface="MiSans"/>
              </a:rPr>
              <a:t>01</a:t>
            </a:r>
            <a:endParaRPr lang="en-US" sz="8800"/>
          </a:p>
        </p:txBody>
      </p:sp>
      <p:sp>
        <p:nvSpPr>
          <p:cNvPr id="5" name="accent-bar"/>
          <p:cNvSpPr/>
          <p:nvPr/>
        </p:nvSpPr>
        <p:spPr>
          <a:xfrm>
            <a:off x="787400" y="3810000"/>
            <a:ext cx="584200" cy="762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6" name="chapter-title"/>
          <p:cNvSpPr txBox="1"/>
          <p:nvPr/>
        </p:nvSpPr>
        <p:spPr>
          <a:xfrm>
            <a:off x="762000" y="4064000"/>
            <a:ext cx="660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FFFFFF"/>
                </a:solidFill>
                <a:latin typeface="MiSans"/>
                <a:ea typeface="MiSans"/>
              </a:rPr>
              <a:t>Возможности программы</a:t>
            </a:r>
            <a:endParaRPr lang="en-US" sz="3800"/>
          </a:p>
        </p:txBody>
      </p:sp>
      <p:sp>
        <p:nvSpPr>
          <p:cNvPr id="7" name="chapter-sub"/>
          <p:cNvSpPr txBox="1"/>
          <p:nvPr/>
        </p:nvSpPr>
        <p:spPr>
          <a:xfrm>
            <a:off x="762000" y="49276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B0B0B0"/>
                </a:solidFill>
                <a:latin typeface="MiSans"/>
                <a:ea typeface="MiSans"/>
              </a:rPr>
              <a:t>Пять шагов от климата до спецификации оборудования</a:t>
            </a:r>
            <a:endParaRPr lang="en-US" sz="1500"/>
          </a:p>
        </p:txBody>
      </p:sp>
      <p:sp>
        <p:nvSpPr>
          <p:cNvPr id="8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ШАГ 3 · ТЕПЛОВОЙ РАСЧЁТ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Мощность — за один клик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bullet-mark-1"/>
          <p:cNvSpPr/>
          <p:nvPr/>
        </p:nvSpPr>
        <p:spPr>
          <a:xfrm>
            <a:off x="787400" y="18796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bullet-1"/>
          <p:cNvSpPr txBox="1"/>
          <p:nvPr/>
        </p:nvSpPr>
        <p:spPr>
          <a:xfrm>
            <a:off x="1066800" y="18034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Режимы работы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таяние при +5 °C поверхности или поддержание</a:t>
            </a:r>
            <a:endParaRPr lang="en-US" sz="1400"/>
          </a:p>
        </p:txBody>
      </p:sp>
      <p:sp>
        <p:nvSpPr>
          <p:cNvPr id="7" name="bullet-mark-2"/>
          <p:cNvSpPr/>
          <p:nvPr/>
        </p:nvSpPr>
        <p:spPr>
          <a:xfrm>
            <a:off x="787400" y="26162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8" name="bullet-2"/>
          <p:cNvSpPr txBox="1"/>
          <p:nvPr/>
        </p:nvSpPr>
        <p:spPr>
          <a:xfrm>
            <a:off x="1066800" y="2540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Труба и шаг укладки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RAUTHERM S 17/20/25 мм, шаг от 100 мм</a:t>
            </a:r>
            <a:endParaRPr lang="en-US" sz="1400"/>
          </a:p>
        </p:txBody>
      </p:sp>
      <p:sp>
        <p:nvSpPr>
          <p:cNvPr id="9" name="bullet-mark-3"/>
          <p:cNvSpPr/>
          <p:nvPr/>
        </p:nvSpPr>
        <p:spPr>
          <a:xfrm>
            <a:off x="787400" y="3352800"/>
            <a:ext cx="114300" cy="1143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0" name="bullet-3"/>
          <p:cNvSpPr txBox="1"/>
          <p:nvPr/>
        </p:nvSpPr>
        <p:spPr>
          <a:xfrm>
            <a:off x="1066800" y="32766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Итог по нормам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удельная мощность 330–335 Вт/м² по СП 131.13330.2025</a:t>
            </a:r>
            <a:endParaRPr lang="en-US" sz="1400"/>
          </a:p>
        </p:txBody>
      </p:sp>
      <p:sp>
        <p:nvSpPr>
          <p:cNvPr id="11" name="bullet-mark-4"/>
          <p:cNvSpPr/>
          <p:nvPr/>
        </p:nvSpPr>
        <p:spPr>
          <a:xfrm>
            <a:off x="787400" y="4089400"/>
            <a:ext cx="114300" cy="1143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2" name="bullet-4"/>
          <p:cNvSpPr txBox="1"/>
          <p:nvPr/>
        </p:nvSpPr>
        <p:spPr>
          <a:xfrm>
            <a:off x="1066800" y="40132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4E4E4E"/>
                </a:solidFill>
                <a:latin typeface="MiSans"/>
                <a:ea typeface="MiSans"/>
              </a:rPr>
              <a:t>Подсказки</a:t>
            </a:r>
            <a:r>
              <a:rPr lang="en-US" sz="1400">
                <a:solidFill>
                  <a:srgbClr val="4E4E4E"/>
                </a:solidFill>
                <a:latin typeface="MiSans"/>
                <a:ea typeface="MiSans"/>
              </a:rPr>
              <a:t> — рекомендуемая температура подачи прямо в форме</a:t>
            </a:r>
            <a:endParaRPr lang="en-US" sz="1400"/>
          </a:p>
        </p:txBody>
      </p:sp>
      <p:pic>
        <p:nvPicPr>
          <p:cNvPr id="13" name="screen"/>
          <p:cNvPicPr/>
          <p:nvPr/>
        </p:nvPicPr>
        <p:blipFill>
          <a:blip r:embed="rId2"/>
          <a:srcRect t="74" b="74"/>
          <a:stretch>
            <a:fillRect/>
          </a:stretch>
        </p:blipFill>
        <p:spPr>
          <a:xfrm>
            <a:off x="4953000" y="1778000"/>
            <a:ext cx="6731000" cy="3670300"/>
          </a:xfrm>
          <a:prstGeom prst="rect">
            <a:avLst/>
          </a:prstGeom>
          <a:ln>
            <a:noFill/>
          </a:ln>
          <a:effectLst>
            <a:outerShdw blurRad="152400" dist="50800" dir="5400000" sx="100000" sy="100000" kx="0" ky="0" algn="bl" rotWithShape="0">
              <a:srgbClr val="000000">
                <a:alpha val="14902"/>
              </a:srgbClr>
            </a:outerShdw>
          </a:effectLst>
        </p:spPr>
      </p:pic>
      <p:sp>
        <p:nvSpPr>
          <p:cNvPr id="14" name="screen-border"/>
          <p:cNvSpPr/>
          <p:nvPr/>
        </p:nvSpPr>
        <p:spPr>
          <a:xfrm>
            <a:off x="4953000" y="1778000"/>
            <a:ext cx="6731000" cy="3670300"/>
          </a:xfrm>
          <a:prstGeom prst="rect">
            <a:avLst/>
          </a:prstGeom>
          <a:noFill/>
          <a:ln w="12700">
            <a:solidFill>
              <a:srgbClr val="D9D9D9"/>
            </a:solidFill>
          </a:ln>
        </p:spPr>
      </p:sp>
      <p:sp>
        <p:nvSpPr>
          <p:cNvPr id="15" name="screen-caption"/>
          <p:cNvSpPr txBox="1"/>
          <p:nvPr/>
        </p:nvSpPr>
        <p:spPr>
          <a:xfrm>
            <a:off x="4953000" y="5588000"/>
            <a:ext cx="673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Экран «Тепловой расчёт» — проект «Екатеринбург, обогрев наружных поверхностей»</a:t>
            </a:r>
            <a:endParaRPr lang="en-US" sz="1100"/>
          </a:p>
        </p:txBody>
      </p:sp>
      <p:pic>
        <p:nvPicPr>
          <p:cNvPr id="16" name="footer-logo"/>
          <p:cNvPicPr/>
          <p:nvPr/>
        </p:nvPicPr>
        <p:blipFill>
          <a:blip r:embed="rId3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7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b="1" spc="200" kern="0">
                <a:solidFill>
                  <a:srgbClr val="E50040"/>
                </a:solidFill>
                <a:latin typeface="MiSans"/>
                <a:ea typeface="MiSans"/>
              </a:rPr>
              <a:t>РЕЗУЛЬТАТЫ · КЕЙС «ЕКАТЕРИНБУРГ»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Весь расчёт — на одном экране</a:t>
            </a:r>
            <a:endParaRPr lang="en-US" sz="3000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kpi-card-1"/>
          <p:cNvSpPr/>
          <p:nvPr/>
        </p:nvSpPr>
        <p:spPr>
          <a:xfrm>
            <a:off x="762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kpi-val-1"/>
          <p:cNvSpPr txBox="1"/>
          <p:nvPr/>
        </p:nvSpPr>
        <p:spPr>
          <a:xfrm>
            <a:off x="990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55,8</a:t>
            </a:r>
            <a:endParaRPr lang="en-US" sz="3200"/>
          </a:p>
        </p:txBody>
      </p:sp>
      <p:sp>
        <p:nvSpPr>
          <p:cNvPr id="7" name="kpi-lbl-1"/>
          <p:cNvSpPr txBox="1"/>
          <p:nvPr/>
        </p:nvSpPr>
        <p:spPr>
          <a:xfrm>
            <a:off x="990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кВт — тепловая мощность системы</a:t>
            </a:r>
            <a:endParaRPr lang="en-US" sz="1300"/>
          </a:p>
        </p:txBody>
      </p:sp>
      <p:sp>
        <p:nvSpPr>
          <p:cNvPr id="8" name="kpi-card-2"/>
          <p:cNvSpPr/>
          <p:nvPr/>
        </p:nvSpPr>
        <p:spPr>
          <a:xfrm>
            <a:off x="36195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9" name="kpi-val-2"/>
          <p:cNvSpPr txBox="1"/>
          <p:nvPr/>
        </p:nvSpPr>
        <p:spPr>
          <a:xfrm>
            <a:off x="38481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920</a:t>
            </a:r>
            <a:endParaRPr lang="en-US" sz="3200"/>
          </a:p>
        </p:txBody>
      </p:sp>
      <p:sp>
        <p:nvSpPr>
          <p:cNvPr id="10" name="kpi-lbl-2"/>
          <p:cNvSpPr txBox="1"/>
          <p:nvPr/>
        </p:nvSpPr>
        <p:spPr>
          <a:xfrm>
            <a:off x="38481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м — труба RAUTHERM S 20×2,0</a:t>
            </a:r>
            <a:endParaRPr lang="en-US" sz="1300"/>
          </a:p>
        </p:txBody>
      </p:sp>
      <p:sp>
        <p:nvSpPr>
          <p:cNvPr id="11" name="kpi-card-3"/>
          <p:cNvSpPr/>
          <p:nvPr/>
        </p:nvSpPr>
        <p:spPr>
          <a:xfrm>
            <a:off x="6477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kpi-val-3"/>
          <p:cNvSpPr txBox="1"/>
          <p:nvPr/>
        </p:nvSpPr>
        <p:spPr>
          <a:xfrm>
            <a:off x="6705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2,66</a:t>
            </a:r>
            <a:endParaRPr lang="en-US" sz="3200"/>
          </a:p>
        </p:txBody>
      </p:sp>
      <p:sp>
        <p:nvSpPr>
          <p:cNvPr id="13" name="kpi-lbl-3"/>
          <p:cNvSpPr txBox="1"/>
          <p:nvPr/>
        </p:nvSpPr>
        <p:spPr>
          <a:xfrm>
            <a:off x="6705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м³/ч — расход насоса</a:t>
            </a:r>
            <a:endParaRPr lang="en-US" sz="1300"/>
          </a:p>
        </p:txBody>
      </p:sp>
      <p:sp>
        <p:nvSpPr>
          <p:cNvPr id="14" name="kpi-card-4"/>
          <p:cNvSpPr/>
          <p:nvPr/>
        </p:nvSpPr>
        <p:spPr>
          <a:xfrm>
            <a:off x="9334500" y="1841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5" name="kpi-val-4"/>
          <p:cNvSpPr txBox="1"/>
          <p:nvPr/>
        </p:nvSpPr>
        <p:spPr>
          <a:xfrm>
            <a:off x="9563100" y="20574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E50040"/>
                </a:solidFill>
                <a:latin typeface="MiSans"/>
                <a:ea typeface="MiSans"/>
              </a:rPr>
              <a:t>29,2</a:t>
            </a:r>
            <a:endParaRPr lang="en-US" sz="3200"/>
          </a:p>
        </p:txBody>
      </p:sp>
      <p:sp>
        <p:nvSpPr>
          <p:cNvPr id="16" name="kpi-lbl-4"/>
          <p:cNvSpPr txBox="1"/>
          <p:nvPr/>
        </p:nvSpPr>
        <p:spPr>
          <a:xfrm>
            <a:off x="9563100" y="2692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>
                <a:solidFill>
                  <a:srgbClr val="818181"/>
                </a:solidFill>
                <a:latin typeface="MiSans"/>
                <a:ea typeface="MiSans"/>
              </a:rPr>
              <a:t>кПа — напор насоса</a:t>
            </a:r>
            <a:endParaRPr lang="en-US" sz="1300"/>
          </a:p>
        </p:txBody>
      </p:sp>
      <p:sp>
        <p:nvSpPr>
          <p:cNvPr id="17" name="sub-card-1"/>
          <p:cNvSpPr/>
          <p:nvPr/>
        </p:nvSpPr>
        <p:spPr>
          <a:xfrm>
            <a:off x="762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sub-val-1"/>
          <p:cNvSpPr txBox="1"/>
          <p:nvPr/>
        </p:nvSpPr>
        <p:spPr>
          <a:xfrm>
            <a:off x="990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53,0 / 37,4 °C</a:t>
            </a:r>
            <a:endParaRPr lang="en-US" sz="2200"/>
          </a:p>
        </p:txBody>
      </p:sp>
      <p:sp>
        <p:nvSpPr>
          <p:cNvPr id="19" name="sub-lbl-1"/>
          <p:cNvSpPr txBox="1"/>
          <p:nvPr/>
        </p:nvSpPr>
        <p:spPr>
          <a:xfrm>
            <a:off x="990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подача / обратка</a:t>
            </a:r>
            <a:endParaRPr lang="en-US" sz="1200"/>
          </a:p>
        </p:txBody>
      </p:sp>
      <p:sp>
        <p:nvSpPr>
          <p:cNvPr id="20" name="sub-card-2"/>
          <p:cNvSpPr/>
          <p:nvPr/>
        </p:nvSpPr>
        <p:spPr>
          <a:xfrm>
            <a:off x="36195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sub-val-2"/>
          <p:cNvSpPr txBox="1"/>
          <p:nvPr/>
        </p:nvSpPr>
        <p:spPr>
          <a:xfrm>
            <a:off x="38481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4 коллектора</a:t>
            </a:r>
            <a:endParaRPr lang="en-US" sz="2200"/>
          </a:p>
        </p:txBody>
      </p:sp>
      <p:sp>
        <p:nvSpPr>
          <p:cNvPr id="22" name="sub-lbl-2"/>
          <p:cNvSpPr txBox="1"/>
          <p:nvPr/>
        </p:nvSpPr>
        <p:spPr>
          <a:xfrm>
            <a:off x="38481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IV 1¼" и HKV-D, 18 контуров</a:t>
            </a:r>
            <a:endParaRPr lang="en-US" sz="1200"/>
          </a:p>
        </p:txBody>
      </p:sp>
      <p:sp>
        <p:nvSpPr>
          <p:cNvPr id="23" name="sub-card-3"/>
          <p:cNvSpPr/>
          <p:nvPr/>
        </p:nvSpPr>
        <p:spPr>
          <a:xfrm>
            <a:off x="6477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4" name="sub-val-3"/>
          <p:cNvSpPr txBox="1"/>
          <p:nvPr/>
        </p:nvSpPr>
        <p:spPr>
          <a:xfrm>
            <a:off x="6705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335,4 Вт/м²</a:t>
            </a:r>
            <a:endParaRPr lang="en-US" sz="2200"/>
          </a:p>
        </p:txBody>
      </p:sp>
      <p:sp>
        <p:nvSpPr>
          <p:cNvPr id="25" name="sub-lbl-3"/>
          <p:cNvSpPr txBox="1"/>
          <p:nvPr/>
        </p:nvSpPr>
        <p:spPr>
          <a:xfrm>
            <a:off x="6705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суммарная удельная мощность</a:t>
            </a:r>
            <a:endParaRPr lang="en-US" sz="1200"/>
          </a:p>
        </p:txBody>
      </p:sp>
      <p:sp>
        <p:nvSpPr>
          <p:cNvPr id="26" name="sub-card-4"/>
          <p:cNvSpPr/>
          <p:nvPr/>
        </p:nvSpPr>
        <p:spPr>
          <a:xfrm>
            <a:off x="9334500" y="3683000"/>
            <a:ext cx="2349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7" name="sub-val-4"/>
          <p:cNvSpPr txBox="1"/>
          <p:nvPr/>
        </p:nvSpPr>
        <p:spPr>
          <a:xfrm>
            <a:off x="9563100" y="38354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7,5 л</a:t>
            </a:r>
            <a:endParaRPr lang="en-US" sz="2200"/>
          </a:p>
        </p:txBody>
      </p:sp>
      <p:sp>
        <p:nvSpPr>
          <p:cNvPr id="28" name="sub-lbl-4"/>
          <p:cNvSpPr txBox="1"/>
          <p:nvPr/>
        </p:nvSpPr>
        <p:spPr>
          <a:xfrm>
            <a:off x="95631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>
                <a:solidFill>
                  <a:srgbClr val="818181"/>
                </a:solidFill>
                <a:latin typeface="MiSans"/>
                <a:ea typeface="MiSans"/>
              </a:rPr>
              <a:t>расширительный бак</a:t>
            </a:r>
            <a:endParaRPr lang="en-US" sz="1200"/>
          </a:p>
        </p:txBody>
      </p:sp>
      <p:sp>
        <p:nvSpPr>
          <p:cNvPr id="29" name="note-bar"/>
          <p:cNvSpPr/>
          <p:nvPr/>
        </p:nvSpPr>
        <p:spPr>
          <a:xfrm>
            <a:off x="762000" y="5207000"/>
            <a:ext cx="10922000" cy="7112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30" name="note-text"/>
          <p:cNvSpPr txBox="1"/>
          <p:nvPr/>
        </p:nvSpPr>
        <p:spPr>
          <a:xfrm>
            <a:off x="1041400" y="5207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Итог для объекта: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 полная спецификация оборудования и гидравлики сформирована автоматически и готова к выгрузке в PDF</a:t>
            </a:r>
            <a:endParaRPr lang="en-US" sz="1400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>
            <a:alphaModFix amt="55000"/>
          </a:blip>
          <a:srcRect l="30987" r="30987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160" r="-160"/>
          <a:stretch>
            <a:fillRect/>
          </a:stretch>
        </p:blipFill>
        <p:spPr>
          <a:xfrm>
            <a:off x="762000" y="2540000"/>
            <a:ext cx="2413000" cy="12700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40640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slogan"/>
          <p:cNvSpPr txBox="1"/>
          <p:nvPr/>
        </p:nvSpPr>
        <p:spPr>
          <a:xfrm>
            <a:off x="762000" y="43180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FFFFFF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2000"/>
          </a:p>
        </p:txBody>
      </p:sp>
      <p:sp>
        <p:nvSpPr>
          <p:cNvPr id="6" name="contacts"/>
          <p:cNvSpPr txBox="1"/>
          <p:nvPr/>
        </p:nvSpPr>
        <p:spPr>
          <a:xfrm>
            <a:off x="762000" y="54610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MiSans"/>
                <a:ea typeface="MiSans"/>
              </a:rPr>
              <a:t>Автор и контакты — placeholder</a:t>
            </a:r>
            <a:endParaRPr lang="en-US" sz="1300"/>
          </a:p>
          <a:p>
            <a:pPr algn="l">
              <a:lnSpc>
                <a:spcPct val="150000"/>
              </a:lnSpc>
            </a:pPr>
            <a:r>
              <a:rPr lang="en-US" sz="1300">
                <a:solidFill>
                  <a:srgbClr val="B0B0B0"/>
                </a:solidFill>
                <a:latin typeface="MiSans"/>
                <a:ea typeface="MiSans"/>
              </a:rPr>
              <a:t>e-mail · телефон · сайт</a:t>
            </a:r>
            <a:endParaRPr lang="en-US" sz="1300"/>
          </a:p>
        </p:txBody>
      </p:sp>
      <p:sp>
        <p:nvSpPr>
          <p:cNvPr id="7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818181"/>
                </a:solidFill>
                <a:latin typeface="MiSans"/>
                <a:ea typeface="MiSans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Company>Moonshot</Company>
  <Slides>5</Slides>
</Properties>
</file>

<file path=docProps/core.xml><?xml version="1.0" encoding="utf-8"?>
<cp:coreProperties xmlns:cp="http://schemas.openxmlformats.org/package/2006/metadata/core-properties" xmlns:dc="http://purl.org/dc/elements/1.1/">
  <dc:title>РЕХАУ Калькулятор снеготаяния — дизайн-шаблон</dc:title>
  <dc:subject>РЕХАУ Калькулятор снеготаяния — дизайн-шаблон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{"Label":"РЕХАУ Калькулятор снеготаяния — дизайн-шаблон","ContentProducer":"001191110108MACG2KBH8F10000","ProduceID":"rehau_template","ReservedCode1":"","ContentPropagator":"001191110108MACG2KBH8F20000","PropagateID":"agent:main:main:conversation:0e45d92d-2496-4a30-aac0-f895591856da","ReservedCode2":""}</vt:lpwstr>
  </property>
</Properties>
</file>