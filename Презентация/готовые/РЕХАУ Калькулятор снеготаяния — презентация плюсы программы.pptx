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9_2.png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tr"/>
          <p:cNvPicPr/>
          <p:nvPr/>
        </p:nvPicPr>
        <p:blipFill>
          <a:blip r:embed="rId2"/>
          <a:srcRect l="15" r="15"/>
          <a:stretch>
            <a:fillRect/>
          </a:stretch>
        </p:blipFill>
        <p:spPr>
          <a:xfrm>
            <a:off x="8382000" y="0"/>
            <a:ext cx="3810000" cy="23876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379" r="-379"/>
          <a:stretch>
            <a:fillRect/>
          </a:stretch>
        </p:blipFill>
        <p:spPr>
          <a:xfrm>
            <a:off x="762000" y="609600"/>
            <a:ext cx="2286000" cy="8255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27686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762000" y="3022600"/>
            <a:ext cx="812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200" b="1">
                <a:solidFill>
                  <a:srgbClr val="000000"/>
                </a:solidFill>
                <a:latin typeface="MiSans"/>
                <a:ea typeface="MiSans"/>
              </a:rPr>
              <a:t>Калькулятор снеготаяния</a:t>
            </a:r>
            <a:endParaRPr lang="en-US" sz="4200"/>
          </a:p>
        </p:txBody>
      </p:sp>
      <p:sp>
        <p:nvSpPr>
          <p:cNvPr id="6" name="subtitle"/>
          <p:cNvSpPr txBox="1"/>
          <p:nvPr/>
        </p:nvSpPr>
        <p:spPr>
          <a:xfrm>
            <a:off x="762000" y="39116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4E4E4E"/>
                </a:solidFill>
                <a:latin typeface="MiSans"/>
                <a:ea typeface="MiSans"/>
              </a:rPr>
              <a:t>Тепловой и гидравлический расчёт систем антиобледенения открытых площадок — по нормативам, с продукцией РЕХАУ</a:t>
            </a:r>
            <a:endParaRPr lang="en-US" sz="1700"/>
          </a:p>
        </p:txBody>
      </p:sp>
      <p:pic>
        <p:nvPicPr>
          <p:cNvPr id="7" name="squares-br"/>
          <p:cNvPicPr/>
          <p:nvPr/>
        </p:nvPicPr>
        <p:blipFill>
          <a:blip r:embed="rId4"/>
          <a:srcRect l="-36" r="-36"/>
          <a:stretch>
            <a:fillRect/>
          </a:stretch>
        </p:blipFill>
        <p:spPr>
          <a:xfrm>
            <a:off x="10871200" y="5080000"/>
            <a:ext cx="711200" cy="1168400"/>
          </a:xfrm>
          <a:prstGeom prst="rect">
            <a:avLst/>
          </a:prstGeom>
          <a:ln>
            <a:noFill/>
          </a:ln>
        </p:spPr>
      </p:pic>
      <p:sp>
        <p:nvSpPr>
          <p:cNvPr id="8" name="slogan"/>
          <p:cNvSpPr txBox="1"/>
          <p:nvPr/>
        </p:nvSpPr>
        <p:spPr>
          <a:xfrm>
            <a:off x="762000" y="607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1300"/>
          </a:p>
        </p:txBody>
      </p:sp>
      <p:sp>
        <p:nvSpPr>
          <p:cNvPr id="9" name="meta"/>
          <p:cNvSpPr txBox="1"/>
          <p:nvPr/>
        </p:nvSpPr>
        <p:spPr>
          <a:xfrm>
            <a:off x="5842000" y="60706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>
                <a:solidFill>
                  <a:srgbClr val="B0B0B0"/>
                </a:solidFill>
                <a:latin typeface="MiSans"/>
                <a:ea typeface="MiSans"/>
              </a:rPr>
              <a:t>Презентация для руководства РЕХАУ · v1.0 · 2026</a:t>
            </a:r>
            <a:endParaRPr lang="en-US" sz="12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ПРОБЛЕМА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Как сегодня считают снеготаяние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pain-card-1"/>
          <p:cNvSpPr/>
          <p:nvPr/>
        </p:nvSpPr>
        <p:spPr>
          <a:xfrm>
            <a:off x="762000" y="1905000"/>
            <a:ext cx="3467100" cy="3048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pain-1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1066800" y="223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7" name="pain-1-name"/>
          <p:cNvSpPr txBox="1"/>
          <p:nvPr/>
        </p:nvSpPr>
        <p:spPr>
          <a:xfrm>
            <a:off x="1066800" y="2794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Часы ручной работы</a:t>
            </a:r>
            <a:endParaRPr lang="en-US" sz="1700"/>
          </a:p>
        </p:txBody>
      </p:sp>
      <p:sp>
        <p:nvSpPr>
          <p:cNvPr id="8" name="pain-1-desc"/>
          <p:cNvSpPr txBox="1"/>
          <p:nvPr/>
        </p:nvSpPr>
        <p:spPr>
          <a:xfrm>
            <a:off x="1066800" y="32512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Климатика ищется по СП, тепловой расчёт ведётся в Excel, гидравлика — в отдельных файлах</a:t>
            </a:r>
            <a:endParaRPr lang="en-US" sz="1300"/>
          </a:p>
        </p:txBody>
      </p:sp>
      <p:sp>
        <p:nvSpPr>
          <p:cNvPr id="9" name="pain-card-2"/>
          <p:cNvSpPr/>
          <p:nvPr/>
        </p:nvSpPr>
        <p:spPr>
          <a:xfrm>
            <a:off x="4483100" y="1905000"/>
            <a:ext cx="3467100" cy="3048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0" name="pain-2-icon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4787900" y="223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11" name="pain-2-name"/>
          <p:cNvSpPr txBox="1"/>
          <p:nvPr/>
        </p:nvSpPr>
        <p:spPr>
          <a:xfrm>
            <a:off x="4787900" y="2794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Риск ошибок</a:t>
            </a:r>
            <a:endParaRPr lang="en-US" sz="1700"/>
          </a:p>
        </p:txBody>
      </p:sp>
      <p:sp>
        <p:nvSpPr>
          <p:cNvPr id="12" name="pain-2-desc"/>
          <p:cNvSpPr txBox="1"/>
          <p:nvPr/>
        </p:nvSpPr>
        <p:spPr>
          <a:xfrm>
            <a:off x="4787900" y="32512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Каждый проектировщик считает по-своему: ошибка в теплопроводности или потерях давления — переделка объекта</a:t>
            </a:r>
            <a:endParaRPr lang="en-US" sz="1300"/>
          </a:p>
        </p:txBody>
      </p:sp>
      <p:sp>
        <p:nvSpPr>
          <p:cNvPr id="13" name="pain-card-3"/>
          <p:cNvSpPr/>
          <p:nvPr/>
        </p:nvSpPr>
        <p:spPr>
          <a:xfrm>
            <a:off x="8204200" y="1905000"/>
            <a:ext cx="3479800" cy="3048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4" name="pain-3-icon"/>
          <p:cNvSpPr/>
          <p:nvPr>
            <p:extLst>
              <p:ext uri="{F5677B7D-0D2A-4D9B-9A5C-6D8D7D0E5A5D}">
                <pptd:icon encoding="base64url">eyJpY29uTmFtZSI6ImZhczpsaW5rLXNsYXNoIn0</pptd:icon>
              </p:ext>
            </p:extLst>
          </p:nvPr>
        </p:nvSpPr>
        <p:spPr>
          <a:xfrm>
            <a:off x="8509000" y="223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1" y="-25"/>
                </a:moveTo>
                <a:cubicBezTo>
                  <a:pt x="32" y="-34"/>
                  <a:pt x="16" y="-34"/>
                  <a:pt x="7" y="-25"/>
                </a:cubicBezTo>
                <a:cubicBezTo>
                  <a:pt x="-2" y="-15"/>
                  <a:pt x="-2" y="0"/>
                  <a:pt x="7" y="9"/>
                </a:cubicBezTo>
                <a:lnTo>
                  <a:pt x="535" y="537"/>
                </a:lnTo>
                <a:cubicBezTo>
                  <a:pt x="544" y="547"/>
                  <a:pt x="560" y="547"/>
                  <a:pt x="569" y="537"/>
                </a:cubicBezTo>
                <a:cubicBezTo>
                  <a:pt x="578" y="528"/>
                  <a:pt x="578" y="513"/>
                  <a:pt x="569" y="503"/>
                </a:cubicBezTo>
                <a:lnTo>
                  <a:pt x="447" y="381"/>
                </a:lnTo>
                <a:cubicBezTo>
                  <a:pt x="451" y="378"/>
                  <a:pt x="455" y="374"/>
                  <a:pt x="459" y="370"/>
                </a:cubicBezTo>
                <a:lnTo>
                  <a:pt x="530" y="299"/>
                </a:lnTo>
                <a:cubicBezTo>
                  <a:pt x="559" y="270"/>
                  <a:pt x="576" y="230"/>
                  <a:pt x="576" y="189"/>
                </a:cubicBezTo>
                <a:cubicBezTo>
                  <a:pt x="576" y="102"/>
                  <a:pt x="506" y="32"/>
                  <a:pt x="419" y="32"/>
                </a:cubicBezTo>
                <a:cubicBezTo>
                  <a:pt x="382" y="32"/>
                  <a:pt x="346" y="45"/>
                  <a:pt x="318" y="69"/>
                </a:cubicBezTo>
                <a:cubicBezTo>
                  <a:pt x="338" y="79"/>
                  <a:pt x="357" y="93"/>
                  <a:pt x="373" y="109"/>
                </a:cubicBezTo>
                <a:cubicBezTo>
                  <a:pt x="387" y="101"/>
                  <a:pt x="403" y="96"/>
                  <a:pt x="419" y="96"/>
                </a:cubicBezTo>
                <a:cubicBezTo>
                  <a:pt x="471" y="96"/>
                  <a:pt x="512" y="138"/>
                  <a:pt x="512" y="189"/>
                </a:cubicBezTo>
                <a:cubicBezTo>
                  <a:pt x="512" y="213"/>
                  <a:pt x="502" y="237"/>
                  <a:pt x="485" y="254"/>
                </a:cubicBezTo>
                <a:lnTo>
                  <a:pt x="414" y="325"/>
                </a:lnTo>
                <a:cubicBezTo>
                  <a:pt x="410" y="329"/>
                  <a:pt x="406" y="333"/>
                  <a:pt x="401" y="336"/>
                </a:cubicBezTo>
                <a:lnTo>
                  <a:pt x="354" y="288"/>
                </a:lnTo>
                <a:cubicBezTo>
                  <a:pt x="370" y="287"/>
                  <a:pt x="383" y="274"/>
                  <a:pt x="384" y="257"/>
                </a:cubicBezTo>
                <a:cubicBezTo>
                  <a:pt x="384" y="256"/>
                  <a:pt x="384" y="254"/>
                  <a:pt x="384" y="253"/>
                </a:cubicBezTo>
                <a:cubicBezTo>
                  <a:pt x="384" y="167"/>
                  <a:pt x="314" y="96"/>
                  <a:pt x="227" y="96"/>
                </a:cubicBezTo>
                <a:cubicBezTo>
                  <a:pt x="208" y="96"/>
                  <a:pt x="189" y="100"/>
                  <a:pt x="172" y="106"/>
                </a:cubicBezTo>
                <a:lnTo>
                  <a:pt x="41" y="-25"/>
                </a:lnTo>
                <a:close/>
                <a:moveTo>
                  <a:pt x="226" y="160"/>
                </a:moveTo>
                <a:cubicBezTo>
                  <a:pt x="227" y="160"/>
                  <a:pt x="227" y="160"/>
                  <a:pt x="228" y="160"/>
                </a:cubicBezTo>
                <a:cubicBezTo>
                  <a:pt x="243" y="160"/>
                  <a:pt x="257" y="164"/>
                  <a:pt x="270" y="170"/>
                </a:cubicBezTo>
                <a:cubicBezTo>
                  <a:pt x="272" y="171"/>
                  <a:pt x="273" y="173"/>
                  <a:pt x="275" y="173"/>
                </a:cubicBezTo>
                <a:cubicBezTo>
                  <a:pt x="302" y="190"/>
                  <a:pt x="320" y="219"/>
                  <a:pt x="320" y="253"/>
                </a:cubicBezTo>
                <a:cubicBezTo>
                  <a:pt x="320" y="253"/>
                  <a:pt x="320" y="254"/>
                  <a:pt x="320" y="254"/>
                </a:cubicBezTo>
                <a:lnTo>
                  <a:pt x="226" y="160"/>
                </a:lnTo>
                <a:close/>
              </a:path>
              <a:path w="576" h="512">
                <a:moveTo>
                  <a:pt x="346" y="416"/>
                </a:moveTo>
                <a:lnTo>
                  <a:pt x="192" y="262"/>
                </a:lnTo>
                <a:cubicBezTo>
                  <a:pt x="193" y="346"/>
                  <a:pt x="262" y="415"/>
                  <a:pt x="346" y="416"/>
                </a:cubicBezTo>
                <a:close/>
              </a:path>
              <a:path w="576" h="512">
                <a:moveTo>
                  <a:pt x="140" y="210"/>
                </a:moveTo>
                <a:lnTo>
                  <a:pt x="94" y="164"/>
                </a:lnTo>
                <a:lnTo>
                  <a:pt x="46" y="213"/>
                </a:lnTo>
                <a:cubicBezTo>
                  <a:pt x="16" y="242"/>
                  <a:pt x="0" y="282"/>
                  <a:pt x="0" y="323"/>
                </a:cubicBezTo>
                <a:cubicBezTo>
                  <a:pt x="0" y="410"/>
                  <a:pt x="70" y="480"/>
                  <a:pt x="157" y="480"/>
                </a:cubicBezTo>
                <a:cubicBezTo>
                  <a:pt x="194" y="480"/>
                  <a:pt x="230" y="467"/>
                  <a:pt x="258" y="443"/>
                </a:cubicBezTo>
                <a:cubicBezTo>
                  <a:pt x="238" y="433"/>
                  <a:pt x="219" y="419"/>
                  <a:pt x="203" y="403"/>
                </a:cubicBezTo>
                <a:cubicBezTo>
                  <a:pt x="189" y="411"/>
                  <a:pt x="173" y="416"/>
                  <a:pt x="157" y="416"/>
                </a:cubicBezTo>
                <a:cubicBezTo>
                  <a:pt x="105" y="416"/>
                  <a:pt x="64" y="374"/>
                  <a:pt x="64" y="323"/>
                </a:cubicBezTo>
                <a:cubicBezTo>
                  <a:pt x="64" y="299"/>
                  <a:pt x="74" y="275"/>
                  <a:pt x="91" y="258"/>
                </a:cubicBezTo>
                <a:lnTo>
                  <a:pt x="140" y="209"/>
                </a:ln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15" name="pain-3-name"/>
          <p:cNvSpPr txBox="1"/>
          <p:nvPr/>
        </p:nvSpPr>
        <p:spPr>
          <a:xfrm>
            <a:off x="8509000" y="27940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Разрыв с продукцией</a:t>
            </a:r>
            <a:endParaRPr lang="en-US" sz="1700"/>
          </a:p>
        </p:txBody>
      </p:sp>
      <p:sp>
        <p:nvSpPr>
          <p:cNvPr id="16" name="pain-3-desc"/>
          <p:cNvSpPr txBox="1"/>
          <p:nvPr/>
        </p:nvSpPr>
        <p:spPr>
          <a:xfrm>
            <a:off x="8509000" y="3251200"/>
            <a:ext cx="2921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Спецификация собирается вручную из каталогов — артикулы и типоразмеры подбираются отдельно от расчёта</a:t>
            </a:r>
            <a:endParaRPr lang="en-US" sz="1300"/>
          </a:p>
        </p:txBody>
      </p:sp>
      <p:sp>
        <p:nvSpPr>
          <p:cNvPr id="17" name="bottom-note"/>
          <p:cNvSpPr txBox="1"/>
          <p:nvPr/>
        </p:nvSpPr>
        <p:spPr>
          <a:xfrm>
            <a:off x="762000" y="5461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4E4E4E"/>
                </a:solidFill>
                <a:latin typeface="MiSans"/>
                <a:ea typeface="MiSans"/>
              </a:rPr>
              <a:t>Итог: долго, нестабильно по качеству и без гарантии, что в проект ляжет оборудование </a:t>
            </a:r>
            <a:r>
              <a:rPr lang="en-US" sz="1600" b="1">
                <a:solidFill>
                  <a:srgbClr val="E50040"/>
                </a:solidFill>
                <a:latin typeface="MiSans"/>
                <a:ea typeface="MiSans"/>
              </a:rPr>
              <a:t>РЕХАУ</a:t>
            </a:r>
            <a:endParaRPr lang="en-US" sz="1600"/>
          </a:p>
        </p:txBody>
      </p:sp>
      <p:pic>
        <p:nvPicPr>
          <p:cNvPr id="18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9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>
            <a:alphaModFix amt="45000"/>
          </a:blip>
          <a:srcRect l="30987" r="30987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ag"/>
          <p:cNvSpPr txBox="1"/>
          <p:nvPr/>
        </p:nvSpPr>
        <p:spPr>
          <a:xfrm>
            <a:off x="762000" y="762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4FC7B5"/>
                </a:solidFill>
                <a:latin typeface="MiSans"/>
                <a:ea typeface="MiSans"/>
              </a:rPr>
              <a:t>РЕШЕНИЕ</a:t>
            </a:r>
            <a:endParaRPr lang="en-US" sz="1200"/>
          </a:p>
        </p:txBody>
      </p:sp>
      <p:sp>
        <p:nvSpPr>
          <p:cNvPr id="4" name="statement"/>
          <p:cNvSpPr txBox="1"/>
          <p:nvPr/>
        </p:nvSpPr>
        <p:spPr>
          <a:xfrm>
            <a:off x="762000" y="1397000"/>
            <a:ext cx="9906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3400" b="1">
                <a:solidFill>
                  <a:srgbClr val="FFFFFF"/>
                </a:solidFill>
                <a:latin typeface="MiSans"/>
                <a:ea typeface="MiSans"/>
              </a:rPr>
              <a:t>Единый инструмент под брендом РЕХАУ: от климата объекта до спецификации </a:t>
            </a:r>
            <a:r>
              <a:rPr lang="en-US" sz="3400" b="1">
                <a:solidFill>
                  <a:srgbClr val="4FC7B5"/>
                </a:solidFill>
                <a:latin typeface="MiSans"/>
                <a:ea typeface="MiSans"/>
              </a:rPr>
              <a:t>за минуты</a:t>
            </a:r>
            <a:endParaRPr lang="en-US" sz="3400"/>
          </a:p>
        </p:txBody>
      </p:sp>
      <p:sp>
        <p:nvSpPr>
          <p:cNvPr id="5" name="sub"/>
          <p:cNvSpPr txBox="1"/>
          <p:nvPr/>
        </p:nvSpPr>
        <p:spPr>
          <a:xfrm>
            <a:off x="762000" y="3302000"/>
            <a:ext cx="762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B0B0B0"/>
                </a:solidFill>
                <a:latin typeface="MiSans"/>
                <a:ea typeface="MiSans"/>
              </a:rPr>
              <a:t>Десктоп-программа для проектировщиков: тепловой и гидравлический расчёт систем снеготаяния по нормативам, с продукцией РЕХАУ внутри</a:t>
            </a:r>
            <a:endParaRPr lang="en-US" sz="1600"/>
          </a:p>
        </p:txBody>
      </p:sp>
      <p:sp>
        <p:nvSpPr>
          <p:cNvPr id="6" name="mini-1"/>
          <p:cNvSpPr/>
          <p:nvPr/>
        </p:nvSpPr>
        <p:spPr>
          <a:xfrm>
            <a:off x="762000" y="4445000"/>
            <a:ext cx="1905000" cy="685800"/>
          </a:xfrm>
          <a:prstGeom prst="homePlate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7" name="mini-1-t"/>
          <p:cNvSpPr txBox="1"/>
          <p:nvPr/>
        </p:nvSpPr>
        <p:spPr>
          <a:xfrm>
            <a:off x="9144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Климат</a:t>
            </a:r>
            <a:endParaRPr lang="en-US" sz="1300"/>
          </a:p>
        </p:txBody>
      </p:sp>
      <p:sp>
        <p:nvSpPr>
          <p:cNvPr id="8" name="mini-2"/>
          <p:cNvSpPr/>
          <p:nvPr/>
        </p:nvSpPr>
        <p:spPr>
          <a:xfrm>
            <a:off x="2717800" y="4445000"/>
            <a:ext cx="1905000" cy="685800"/>
          </a:xfrm>
          <a:prstGeom prst="homePlate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9" name="mini-2-t"/>
          <p:cNvSpPr txBox="1"/>
          <p:nvPr/>
        </p:nvSpPr>
        <p:spPr>
          <a:xfrm>
            <a:off x="28956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Конструкция</a:t>
            </a:r>
            <a:endParaRPr lang="en-US" sz="1300"/>
          </a:p>
        </p:txBody>
      </p:sp>
      <p:sp>
        <p:nvSpPr>
          <p:cNvPr id="10" name="mini-3"/>
          <p:cNvSpPr/>
          <p:nvPr/>
        </p:nvSpPr>
        <p:spPr>
          <a:xfrm>
            <a:off x="4673600" y="4445000"/>
            <a:ext cx="1905000" cy="685800"/>
          </a:xfrm>
          <a:prstGeom prst="homePlate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11" name="mini-3-t"/>
          <p:cNvSpPr txBox="1"/>
          <p:nvPr/>
        </p:nvSpPr>
        <p:spPr>
          <a:xfrm>
            <a:off x="48514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Тепловой</a:t>
            </a:r>
            <a:endParaRPr lang="en-US" sz="1300"/>
          </a:p>
        </p:txBody>
      </p:sp>
      <p:sp>
        <p:nvSpPr>
          <p:cNvPr id="12" name="mini-4"/>
          <p:cNvSpPr/>
          <p:nvPr/>
        </p:nvSpPr>
        <p:spPr>
          <a:xfrm>
            <a:off x="6629400" y="4445000"/>
            <a:ext cx="1905000" cy="685800"/>
          </a:xfrm>
          <a:prstGeom prst="homePlate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13" name="mini-4-t"/>
          <p:cNvSpPr txBox="1"/>
          <p:nvPr/>
        </p:nvSpPr>
        <p:spPr>
          <a:xfrm>
            <a:off x="68072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Гидравлика</a:t>
            </a:r>
            <a:endParaRPr lang="en-US" sz="1300"/>
          </a:p>
        </p:txBody>
      </p:sp>
      <p:sp>
        <p:nvSpPr>
          <p:cNvPr id="14" name="mini-5"/>
          <p:cNvSpPr/>
          <p:nvPr/>
        </p:nvSpPr>
        <p:spPr>
          <a:xfrm>
            <a:off x="8585200" y="4445000"/>
            <a:ext cx="1905000" cy="685800"/>
          </a:xfrm>
          <a:prstGeom prst="homePlate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5" name="mini-5-t"/>
          <p:cNvSpPr txBox="1"/>
          <p:nvPr/>
        </p:nvSpPr>
        <p:spPr>
          <a:xfrm>
            <a:off x="87630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Результаты</a:t>
            </a:r>
            <a:endParaRPr lang="en-US" sz="1300"/>
          </a:p>
        </p:txBody>
      </p:sp>
      <p:sp>
        <p:nvSpPr>
          <p:cNvPr id="16" name="version"/>
          <p:cNvSpPr txBox="1"/>
          <p:nvPr/>
        </p:nvSpPr>
        <p:spPr>
          <a:xfrm>
            <a:off x="762000" y="5969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Версия 1.0 — рабочий продукт, проверен на реальных объектах</a:t>
            </a:r>
            <a:endParaRPr lang="en-US" sz="1200"/>
          </a:p>
        </p:txBody>
      </p:sp>
      <p:sp>
        <p:nvSpPr>
          <p:cNvPr id="17" name="page-num"/>
          <p:cNvSpPr txBox="1"/>
          <p:nvPr/>
        </p:nvSpPr>
        <p:spPr>
          <a:xfrm>
            <a:off x="11176000" y="63246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ВОЗМОЖНОСТИ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Что умеет программа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f-card-1"/>
          <p:cNvSpPr/>
          <p:nvPr/>
        </p:nvSpPr>
        <p:spPr>
          <a:xfrm>
            <a:off x="762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f-1-icon"/>
          <p:cNvSpPr/>
          <p:nvPr>
            <p:extLst>
              <p:ext uri="{F5677B7D-0D2A-4D9B-9A5C-6D8D7D0E5A5D}">
                <pptd:icon encoding="base64url">eyJpY29uTmFtZSI6ImZhczptYXAtbG9jYXRpb24tZG90In0</pptd:icon>
              </p:ext>
            </p:extLst>
          </p:nvPr>
        </p:nvSpPr>
        <p:spPr>
          <a:xfrm>
            <a:off x="1066800" y="2209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76" y="48"/>
                </a:moveTo>
                <a:cubicBezTo>
                  <a:pt x="576" y="37"/>
                  <a:pt x="570" y="27"/>
                  <a:pt x="561" y="21"/>
                </a:cubicBezTo>
                <a:cubicBezTo>
                  <a:pt x="551" y="15"/>
                  <a:pt x="540" y="14"/>
                  <a:pt x="530" y="19"/>
                </a:cubicBezTo>
                <a:lnTo>
                  <a:pt x="414" y="78"/>
                </a:lnTo>
                <a:lnTo>
                  <a:pt x="234" y="18"/>
                </a:lnTo>
                <a:cubicBezTo>
                  <a:pt x="226" y="15"/>
                  <a:pt x="217" y="16"/>
                  <a:pt x="210" y="19"/>
                </a:cubicBezTo>
                <a:lnTo>
                  <a:pt x="82" y="83"/>
                </a:lnTo>
                <a:cubicBezTo>
                  <a:pt x="71" y="89"/>
                  <a:pt x="64" y="100"/>
                  <a:pt x="64" y="112"/>
                </a:cubicBezTo>
                <a:lnTo>
                  <a:pt x="64" y="464"/>
                </a:lnTo>
                <a:cubicBezTo>
                  <a:pt x="64" y="475"/>
                  <a:pt x="70" y="485"/>
                  <a:pt x="79" y="491"/>
                </a:cubicBezTo>
                <a:cubicBezTo>
                  <a:pt x="89" y="497"/>
                  <a:pt x="100" y="498"/>
                  <a:pt x="110" y="493"/>
                </a:cubicBezTo>
                <a:lnTo>
                  <a:pt x="226" y="434"/>
                </a:lnTo>
                <a:lnTo>
                  <a:pt x="400" y="492"/>
                </a:lnTo>
                <a:cubicBezTo>
                  <a:pt x="395" y="486"/>
                  <a:pt x="391" y="479"/>
                  <a:pt x="387" y="472"/>
                </a:cubicBezTo>
                <a:cubicBezTo>
                  <a:pt x="376" y="454"/>
                  <a:pt x="365" y="433"/>
                  <a:pt x="357" y="411"/>
                </a:cubicBezTo>
                <a:lnTo>
                  <a:pt x="256" y="377"/>
                </a:lnTo>
                <a:lnTo>
                  <a:pt x="256" y="92"/>
                </a:lnTo>
                <a:lnTo>
                  <a:pt x="384" y="135"/>
                </a:lnTo>
                <a:lnTo>
                  <a:pt x="384" y="234"/>
                </a:lnTo>
                <a:cubicBezTo>
                  <a:pt x="415" y="199"/>
                  <a:pt x="461" y="176"/>
                  <a:pt x="512" y="176"/>
                </a:cubicBezTo>
                <a:cubicBezTo>
                  <a:pt x="535" y="176"/>
                  <a:pt x="556" y="180"/>
                  <a:pt x="576" y="188"/>
                </a:cubicBezTo>
                <a:lnTo>
                  <a:pt x="576" y="48"/>
                </a:lnTo>
                <a:close/>
              </a:path>
              <a:path w="640" h="512">
                <a:moveTo>
                  <a:pt x="512" y="224"/>
                </a:moveTo>
                <a:cubicBezTo>
                  <a:pt x="446" y="224"/>
                  <a:pt x="392" y="277"/>
                  <a:pt x="392" y="342"/>
                </a:cubicBezTo>
                <a:cubicBezTo>
                  <a:pt x="392" y="411"/>
                  <a:pt x="456" y="492"/>
                  <a:pt x="491" y="531"/>
                </a:cubicBezTo>
                <a:cubicBezTo>
                  <a:pt x="502" y="544"/>
                  <a:pt x="522" y="544"/>
                  <a:pt x="534" y="531"/>
                </a:cubicBezTo>
                <a:cubicBezTo>
                  <a:pt x="568" y="492"/>
                  <a:pt x="632" y="411"/>
                  <a:pt x="632" y="342"/>
                </a:cubicBezTo>
                <a:cubicBezTo>
                  <a:pt x="632" y="277"/>
                  <a:pt x="578" y="224"/>
                  <a:pt x="512" y="224"/>
                </a:cubicBezTo>
                <a:close/>
                <a:moveTo>
                  <a:pt x="472" y="344"/>
                </a:moveTo>
                <a:cubicBezTo>
                  <a:pt x="472" y="322"/>
                  <a:pt x="490" y="304"/>
                  <a:pt x="512" y="304"/>
                </a:cubicBezTo>
                <a:cubicBezTo>
                  <a:pt x="534" y="304"/>
                  <a:pt x="552" y="322"/>
                  <a:pt x="552" y="344"/>
                </a:cubicBezTo>
                <a:cubicBezTo>
                  <a:pt x="552" y="366"/>
                  <a:pt x="534" y="384"/>
                  <a:pt x="512" y="384"/>
                </a:cubicBezTo>
                <a:cubicBezTo>
                  <a:pt x="490" y="384"/>
                  <a:pt x="472" y="366"/>
                  <a:pt x="472" y="344"/>
                </a:cubicBez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7" name="f-1-name"/>
          <p:cNvSpPr txBox="1"/>
          <p:nvPr/>
        </p:nvSpPr>
        <p:spPr>
          <a:xfrm>
            <a:off x="1600200" y="2184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Климатика 550 городов РФ</a:t>
            </a:r>
            <a:endParaRPr lang="en-US" sz="1600"/>
          </a:p>
        </p:txBody>
      </p:sp>
      <p:sp>
        <p:nvSpPr>
          <p:cNvPr id="8" name="f-1-desc"/>
          <p:cNvSpPr txBox="1"/>
          <p:nvPr/>
        </p:nvSpPr>
        <p:spPr>
          <a:xfrm>
            <a:off x="1066800" y="2692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Параметры СП 131.13330.2025 подставляются автоматически — температура, ветер, влажность, снегопад</a:t>
            </a:r>
            <a:endParaRPr lang="en-US" sz="1300"/>
          </a:p>
        </p:txBody>
      </p:sp>
      <p:sp>
        <p:nvSpPr>
          <p:cNvPr id="9" name="f-card-2"/>
          <p:cNvSpPr/>
          <p:nvPr/>
        </p:nvSpPr>
        <p:spPr>
          <a:xfrm>
            <a:off x="6350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0" name="f-2-icon"/>
          <p:cNvSpPr/>
          <p:nvPr>
            <p:extLst>
              <p:ext uri="{F5677B7D-0D2A-4D9B-9A5C-6D8D7D0E5A5D}">
                <pptd:icon encoding="base64url">eyJpY29uTmFtZSI6ImZhczpnZWFycyJ9</pptd:icon>
              </p:ext>
            </p:extLst>
          </p:nvPr>
        </p:nvSpPr>
        <p:spPr>
          <a:xfrm>
            <a:off x="6654800" y="2209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4FC7B5"/>
          </a:solidFill>
          <a:ln>
            <a:noFill/>
          </a:ln>
        </p:spPr>
      </p:sp>
      <p:sp>
        <p:nvSpPr>
          <p:cNvPr id="11" name="f-2-name"/>
          <p:cNvSpPr txBox="1"/>
          <p:nvPr/>
        </p:nvSpPr>
        <p:spPr>
          <a:xfrm>
            <a:off x="7188200" y="2184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Полный цикл расчёта</a:t>
            </a:r>
            <a:endParaRPr lang="en-US" sz="1600"/>
          </a:p>
        </p:txBody>
      </p:sp>
      <p:sp>
        <p:nvSpPr>
          <p:cNvPr id="12" name="f-2-desc"/>
          <p:cNvSpPr txBox="1"/>
          <p:nvPr/>
        </p:nvSpPr>
        <p:spPr>
          <a:xfrm>
            <a:off x="6654800" y="2692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Климат → конструкция → тепловой → гидравлика → спецификация. Программа сама следит за актуальностью данных</a:t>
            </a:r>
            <a:endParaRPr lang="en-US" sz="1300"/>
          </a:p>
        </p:txBody>
      </p:sp>
      <p:sp>
        <p:nvSpPr>
          <p:cNvPr id="13" name="f-card-3"/>
          <p:cNvSpPr/>
          <p:nvPr/>
        </p:nvSpPr>
        <p:spPr>
          <a:xfrm>
            <a:off x="762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4" name="f-3-icon"/>
          <p:cNvSpPr/>
          <p:nvPr>
            <p:extLst>
              <p:ext uri="{F5677B7D-0D2A-4D9B-9A5C-6D8D7D0E5A5D}">
                <pptd:icon encoding="base64url">eyJpY29uTmFtZSI6ImZhczpmaWxlLXBkZiJ9</pptd:icon>
              </p:ext>
            </p:extLst>
          </p:nvPr>
        </p:nvSpPr>
        <p:spPr>
          <a:xfrm>
            <a:off x="1066800" y="4241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lnTo>
                  <a:pt x="32" y="448"/>
                </a:lnTo>
                <a:cubicBezTo>
                  <a:pt x="32" y="483"/>
                  <a:pt x="61" y="512"/>
                  <a:pt x="96" y="512"/>
                </a:cubicBezTo>
                <a:lnTo>
                  <a:pt x="176" y="512"/>
                </a:lnTo>
                <a:lnTo>
                  <a:pt x="176" y="400"/>
                </a:lnTo>
                <a:cubicBezTo>
                  <a:pt x="176" y="365"/>
                  <a:pt x="205" y="336"/>
                  <a:pt x="240" y="336"/>
                </a:cubicBezTo>
                <a:lnTo>
                  <a:pt x="416" y="336"/>
                </a:lnTo>
                <a:lnTo>
                  <a:pt x="416" y="171"/>
                </a:lnTo>
                <a:cubicBezTo>
                  <a:pt x="416" y="154"/>
                  <a:pt x="409" y="137"/>
                  <a:pt x="397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6" y="0"/>
                </a:lnTo>
                <a:close/>
                <a:moveTo>
                  <a:pt x="358" y="176"/>
                </a:moveTo>
                <a:lnTo>
                  <a:pt x="264" y="176"/>
                </a:lnTo>
                <a:cubicBezTo>
                  <a:pt x="251" y="176"/>
                  <a:pt x="240" y="165"/>
                  <a:pt x="240" y="152"/>
                </a:cubicBezTo>
                <a:lnTo>
                  <a:pt x="240" y="59"/>
                </a:lnTo>
                <a:lnTo>
                  <a:pt x="358" y="176"/>
                </a:lnTo>
                <a:close/>
              </a:path>
              <a:path w="576" h="512">
                <a:moveTo>
                  <a:pt x="240" y="380"/>
                </a:moveTo>
                <a:cubicBezTo>
                  <a:pt x="229" y="380"/>
                  <a:pt x="220" y="389"/>
                  <a:pt x="220" y="400"/>
                </a:cubicBezTo>
                <a:lnTo>
                  <a:pt x="220" y="528"/>
                </a:lnTo>
                <a:cubicBezTo>
                  <a:pt x="220" y="539"/>
                  <a:pt x="229" y="548"/>
                  <a:pt x="240" y="548"/>
                </a:cubicBezTo>
                <a:cubicBezTo>
                  <a:pt x="251" y="548"/>
                  <a:pt x="260" y="539"/>
                  <a:pt x="260" y="528"/>
                </a:cubicBezTo>
                <a:lnTo>
                  <a:pt x="260" y="500"/>
                </a:lnTo>
                <a:lnTo>
                  <a:pt x="272" y="500"/>
                </a:lnTo>
                <a:cubicBezTo>
                  <a:pt x="305" y="500"/>
                  <a:pt x="332" y="473"/>
                  <a:pt x="332" y="440"/>
                </a:cubicBezTo>
                <a:cubicBezTo>
                  <a:pt x="332" y="407"/>
                  <a:pt x="305" y="380"/>
                  <a:pt x="272" y="380"/>
                </a:cubicBezTo>
                <a:lnTo>
                  <a:pt x="240" y="380"/>
                </a:lnTo>
                <a:close/>
                <a:moveTo>
                  <a:pt x="272" y="460"/>
                </a:moveTo>
                <a:lnTo>
                  <a:pt x="260" y="460"/>
                </a:lnTo>
                <a:lnTo>
                  <a:pt x="260" y="420"/>
                </a:lnTo>
                <a:lnTo>
                  <a:pt x="272" y="420"/>
                </a:lnTo>
                <a:cubicBezTo>
                  <a:pt x="283" y="420"/>
                  <a:pt x="292" y="429"/>
                  <a:pt x="292" y="440"/>
                </a:cubicBezTo>
                <a:cubicBezTo>
                  <a:pt x="292" y="451"/>
                  <a:pt x="283" y="460"/>
                  <a:pt x="272" y="460"/>
                </a:cubicBezTo>
                <a:close/>
              </a:path>
              <a:path w="576" h="512">
                <a:moveTo>
                  <a:pt x="368" y="380"/>
                </a:moveTo>
                <a:cubicBezTo>
                  <a:pt x="357" y="380"/>
                  <a:pt x="348" y="389"/>
                  <a:pt x="348" y="400"/>
                </a:cubicBezTo>
                <a:lnTo>
                  <a:pt x="348" y="528"/>
                </a:lnTo>
                <a:cubicBezTo>
                  <a:pt x="348" y="539"/>
                  <a:pt x="357" y="548"/>
                  <a:pt x="368" y="548"/>
                </a:cubicBezTo>
                <a:lnTo>
                  <a:pt x="400" y="548"/>
                </a:lnTo>
                <a:cubicBezTo>
                  <a:pt x="429" y="548"/>
                  <a:pt x="452" y="525"/>
                  <a:pt x="452" y="496"/>
                </a:cubicBezTo>
                <a:lnTo>
                  <a:pt x="452" y="432"/>
                </a:lnTo>
                <a:cubicBezTo>
                  <a:pt x="452" y="403"/>
                  <a:pt x="429" y="380"/>
                  <a:pt x="400" y="380"/>
                </a:cubicBezTo>
                <a:lnTo>
                  <a:pt x="368" y="380"/>
                </a:lnTo>
                <a:close/>
                <a:moveTo>
                  <a:pt x="388" y="508"/>
                </a:moveTo>
                <a:lnTo>
                  <a:pt x="388" y="420"/>
                </a:lnTo>
                <a:lnTo>
                  <a:pt x="400" y="420"/>
                </a:lnTo>
                <a:cubicBezTo>
                  <a:pt x="407" y="420"/>
                  <a:pt x="412" y="425"/>
                  <a:pt x="412" y="432"/>
                </a:cubicBezTo>
                <a:lnTo>
                  <a:pt x="412" y="496"/>
                </a:lnTo>
                <a:cubicBezTo>
                  <a:pt x="412" y="503"/>
                  <a:pt x="407" y="508"/>
                  <a:pt x="400" y="508"/>
                </a:cubicBezTo>
                <a:lnTo>
                  <a:pt x="388" y="508"/>
                </a:lnTo>
                <a:close/>
              </a:path>
              <a:path w="576" h="512">
                <a:moveTo>
                  <a:pt x="476" y="400"/>
                </a:moveTo>
                <a:lnTo>
                  <a:pt x="476" y="528"/>
                </a:lnTo>
                <a:cubicBezTo>
                  <a:pt x="476" y="539"/>
                  <a:pt x="485" y="548"/>
                  <a:pt x="496" y="548"/>
                </a:cubicBezTo>
                <a:cubicBezTo>
                  <a:pt x="507" y="548"/>
                  <a:pt x="516" y="539"/>
                  <a:pt x="516" y="528"/>
                </a:cubicBezTo>
                <a:lnTo>
                  <a:pt x="516" y="484"/>
                </a:lnTo>
                <a:lnTo>
                  <a:pt x="544" y="484"/>
                </a:lnTo>
                <a:cubicBezTo>
                  <a:pt x="555" y="484"/>
                  <a:pt x="564" y="475"/>
                  <a:pt x="564" y="464"/>
                </a:cubicBezTo>
                <a:cubicBezTo>
                  <a:pt x="564" y="453"/>
                  <a:pt x="555" y="444"/>
                  <a:pt x="544" y="444"/>
                </a:cubicBezTo>
                <a:lnTo>
                  <a:pt x="516" y="444"/>
                </a:lnTo>
                <a:lnTo>
                  <a:pt x="516" y="420"/>
                </a:lnTo>
                <a:lnTo>
                  <a:pt x="544" y="420"/>
                </a:lnTo>
                <a:cubicBezTo>
                  <a:pt x="555" y="420"/>
                  <a:pt x="564" y="411"/>
                  <a:pt x="564" y="400"/>
                </a:cubicBezTo>
                <a:cubicBezTo>
                  <a:pt x="564" y="389"/>
                  <a:pt x="555" y="380"/>
                  <a:pt x="544" y="380"/>
                </a:cubicBezTo>
                <a:lnTo>
                  <a:pt x="496" y="380"/>
                </a:lnTo>
                <a:cubicBezTo>
                  <a:pt x="485" y="380"/>
                  <a:pt x="476" y="389"/>
                  <a:pt x="476" y="400"/>
                </a:cubicBezTo>
                <a:close/>
              </a:path>
            </a:pathLst>
          </a:custGeom>
          <a:solidFill>
            <a:srgbClr val="4FC7B5"/>
          </a:solidFill>
          <a:ln>
            <a:noFill/>
          </a:ln>
        </p:spPr>
      </p:sp>
      <p:sp>
        <p:nvSpPr>
          <p:cNvPr id="15" name="f-3-name"/>
          <p:cNvSpPr txBox="1"/>
          <p:nvPr/>
        </p:nvSpPr>
        <p:spPr>
          <a:xfrm>
            <a:off x="1600200" y="4216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Отчёт PDF в один клик</a:t>
            </a:r>
            <a:endParaRPr lang="en-US" sz="1600"/>
          </a:p>
        </p:txBody>
      </p:sp>
      <p:sp>
        <p:nvSpPr>
          <p:cNvPr id="16" name="f-3-desc"/>
          <p:cNvSpPr txBox="1"/>
          <p:nvPr/>
        </p:nvSpPr>
        <p:spPr>
          <a:xfrm>
            <a:off x="1066800" y="4724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Брендированный документ с КПИ, ведомостью оборудования и приложением по каждому контуру</a:t>
            </a:r>
            <a:endParaRPr lang="en-US" sz="1300"/>
          </a:p>
        </p:txBody>
      </p:sp>
      <p:sp>
        <p:nvSpPr>
          <p:cNvPr id="17" name="f-card-4"/>
          <p:cNvSpPr/>
          <p:nvPr/>
        </p:nvSpPr>
        <p:spPr>
          <a:xfrm>
            <a:off x="6350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8" name="f-4-icon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6654800" y="4241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19" name="f-4-name"/>
          <p:cNvSpPr txBox="1"/>
          <p:nvPr/>
        </p:nvSpPr>
        <p:spPr>
          <a:xfrm>
            <a:off x="7188200" y="4216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Методика на нормативах</a:t>
            </a:r>
            <a:endParaRPr lang="en-US" sz="1600"/>
          </a:p>
        </p:txBody>
      </p:sp>
      <p:sp>
        <p:nvSpPr>
          <p:cNvPr id="20" name="f-4-desc"/>
          <p:cNvSpPr txBox="1"/>
          <p:nvPr/>
        </p:nvSpPr>
        <p:spPr>
          <a:xfrm>
            <a:off x="6654800" y="4724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СП 131.13330.2025, VDI 2075, DIN EN 60534, ASHRAE — расчёт воспроизводим и проверяем</a:t>
            </a:r>
            <a:endParaRPr lang="en-US" sz="1300"/>
          </a:p>
        </p:txBody>
      </p:sp>
      <p:pic>
        <p:nvPicPr>
          <p:cNvPr id="2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2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СПЕЦИФИКАЦИЯ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В расчёте — только продукция РЕХАУ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p-card-1"/>
          <p:cNvSpPr/>
          <p:nvPr/>
        </p:nvSpPr>
        <p:spPr>
          <a:xfrm>
            <a:off x="762000" y="1905000"/>
            <a:ext cx="34671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p-1-mark"/>
          <p:cNvSpPr/>
          <p:nvPr/>
        </p:nvSpPr>
        <p:spPr>
          <a:xfrm>
            <a:off x="1041400" y="2184400"/>
            <a:ext cx="330200" cy="330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7" name="p-1-name"/>
          <p:cNvSpPr txBox="1"/>
          <p:nvPr/>
        </p:nvSpPr>
        <p:spPr>
          <a:xfrm>
            <a:off x="1041400" y="2667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Трубы RAUTHERM S</a:t>
            </a:r>
            <a:endParaRPr lang="en-US" sz="1800"/>
          </a:p>
        </p:txBody>
      </p:sp>
      <p:sp>
        <p:nvSpPr>
          <p:cNvPr id="8" name="p-1-desc"/>
          <p:cNvSpPr txBox="1"/>
          <p:nvPr/>
        </p:nvSpPr>
        <p:spPr>
          <a:xfrm>
            <a:off x="1041400" y="3200400"/>
            <a:ext cx="292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Диаметры 17, 20 и 25 мм для нагревательных контуров открытых площадок</a:t>
            </a:r>
            <a:endParaRPr lang="en-US" sz="13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Учитываются реальные диаметры и шероховатость</a:t>
            </a:r>
            <a:endParaRPr lang="en-US" sz="1300"/>
          </a:p>
        </p:txBody>
      </p:sp>
      <p:sp>
        <p:nvSpPr>
          <p:cNvPr id="9" name="p-card-2"/>
          <p:cNvSpPr/>
          <p:nvPr/>
        </p:nvSpPr>
        <p:spPr>
          <a:xfrm>
            <a:off x="4483100" y="1905000"/>
            <a:ext cx="34671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0" name="p-2-mark"/>
          <p:cNvSpPr/>
          <p:nvPr/>
        </p:nvSpPr>
        <p:spPr>
          <a:xfrm>
            <a:off x="4762500" y="2184400"/>
            <a:ext cx="330200" cy="3302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1" name="p-2-name"/>
          <p:cNvSpPr txBox="1"/>
          <p:nvPr/>
        </p:nvSpPr>
        <p:spPr>
          <a:xfrm>
            <a:off x="4762500" y="2667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Коллекторы HKV-D</a:t>
            </a:r>
            <a:endParaRPr lang="en-US" sz="1800"/>
          </a:p>
        </p:txBody>
      </p:sp>
      <p:sp>
        <p:nvSpPr>
          <p:cNvPr id="12" name="p-2-desc"/>
          <p:cNvSpPr txBox="1"/>
          <p:nvPr/>
        </p:nvSpPr>
        <p:spPr>
          <a:xfrm>
            <a:off x="4762500" y="3200400"/>
            <a:ext cx="292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Бытовые распределительные коллекторы на 2–12 контуров</a:t>
            </a:r>
            <a:endParaRPr lang="en-US" sz="13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Подбор по Kv и числу контуров — с артикулами</a:t>
            </a:r>
            <a:endParaRPr lang="en-US" sz="1300"/>
          </a:p>
        </p:txBody>
      </p:sp>
      <p:sp>
        <p:nvSpPr>
          <p:cNvPr id="13" name="p-card-3"/>
          <p:cNvSpPr/>
          <p:nvPr/>
        </p:nvSpPr>
        <p:spPr>
          <a:xfrm>
            <a:off x="8204200" y="1905000"/>
            <a:ext cx="34798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4" name="p-3-mark"/>
          <p:cNvSpPr/>
          <p:nvPr/>
        </p:nvSpPr>
        <p:spPr>
          <a:xfrm>
            <a:off x="8483600" y="2184400"/>
            <a:ext cx="330200" cy="330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5" name="p-3-name"/>
          <p:cNvSpPr txBox="1"/>
          <p:nvPr/>
        </p:nvSpPr>
        <p:spPr>
          <a:xfrm>
            <a:off x="8483600" y="2667000"/>
            <a:ext cx="294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Промышленные коллекторы IV</a:t>
            </a:r>
            <a:endParaRPr lang="en-US" sz="1600"/>
          </a:p>
        </p:txBody>
      </p:sp>
      <p:sp>
        <p:nvSpPr>
          <p:cNvPr id="16" name="p-3-desc"/>
          <p:cNvSpPr txBox="1"/>
          <p:nvPr/>
        </p:nvSpPr>
        <p:spPr>
          <a:xfrm>
            <a:off x="8483600" y="3200400"/>
            <a:ext cx="2946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IV 1¼" и IV 1½" для крупных площадок и больших расходов</a:t>
            </a:r>
            <a:endParaRPr lang="en-US" sz="13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Автоматический выбор типоразмера по нагрузке</a:t>
            </a:r>
            <a:endParaRPr lang="en-US" sz="1300"/>
          </a:p>
        </p:txBody>
      </p:sp>
      <p:sp>
        <p:nvSpPr>
          <p:cNvPr id="17" name="note-bar"/>
          <p:cNvSpPr/>
          <p:nvPr/>
        </p:nvSpPr>
        <p:spPr>
          <a:xfrm>
            <a:off x="762000" y="5461000"/>
            <a:ext cx="10922000" cy="5080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18" name="note-text"/>
          <p:cNvSpPr txBox="1"/>
          <p:nvPr/>
        </p:nvSpPr>
        <p:spPr>
          <a:xfrm>
            <a:off x="1041400" y="54610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Спецификация формируется с артикулами РЕХАУ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 — из расчёта сразу понятно, что заказывать</a:t>
            </a:r>
            <a:endParaRPr lang="en-US" sz="1400"/>
          </a:p>
        </p:txBody>
      </p:sp>
      <p:pic>
        <p:nvPicPr>
          <p:cNvPr id="19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0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КЕЙС · «ЕКАТЕРИНБУРГ, ОБОГРЕВ НАРУЖНЫХ ПОВЕРХНОСТЕЙ»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Весь расчёт — на одном экране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kpi-card-1"/>
          <p:cNvSpPr/>
          <p:nvPr/>
        </p:nvSpPr>
        <p:spPr>
          <a:xfrm>
            <a:off x="762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kpi-val-1"/>
          <p:cNvSpPr txBox="1"/>
          <p:nvPr/>
        </p:nvSpPr>
        <p:spPr>
          <a:xfrm>
            <a:off x="990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55,8</a:t>
            </a:r>
            <a:endParaRPr lang="en-US" sz="3200"/>
          </a:p>
        </p:txBody>
      </p:sp>
      <p:sp>
        <p:nvSpPr>
          <p:cNvPr id="7" name="kpi-lbl-1"/>
          <p:cNvSpPr txBox="1"/>
          <p:nvPr/>
        </p:nvSpPr>
        <p:spPr>
          <a:xfrm>
            <a:off x="990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кВт — тепловая мощность системы</a:t>
            </a:r>
            <a:endParaRPr lang="en-US" sz="1300"/>
          </a:p>
        </p:txBody>
      </p:sp>
      <p:sp>
        <p:nvSpPr>
          <p:cNvPr id="8" name="kpi-card-2"/>
          <p:cNvSpPr/>
          <p:nvPr/>
        </p:nvSpPr>
        <p:spPr>
          <a:xfrm>
            <a:off x="36195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9" name="kpi-val-2"/>
          <p:cNvSpPr txBox="1"/>
          <p:nvPr/>
        </p:nvSpPr>
        <p:spPr>
          <a:xfrm>
            <a:off x="38481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920</a:t>
            </a:r>
            <a:endParaRPr lang="en-US" sz="3200"/>
          </a:p>
        </p:txBody>
      </p:sp>
      <p:sp>
        <p:nvSpPr>
          <p:cNvPr id="10" name="kpi-lbl-2"/>
          <p:cNvSpPr txBox="1"/>
          <p:nvPr/>
        </p:nvSpPr>
        <p:spPr>
          <a:xfrm>
            <a:off x="38481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м — труба RAUTHERM S 20×2,0</a:t>
            </a:r>
            <a:endParaRPr lang="en-US" sz="1300"/>
          </a:p>
        </p:txBody>
      </p:sp>
      <p:sp>
        <p:nvSpPr>
          <p:cNvPr id="11" name="kpi-card-3"/>
          <p:cNvSpPr/>
          <p:nvPr/>
        </p:nvSpPr>
        <p:spPr>
          <a:xfrm>
            <a:off x="6477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kpi-val-3"/>
          <p:cNvSpPr txBox="1"/>
          <p:nvPr/>
        </p:nvSpPr>
        <p:spPr>
          <a:xfrm>
            <a:off x="6705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2,66</a:t>
            </a:r>
            <a:endParaRPr lang="en-US" sz="3200"/>
          </a:p>
        </p:txBody>
      </p:sp>
      <p:sp>
        <p:nvSpPr>
          <p:cNvPr id="13" name="kpi-lbl-3"/>
          <p:cNvSpPr txBox="1"/>
          <p:nvPr/>
        </p:nvSpPr>
        <p:spPr>
          <a:xfrm>
            <a:off x="6705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м³/ч — расход насоса</a:t>
            </a:r>
            <a:endParaRPr lang="en-US" sz="1300"/>
          </a:p>
        </p:txBody>
      </p:sp>
      <p:sp>
        <p:nvSpPr>
          <p:cNvPr id="14" name="kpi-card-4"/>
          <p:cNvSpPr/>
          <p:nvPr/>
        </p:nvSpPr>
        <p:spPr>
          <a:xfrm>
            <a:off x="9334500" y="1841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5" name="kpi-val-4"/>
          <p:cNvSpPr txBox="1"/>
          <p:nvPr/>
        </p:nvSpPr>
        <p:spPr>
          <a:xfrm>
            <a:off x="9563100" y="20574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29,2</a:t>
            </a:r>
            <a:endParaRPr lang="en-US" sz="3200"/>
          </a:p>
        </p:txBody>
      </p:sp>
      <p:sp>
        <p:nvSpPr>
          <p:cNvPr id="16" name="kpi-lbl-4"/>
          <p:cNvSpPr txBox="1"/>
          <p:nvPr/>
        </p:nvSpPr>
        <p:spPr>
          <a:xfrm>
            <a:off x="9563100" y="2692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кПа — напор насоса</a:t>
            </a:r>
            <a:endParaRPr lang="en-US" sz="1300"/>
          </a:p>
        </p:txBody>
      </p:sp>
      <p:sp>
        <p:nvSpPr>
          <p:cNvPr id="17" name="sub-card-1"/>
          <p:cNvSpPr/>
          <p:nvPr/>
        </p:nvSpPr>
        <p:spPr>
          <a:xfrm>
            <a:off x="762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sub-val-1"/>
          <p:cNvSpPr txBox="1"/>
          <p:nvPr/>
        </p:nvSpPr>
        <p:spPr>
          <a:xfrm>
            <a:off x="990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53,0 / 37,4 °C</a:t>
            </a:r>
            <a:endParaRPr lang="en-US" sz="2200"/>
          </a:p>
        </p:txBody>
      </p:sp>
      <p:sp>
        <p:nvSpPr>
          <p:cNvPr id="19" name="sub-lbl-1"/>
          <p:cNvSpPr txBox="1"/>
          <p:nvPr/>
        </p:nvSpPr>
        <p:spPr>
          <a:xfrm>
            <a:off x="990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подача / обратка</a:t>
            </a:r>
            <a:endParaRPr lang="en-US" sz="1200"/>
          </a:p>
        </p:txBody>
      </p:sp>
      <p:sp>
        <p:nvSpPr>
          <p:cNvPr id="20" name="sub-card-2"/>
          <p:cNvSpPr/>
          <p:nvPr/>
        </p:nvSpPr>
        <p:spPr>
          <a:xfrm>
            <a:off x="36195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sub-val-2"/>
          <p:cNvSpPr txBox="1"/>
          <p:nvPr/>
        </p:nvSpPr>
        <p:spPr>
          <a:xfrm>
            <a:off x="38481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4 коллектора</a:t>
            </a:r>
            <a:endParaRPr lang="en-US" sz="2200"/>
          </a:p>
        </p:txBody>
      </p:sp>
      <p:sp>
        <p:nvSpPr>
          <p:cNvPr id="22" name="sub-lbl-2"/>
          <p:cNvSpPr txBox="1"/>
          <p:nvPr/>
        </p:nvSpPr>
        <p:spPr>
          <a:xfrm>
            <a:off x="38481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IV 1¼" и HKV-D, 18 контуров</a:t>
            </a:r>
            <a:endParaRPr lang="en-US" sz="1200"/>
          </a:p>
        </p:txBody>
      </p:sp>
      <p:sp>
        <p:nvSpPr>
          <p:cNvPr id="23" name="sub-card-3"/>
          <p:cNvSpPr/>
          <p:nvPr/>
        </p:nvSpPr>
        <p:spPr>
          <a:xfrm>
            <a:off x="6477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4" name="sub-val-3"/>
          <p:cNvSpPr txBox="1"/>
          <p:nvPr/>
        </p:nvSpPr>
        <p:spPr>
          <a:xfrm>
            <a:off x="6705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335,4 Вт/м²</a:t>
            </a:r>
            <a:endParaRPr lang="en-US" sz="2200"/>
          </a:p>
        </p:txBody>
      </p:sp>
      <p:sp>
        <p:nvSpPr>
          <p:cNvPr id="25" name="sub-lbl-3"/>
          <p:cNvSpPr txBox="1"/>
          <p:nvPr/>
        </p:nvSpPr>
        <p:spPr>
          <a:xfrm>
            <a:off x="6705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суммарная удельная мощность</a:t>
            </a:r>
            <a:endParaRPr lang="en-US" sz="1200"/>
          </a:p>
        </p:txBody>
      </p:sp>
      <p:sp>
        <p:nvSpPr>
          <p:cNvPr id="26" name="sub-card-4"/>
          <p:cNvSpPr/>
          <p:nvPr/>
        </p:nvSpPr>
        <p:spPr>
          <a:xfrm>
            <a:off x="9334500" y="3683000"/>
            <a:ext cx="2349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7" name="sub-val-4"/>
          <p:cNvSpPr txBox="1"/>
          <p:nvPr/>
        </p:nvSpPr>
        <p:spPr>
          <a:xfrm>
            <a:off x="9563100" y="38354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7,5 л</a:t>
            </a:r>
            <a:endParaRPr lang="en-US" sz="2200"/>
          </a:p>
        </p:txBody>
      </p:sp>
      <p:sp>
        <p:nvSpPr>
          <p:cNvPr id="28" name="sub-lbl-4"/>
          <p:cNvSpPr txBox="1"/>
          <p:nvPr/>
        </p:nvSpPr>
        <p:spPr>
          <a:xfrm>
            <a:off x="95631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расширительный бак</a:t>
            </a:r>
            <a:endParaRPr lang="en-US" sz="1200"/>
          </a:p>
        </p:txBody>
      </p:sp>
      <p:sp>
        <p:nvSpPr>
          <p:cNvPr id="29" name="note-bar"/>
          <p:cNvSpPr/>
          <p:nvPr/>
        </p:nvSpPr>
        <p:spPr>
          <a:xfrm>
            <a:off x="762000" y="5207000"/>
            <a:ext cx="10922000" cy="7112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30" name="note-text"/>
          <p:cNvSpPr txBox="1"/>
          <p:nvPr/>
        </p:nvSpPr>
        <p:spPr>
          <a:xfrm>
            <a:off x="1041400" y="5207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Итог для объекта: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 полная спецификация оборудования и гидравлики сформирована автоматически и готова к выгрузке в PDF</a:t>
            </a:r>
            <a:endParaRPr lang="en-US" sz="1400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ЦЕННОСТЬ ДЛЯ РЕХАУ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Что это даёт компании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v-card-1"/>
          <p:cNvSpPr/>
          <p:nvPr/>
        </p:nvSpPr>
        <p:spPr>
          <a:xfrm>
            <a:off x="762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v-1-bar"/>
          <p:cNvSpPr/>
          <p:nvPr/>
        </p:nvSpPr>
        <p:spPr>
          <a:xfrm>
            <a:off x="762000" y="1905000"/>
            <a:ext cx="76200" cy="1778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7" name="v-1-name"/>
          <p:cNvSpPr txBox="1"/>
          <p:nvPr/>
        </p:nvSpPr>
        <p:spPr>
          <a:xfrm>
            <a:off x="1117600" y="2108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Продажи оборудования</a:t>
            </a:r>
            <a:endParaRPr lang="en-US" sz="1700"/>
          </a:p>
        </p:txBody>
      </p:sp>
      <p:sp>
        <p:nvSpPr>
          <p:cNvPr id="8" name="v-1-desc"/>
          <p:cNvSpPr txBox="1"/>
          <p:nvPr/>
        </p:nvSpPr>
        <p:spPr>
          <a:xfrm>
            <a:off x="1117600" y="2565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Спецификация с артикулами РЕХАУ формируется автоматически — трубы и коллекторы закладываются в проект по умолчанию</a:t>
            </a:r>
            <a:endParaRPr lang="en-US" sz="1300"/>
          </a:p>
        </p:txBody>
      </p:sp>
      <p:sp>
        <p:nvSpPr>
          <p:cNvPr id="9" name="v-card-2"/>
          <p:cNvSpPr/>
          <p:nvPr/>
        </p:nvSpPr>
        <p:spPr>
          <a:xfrm>
            <a:off x="6350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" name="v-2-bar"/>
          <p:cNvSpPr/>
          <p:nvPr/>
        </p:nvSpPr>
        <p:spPr>
          <a:xfrm>
            <a:off x="6350000" y="1905000"/>
            <a:ext cx="76200" cy="17780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1" name="v-2-name"/>
          <p:cNvSpPr txBox="1"/>
          <p:nvPr/>
        </p:nvSpPr>
        <p:spPr>
          <a:xfrm>
            <a:off x="6705600" y="2108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Лояльность проектировщиков</a:t>
            </a:r>
            <a:endParaRPr lang="en-US" sz="1700"/>
          </a:p>
        </p:txBody>
      </p:sp>
      <p:sp>
        <p:nvSpPr>
          <p:cNvPr id="12" name="v-2-desc"/>
          <p:cNvSpPr txBox="1"/>
          <p:nvPr/>
        </p:nvSpPr>
        <p:spPr>
          <a:xfrm>
            <a:off x="6705600" y="2565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Инструмент экономит часы на каждом объекте — проектировщик возвращается к решениям РЕХАУ снова и снова</a:t>
            </a:r>
            <a:endParaRPr lang="en-US" sz="1300"/>
          </a:p>
        </p:txBody>
      </p:sp>
      <p:sp>
        <p:nvSpPr>
          <p:cNvPr id="13" name="v-card-3"/>
          <p:cNvSpPr/>
          <p:nvPr/>
        </p:nvSpPr>
        <p:spPr>
          <a:xfrm>
            <a:off x="762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4" name="v-3-bar"/>
          <p:cNvSpPr/>
          <p:nvPr/>
        </p:nvSpPr>
        <p:spPr>
          <a:xfrm>
            <a:off x="762000" y="3937000"/>
            <a:ext cx="76200" cy="17780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5" name="v-3-name"/>
          <p:cNvSpPr txBox="1"/>
          <p:nvPr/>
        </p:nvSpPr>
        <p:spPr>
          <a:xfrm>
            <a:off x="1117600" y="4140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Стандарт качества под брендом</a:t>
            </a:r>
            <a:endParaRPr lang="en-US" sz="1700"/>
          </a:p>
        </p:txBody>
      </p:sp>
      <p:sp>
        <p:nvSpPr>
          <p:cNvPr id="16" name="v-3-desc"/>
          <p:cNvSpPr txBox="1"/>
          <p:nvPr/>
        </p:nvSpPr>
        <p:spPr>
          <a:xfrm>
            <a:off x="1117600" y="4597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Единая проверяемая методика расчёта ассоциируется с РЕХАУ: меньше ошибок в проектах — меньше репутационных рисков</a:t>
            </a:r>
            <a:endParaRPr lang="en-US" sz="1300"/>
          </a:p>
        </p:txBody>
      </p:sp>
      <p:sp>
        <p:nvSpPr>
          <p:cNvPr id="17" name="v-card-4"/>
          <p:cNvSpPr/>
          <p:nvPr/>
        </p:nvSpPr>
        <p:spPr>
          <a:xfrm>
            <a:off x="6350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v-4-bar"/>
          <p:cNvSpPr/>
          <p:nvPr/>
        </p:nvSpPr>
        <p:spPr>
          <a:xfrm>
            <a:off x="6350000" y="3937000"/>
            <a:ext cx="76200" cy="1778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9" name="v-4-name"/>
          <p:cNvSpPr txBox="1"/>
          <p:nvPr/>
        </p:nvSpPr>
        <p:spPr>
          <a:xfrm>
            <a:off x="6705600" y="4140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Канал обратной связи</a:t>
            </a:r>
            <a:endParaRPr lang="en-US" sz="1700"/>
          </a:p>
        </p:txBody>
      </p:sp>
      <p:sp>
        <p:nvSpPr>
          <p:cNvPr id="20" name="v-4-desc"/>
          <p:cNvSpPr txBox="1"/>
          <p:nvPr/>
        </p:nvSpPr>
        <p:spPr>
          <a:xfrm>
            <a:off x="6705600" y="4597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Пожелания пользователей формируют дорожную карту — прямой контакт с проектировщиками без посредников</a:t>
            </a:r>
            <a:endParaRPr lang="en-US" sz="1300"/>
          </a:p>
        </p:txBody>
      </p:sp>
      <p:pic>
        <p:nvPicPr>
          <p:cNvPr id="2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2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РАЗВИТИЕ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Что уже есть и что дальше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col-1-head"/>
          <p:cNvSpPr/>
          <p:nvPr/>
        </p:nvSpPr>
        <p:spPr>
          <a:xfrm>
            <a:off x="762000" y="1905000"/>
            <a:ext cx="3467100" cy="558800"/>
          </a:xfrm>
          <a:prstGeom prst="roundRect">
            <a:avLst>
              <a:gd name="adj" fmla="val 16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6" name="col-1-head-text"/>
          <p:cNvSpPr txBox="1"/>
          <p:nvPr/>
        </p:nvSpPr>
        <p:spPr>
          <a:xfrm>
            <a:off x="1041400" y="1905000"/>
            <a:ext cx="292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Реализовано</a:t>
            </a:r>
            <a:endParaRPr lang="en-US" sz="1600"/>
          </a:p>
        </p:txBody>
      </p:sp>
      <p:sp>
        <p:nvSpPr>
          <p:cNvPr id="7" name="col-1-body"/>
          <p:cNvSpPr/>
          <p:nvPr/>
        </p:nvSpPr>
        <p:spPr>
          <a:xfrm>
            <a:off x="762000" y="2565400"/>
            <a:ext cx="3467100" cy="2921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8" name="col-1-text"/>
          <p:cNvSpPr txBox="1"/>
          <p:nvPr/>
        </p:nvSpPr>
        <p:spPr>
          <a:xfrm>
            <a:off x="1041400" y="2794000"/>
            <a:ext cx="2921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Климат: 550 городов по СП 131.13330.2025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Конструкция с визуализацией «пирога»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Тепловой расчёт (режимы Melting)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Гидравлика с балансировкой по VDI 2075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PDF-отчёт с приложением по контурам</a:t>
            </a:r>
            <a:endParaRPr lang="en-US" sz="1300"/>
          </a:p>
        </p:txBody>
      </p:sp>
      <p:sp>
        <p:nvSpPr>
          <p:cNvPr id="9" name="col-2-head"/>
          <p:cNvSpPr/>
          <p:nvPr/>
        </p:nvSpPr>
        <p:spPr>
          <a:xfrm>
            <a:off x="4483100" y="1905000"/>
            <a:ext cx="3467100" cy="558800"/>
          </a:xfrm>
          <a:prstGeom prst="roundRect">
            <a:avLst>
              <a:gd name="adj" fmla="val 16000"/>
            </a:avLst>
          </a:prstGeom>
          <a:solidFill>
            <a:srgbClr val="E50040"/>
          </a:solidFill>
          <a:ln>
            <a:noFill/>
          </a:ln>
        </p:spPr>
      </p:sp>
      <p:sp>
        <p:nvSpPr>
          <p:cNvPr id="10" name="col-2-head-text"/>
          <p:cNvSpPr txBox="1"/>
          <p:nvPr/>
        </p:nvSpPr>
        <p:spPr>
          <a:xfrm>
            <a:off x="4762500" y="1905000"/>
            <a:ext cx="292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В работе</a:t>
            </a:r>
            <a:endParaRPr lang="en-US" sz="1600"/>
          </a:p>
        </p:txBody>
      </p:sp>
      <p:sp>
        <p:nvSpPr>
          <p:cNvPr id="11" name="col-2-body"/>
          <p:cNvSpPr/>
          <p:nvPr/>
        </p:nvSpPr>
        <p:spPr>
          <a:xfrm>
            <a:off x="4483100" y="2565400"/>
            <a:ext cx="3467100" cy="2921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2" name="col-2-text"/>
          <p:cNvSpPr txBox="1"/>
          <p:nvPr/>
        </p:nvSpPr>
        <p:spPr>
          <a:xfrm>
            <a:off x="4762500" y="2794000"/>
            <a:ext cx="2921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Рабочий и холодный режимы гидравлики — выгрузка в .md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Полные формулы расчёта в составе PDF-отчёта</a:t>
            </a:r>
            <a:endParaRPr lang="en-US" sz="1300"/>
          </a:p>
        </p:txBody>
      </p:sp>
      <p:sp>
        <p:nvSpPr>
          <p:cNvPr id="13" name="col-3-head"/>
          <p:cNvSpPr/>
          <p:nvPr/>
        </p:nvSpPr>
        <p:spPr>
          <a:xfrm>
            <a:off x="8204200" y="1905000"/>
            <a:ext cx="3479800" cy="558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4" name="col-3-head-text"/>
          <p:cNvSpPr txBox="1"/>
          <p:nvPr/>
        </p:nvSpPr>
        <p:spPr>
          <a:xfrm>
            <a:off x="8483600" y="1905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Далее</a:t>
            </a:r>
            <a:endParaRPr lang="en-US" sz="1600"/>
          </a:p>
        </p:txBody>
      </p:sp>
      <p:sp>
        <p:nvSpPr>
          <p:cNvPr id="15" name="col-3-body"/>
          <p:cNvSpPr/>
          <p:nvPr/>
        </p:nvSpPr>
        <p:spPr>
          <a:xfrm>
            <a:off x="8204200" y="2565400"/>
            <a:ext cx="3479800" cy="2921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6" name="col-3-text"/>
          <p:cNvSpPr txBox="1"/>
          <p:nvPr/>
        </p:nvSpPr>
        <p:spPr>
          <a:xfrm>
            <a:off x="8483600" y="2794000"/>
            <a:ext cx="29464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Экспорт отчётов Word и Excel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Библиотека типовых проектов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Пожелания проектировщиков — по итогам пилота</a:t>
            </a:r>
            <a:endParaRPr lang="en-US" sz="1300"/>
          </a:p>
        </p:txBody>
      </p:sp>
      <p:pic>
        <p:nvPicPr>
          <p:cNvPr id="17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08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>
            <a:alphaModFix amt="55000"/>
          </a:blip>
          <a:srcRect l="30987" r="30987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160" r="-160"/>
          <a:stretch>
            <a:fillRect/>
          </a:stretch>
        </p:blipFill>
        <p:spPr>
          <a:xfrm>
            <a:off x="762000" y="2540000"/>
            <a:ext cx="2413000" cy="12700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40640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slogan"/>
          <p:cNvSpPr txBox="1"/>
          <p:nvPr/>
        </p:nvSpPr>
        <p:spPr>
          <a:xfrm>
            <a:off x="762000" y="43180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FFFFFF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2000"/>
          </a:p>
        </p:txBody>
      </p:sp>
      <p:sp>
        <p:nvSpPr>
          <p:cNvPr id="6" name="contacts"/>
          <p:cNvSpPr txBox="1"/>
          <p:nvPr/>
        </p:nvSpPr>
        <p:spPr>
          <a:xfrm>
            <a:off x="762000" y="54610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MiSans"/>
                <a:ea typeface="MiSans"/>
              </a:rPr>
              <a:t>Автор и контакты — placeholder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MiSans"/>
                <a:ea typeface="MiSans"/>
              </a:rPr>
              <a:t>e-mail · телефон · сайт</a:t>
            </a:r>
            <a:endParaRPr lang="en-US" sz="1300"/>
          </a:p>
        </p:txBody>
      </p:sp>
      <p:sp>
        <p:nvSpPr>
          <p:cNvPr id="7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09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9</Slides>
</Properties>
</file>

<file path=docProps/core.xml><?xml version="1.0" encoding="utf-8"?>
<cp:coreProperties xmlns:cp="http://schemas.openxmlformats.org/package/2006/metadata/core-properties" xmlns:dc="http://purl.org/dc/elements/1.1/">
  <dc:title>РЕХАУ Калькулятор снеготаяния — презентация для руководства</dc:title>
  <dc:subject>РЕХАУ Калькулятор снеготаяния — презентация для руководства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{"Label":"РЕХАУ Калькулятор снеготаяния — презентация для руководства","ContentProducer":"001191110108MACG2KBH8F10000","ProduceID":"rehau_pitch","ReservedCode1":"","ContentPropagator":"001191110108MACG2KBH8F20000","PropagateID":"agent:main:main:conversation:0e45d92d-2496-4a30-aac0-f895591856da","ReservedCode2":""}</vt:lpwstr>
  </property>
</Properties>
</file>