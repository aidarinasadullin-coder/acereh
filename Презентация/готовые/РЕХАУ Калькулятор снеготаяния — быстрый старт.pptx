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gif" ContentType="image/gif"/>
  <Default Extension="svg" ContentType="image/svg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 type="custom"/>
  <p:notesSz cx="12192000" cy="6858000"/>
</p:presentation>
</file>

<file path=ppt/presProps.xml><?xml version="1.0" encoding="utf-8"?>
<p:presentationPr xmlns:p="http://schemas.openxmlformats.org/presentationml/2006/main" xmlns:a="http://schemas.openxmlformats.org/drawingml/2006/main" xmlns:r="http://schemas.openxmlformats.org/officeDocument/2006/relationships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xmlns:r="http://schemas.openxmlformats.org/officeDocument/2006/relationships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_1.png"/><Relationship Id="rId3" Type="http://schemas.openxmlformats.org/officeDocument/2006/relationships/image" Target="../media/image1_2.png"/><Relationship Id="rId4" Type="http://schemas.openxmlformats.org/officeDocument/2006/relationships/image" Target="../media/image1_3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_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_1.png"/><Relationship Id="rId3" Type="http://schemas.openxmlformats.org/officeDocument/2006/relationships/image" Target="../media/image2_1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_1.png"/><Relationship Id="rId3" Type="http://schemas.openxmlformats.org/officeDocument/2006/relationships/image" Target="../media/image2_1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_1.png"/><Relationship Id="rId3" Type="http://schemas.openxmlformats.org/officeDocument/2006/relationships/image" Target="../media/image2_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_1.png"/><Relationship Id="rId3" Type="http://schemas.openxmlformats.org/officeDocument/2006/relationships/image" Target="../media/image2_1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_1.png"/><Relationship Id="rId3" Type="http://schemas.openxmlformats.org/officeDocument/2006/relationships/image" Target="../media/image2_1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_1.png"/><Relationship Id="rId3" Type="http://schemas.openxmlformats.org/officeDocument/2006/relationships/image" Target="../media/image2_1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_1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_1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_1.png"/><Relationship Id="rId3" Type="http://schemas.openxmlformats.org/officeDocument/2006/relationships/image" Target="../media/image11_2.png"/></Relationships>
</file>

<file path=ppt/slides/slide1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ttern-tr"/>
          <p:cNvPicPr/>
          <p:nvPr/>
        </p:nvPicPr>
        <p:blipFill>
          <a:blip r:embed="rId2"/>
          <a:srcRect l="15" r="15"/>
          <a:stretch>
            <a:fillRect/>
          </a:stretch>
        </p:blipFill>
        <p:spPr>
          <a:xfrm>
            <a:off x="8382000" y="0"/>
            <a:ext cx="3810000" cy="2387600"/>
          </a:xfrm>
          <a:prstGeom prst="rect">
            <a:avLst/>
          </a:prstGeom>
          <a:ln>
            <a:noFill/>
          </a:ln>
        </p:spPr>
      </p:pic>
      <p:pic>
        <p:nvPicPr>
          <p:cNvPr id="3" name="logo"/>
          <p:cNvPicPr/>
          <p:nvPr/>
        </p:nvPicPr>
        <p:blipFill>
          <a:blip r:embed="rId3"/>
          <a:srcRect l="-379" r="-379"/>
          <a:stretch>
            <a:fillRect/>
          </a:stretch>
        </p:blipFill>
        <p:spPr>
          <a:xfrm>
            <a:off x="762000" y="609600"/>
            <a:ext cx="2286000" cy="825500"/>
          </a:xfrm>
          <a:prstGeom prst="rect">
            <a:avLst/>
          </a:prstGeom>
          <a:ln>
            <a:noFill/>
          </a:ln>
        </p:spPr>
      </p:pic>
      <p:sp>
        <p:nvSpPr>
          <p:cNvPr id="4" name="accent-bar"/>
          <p:cNvSpPr/>
          <p:nvPr/>
        </p:nvSpPr>
        <p:spPr>
          <a:xfrm>
            <a:off x="787400" y="2768600"/>
            <a:ext cx="584200" cy="762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5" name="title"/>
          <p:cNvSpPr txBox="1"/>
          <p:nvPr/>
        </p:nvSpPr>
        <p:spPr>
          <a:xfrm>
            <a:off x="762000" y="3022600"/>
            <a:ext cx="81280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15000"/>
              </a:lnSpc>
            </a:pPr>
            <a:r>
              <a:rPr lang="en-US" sz="4200" b="1">
                <a:solidFill>
                  <a:srgbClr val="000000"/>
                </a:solidFill>
                <a:latin typeface="MiSans"/>
                <a:ea typeface="MiSans"/>
              </a:rPr>
              <a:t>Быстрый старт</a:t>
            </a:r>
            <a:endParaRPr lang="en-US" sz="4200"/>
          </a:p>
        </p:txBody>
      </p:sp>
      <p:sp>
        <p:nvSpPr>
          <p:cNvPr id="6" name="subtitle"/>
          <p:cNvSpPr txBox="1"/>
          <p:nvPr/>
        </p:nvSpPr>
        <p:spPr>
          <a:xfrm>
            <a:off x="762000" y="3911600"/>
            <a:ext cx="7112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0000"/>
              </a:lnSpc>
            </a:pPr>
            <a:r>
              <a:rPr lang="en-US" sz="1700">
                <a:solidFill>
                  <a:srgbClr val="4E4E4E"/>
                </a:solidFill>
                <a:latin typeface="MiSans"/>
                <a:ea typeface="MiSans"/>
              </a:rPr>
              <a:t>Калькулятор снеготаяния РЕХАУ: как пройти путь от нового проекта до готового отчёта PDF</a:t>
            </a:r>
            <a:endParaRPr lang="en-US" sz="1700"/>
          </a:p>
        </p:txBody>
      </p:sp>
      <p:pic>
        <p:nvPicPr>
          <p:cNvPr id="7" name="squares-br"/>
          <p:cNvPicPr/>
          <p:nvPr/>
        </p:nvPicPr>
        <p:blipFill>
          <a:blip r:embed="rId4"/>
          <a:srcRect l="-36" r="-36"/>
          <a:stretch>
            <a:fillRect/>
          </a:stretch>
        </p:blipFill>
        <p:spPr>
          <a:xfrm>
            <a:off x="10871200" y="5080000"/>
            <a:ext cx="711200" cy="1168400"/>
          </a:xfrm>
          <a:prstGeom prst="rect">
            <a:avLst/>
          </a:prstGeom>
          <a:ln>
            <a:noFill/>
          </a:ln>
        </p:spPr>
      </p:pic>
      <p:sp>
        <p:nvSpPr>
          <p:cNvPr id="8" name="slogan"/>
          <p:cNvSpPr txBox="1"/>
          <p:nvPr/>
        </p:nvSpPr>
        <p:spPr>
          <a:xfrm>
            <a:off x="762000" y="60706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818181"/>
                </a:solidFill>
                <a:latin typeface="MiSans"/>
                <a:ea typeface="MiSans"/>
              </a:rPr>
              <a:t>Решения для дома и бизнеса</a:t>
            </a:r>
            <a:endParaRPr lang="en-US" sz="1300"/>
          </a:p>
        </p:txBody>
      </p:sp>
      <p:sp>
        <p:nvSpPr>
          <p:cNvPr id="9" name="meta"/>
          <p:cNvSpPr txBox="1"/>
          <p:nvPr/>
        </p:nvSpPr>
        <p:spPr>
          <a:xfrm>
            <a:off x="5842000" y="6070600"/>
            <a:ext cx="5588000" cy="279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1200">
                <a:solidFill>
                  <a:srgbClr val="B0B0B0"/>
                </a:solidFill>
                <a:latin typeface="MiSans"/>
                <a:ea typeface="MiSans"/>
              </a:rPr>
              <a:t>Обучающая презентация для пользователей · v1.0 · 2026</a:t>
            </a:r>
            <a:endParaRPr lang="en-US" sz="1200"/>
          </a:p>
        </p:txBody>
      </p:sp>
    </p:spTree>
  </p:cSld>
  <p:clrMapOvr>
    <a:masterClrMapping/>
  </p:clrMapOvr>
  <p:transition spd="fast" advClick="1">
    <p:checker dir="horz"/>
  </p:transition>
</p:sld>
</file>

<file path=ppt/slides/slide2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762000" y="5080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200" b="1" spc="200" kern="0">
                <a:solidFill>
                  <a:srgbClr val="E50040"/>
                </a:solidFill>
                <a:latin typeface="MiSans"/>
                <a:ea typeface="MiSans"/>
              </a:rPr>
              <a:t>УСТАНОВКА</a:t>
            </a:r>
            <a:endParaRPr lang="en-US" sz="1200"/>
          </a:p>
        </p:txBody>
      </p:sp>
      <p:sp>
        <p:nvSpPr>
          <p:cNvPr id="3" name="title"/>
          <p:cNvSpPr txBox="1"/>
          <p:nvPr/>
        </p:nvSpPr>
        <p:spPr>
          <a:xfrm>
            <a:off x="762000" y="762000"/>
            <a:ext cx="889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3000" b="1">
                <a:solidFill>
                  <a:srgbClr val="000000"/>
                </a:solidFill>
                <a:latin typeface="MiSans"/>
                <a:ea typeface="MiSans"/>
              </a:rPr>
              <a:t>Три шага до первого запуска</a:t>
            </a:r>
            <a:endParaRPr lang="en-US" sz="3000"/>
          </a:p>
        </p:txBody>
      </p:sp>
      <p:sp>
        <p:nvSpPr>
          <p:cNvPr id="4" name="title-bar"/>
          <p:cNvSpPr/>
          <p:nvPr/>
        </p:nvSpPr>
        <p:spPr>
          <a:xfrm>
            <a:off x="787400" y="1422400"/>
            <a:ext cx="584200" cy="635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5" name="req-card"/>
          <p:cNvSpPr/>
          <p:nvPr/>
        </p:nvSpPr>
        <p:spPr>
          <a:xfrm>
            <a:off x="762000" y="1905000"/>
            <a:ext cx="3810000" cy="38100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>
            <a:noFill/>
          </a:ln>
        </p:spPr>
      </p:sp>
      <p:sp>
        <p:nvSpPr>
          <p:cNvPr id="6" name="req-title"/>
          <p:cNvSpPr txBox="1"/>
          <p:nvPr/>
        </p:nvSpPr>
        <p:spPr>
          <a:xfrm>
            <a:off x="1066800" y="2184400"/>
            <a:ext cx="3175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FFFFFF"/>
                </a:solidFill>
                <a:latin typeface="MiSans"/>
                <a:ea typeface="MiSans"/>
              </a:rPr>
              <a:t>Системные требования</a:t>
            </a:r>
            <a:endParaRPr lang="en-US" sz="1600"/>
          </a:p>
        </p:txBody>
      </p:sp>
      <p:sp>
        <p:nvSpPr>
          <p:cNvPr id="7" name="req-body"/>
          <p:cNvSpPr txBox="1"/>
          <p:nvPr/>
        </p:nvSpPr>
        <p:spPr>
          <a:xfrm>
            <a:off x="1066800" y="2667000"/>
            <a:ext cx="3200400" cy="279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5000"/>
              </a:lnSpc>
            </a:pPr>
            <a:r>
              <a:rPr lang="en-US" sz="1300" b="1">
                <a:solidFill>
                  <a:srgbClr val="D9D9D9"/>
                </a:solidFill>
                <a:latin typeface="MiSans"/>
                <a:ea typeface="MiSans"/>
              </a:rPr>
              <a:t>ОС:</a:t>
            </a:r>
            <a:r>
              <a:rPr lang="en-US" sz="1300">
                <a:solidFill>
                  <a:srgbClr val="D9D9D9"/>
                </a:solidFill>
                <a:latin typeface="MiSans"/>
                <a:ea typeface="MiSans"/>
              </a:rPr>
              <a:t> Windows 10 / 11 (x64)</a:t>
            </a:r>
            <a:endParaRPr lang="en-US" sz="130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300" b="1">
                <a:solidFill>
                  <a:srgbClr val="D9D9D9"/>
                </a:solidFill>
                <a:latin typeface="MiSans"/>
                <a:ea typeface="MiSans"/>
              </a:rPr>
              <a:t>Платформа:</a:t>
            </a:r>
            <a:r>
              <a:rPr lang="en-US" sz="1300">
                <a:solidFill>
                  <a:srgbClr val="D9D9D9"/>
                </a:solidFill>
                <a:latin typeface="MiSans"/>
                <a:ea typeface="MiSans"/>
              </a:rPr>
              <a:t> .NET 8 — уже входит в установщик, отдельно не нужна</a:t>
            </a:r>
            <a:endParaRPr lang="en-US" sz="130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300" b="1">
                <a:solidFill>
                  <a:srgbClr val="D9D9D9"/>
                </a:solidFill>
                <a:latin typeface="MiSans"/>
                <a:ea typeface="MiSans"/>
              </a:rPr>
              <a:t>Экран:</a:t>
            </a:r>
            <a:r>
              <a:rPr lang="en-US" sz="1300">
                <a:solidFill>
                  <a:srgbClr val="D9D9D9"/>
                </a:solidFill>
                <a:latin typeface="MiSans"/>
                <a:ea typeface="MiSans"/>
              </a:rPr>
              <a:t> от 1280×1024, лучше 1920×1080</a:t>
            </a:r>
            <a:endParaRPr lang="en-US" sz="1300"/>
          </a:p>
        </p:txBody>
      </p:sp>
      <p:sp>
        <p:nvSpPr>
          <p:cNvPr id="8" name="step-mark-1"/>
          <p:cNvSpPr/>
          <p:nvPr/>
        </p:nvSpPr>
        <p:spPr>
          <a:xfrm>
            <a:off x="5080000" y="2006600"/>
            <a:ext cx="381000" cy="381000"/>
          </a:xfrm>
          <a:prstGeom prst="ellipse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9" name="step-num-1"/>
          <p:cNvSpPr txBox="1"/>
          <p:nvPr/>
        </p:nvSpPr>
        <p:spPr>
          <a:xfrm>
            <a:off x="5080000" y="20066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1</a:t>
            </a:r>
            <a:endParaRPr lang="en-US" sz="1500"/>
          </a:p>
        </p:txBody>
      </p:sp>
      <p:sp>
        <p:nvSpPr>
          <p:cNvPr id="10" name="step-text-1"/>
          <p:cNvSpPr txBox="1"/>
          <p:nvPr/>
        </p:nvSpPr>
        <p:spPr>
          <a:xfrm>
            <a:off x="5664200" y="1905000"/>
            <a:ext cx="60198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400" b="1">
                <a:solidFill>
                  <a:srgbClr val="4E4E4E"/>
                </a:solidFill>
                <a:latin typeface="MiSans"/>
                <a:ea typeface="MiSans"/>
              </a:rPr>
              <a:t>Запустите установщик</a:t>
            </a:r>
            <a:r>
              <a:rPr lang="en-US" sz="1400">
                <a:solidFill>
                  <a:srgbClr val="4E4E4E"/>
                </a:solidFill>
                <a:latin typeface="MiSans"/>
                <a:ea typeface="MiSans"/>
              </a:rPr>
              <a:t> — файл SnowMeltingCalculator-v1.1-Setup.exe из полученного пакета</a:t>
            </a:r>
            <a:endParaRPr lang="en-US" sz="1400"/>
          </a:p>
        </p:txBody>
      </p:sp>
      <p:sp>
        <p:nvSpPr>
          <p:cNvPr id="11" name="step-mark-2"/>
          <p:cNvSpPr/>
          <p:nvPr/>
        </p:nvSpPr>
        <p:spPr>
          <a:xfrm>
            <a:off x="5080000" y="3022600"/>
            <a:ext cx="381000" cy="381000"/>
          </a:xfrm>
          <a:prstGeom prst="ellipse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12" name="step-num-2"/>
          <p:cNvSpPr txBox="1"/>
          <p:nvPr/>
        </p:nvSpPr>
        <p:spPr>
          <a:xfrm>
            <a:off x="5080000" y="30226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2</a:t>
            </a:r>
            <a:endParaRPr lang="en-US" sz="1500"/>
          </a:p>
        </p:txBody>
      </p:sp>
      <p:sp>
        <p:nvSpPr>
          <p:cNvPr id="13" name="step-text-2"/>
          <p:cNvSpPr txBox="1"/>
          <p:nvPr/>
        </p:nvSpPr>
        <p:spPr>
          <a:xfrm>
            <a:off x="5664200" y="2921000"/>
            <a:ext cx="60198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400" b="1">
                <a:solidFill>
                  <a:srgbClr val="4E4E4E"/>
                </a:solidFill>
                <a:latin typeface="MiSans"/>
                <a:ea typeface="MiSans"/>
              </a:rPr>
              <a:t>Следуйте мастеру установки</a:t>
            </a:r>
            <a:r>
              <a:rPr lang="en-US" sz="1400">
                <a:solidFill>
                  <a:srgbClr val="4E4E4E"/>
                </a:solidFill>
                <a:latin typeface="MiSans"/>
                <a:ea typeface="MiSans"/>
              </a:rPr>
              <a:t> — ярлык появится в меню «Пуск» (папка REHAU), при желании — на рабочем столе</a:t>
            </a:r>
            <a:endParaRPr lang="en-US" sz="1400"/>
          </a:p>
        </p:txBody>
      </p:sp>
      <p:sp>
        <p:nvSpPr>
          <p:cNvPr id="14" name="step-mark-3"/>
          <p:cNvSpPr/>
          <p:nvPr/>
        </p:nvSpPr>
        <p:spPr>
          <a:xfrm>
            <a:off x="5080000" y="4038600"/>
            <a:ext cx="381000" cy="381000"/>
          </a:xfrm>
          <a:prstGeom prst="ellipse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15" name="step-num-3"/>
          <p:cNvSpPr txBox="1"/>
          <p:nvPr/>
        </p:nvSpPr>
        <p:spPr>
          <a:xfrm>
            <a:off x="5080000" y="4038600"/>
            <a:ext cx="381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500" b="1">
                <a:solidFill>
                  <a:srgbClr val="000000"/>
                </a:solidFill>
                <a:latin typeface="MiSans"/>
                <a:ea typeface="MiSans"/>
              </a:rPr>
              <a:t>3</a:t>
            </a:r>
            <a:endParaRPr lang="en-US" sz="1500"/>
          </a:p>
        </p:txBody>
      </p:sp>
      <p:sp>
        <p:nvSpPr>
          <p:cNvPr id="16" name="step-text-3"/>
          <p:cNvSpPr txBox="1"/>
          <p:nvPr/>
        </p:nvSpPr>
        <p:spPr>
          <a:xfrm>
            <a:off x="5664200" y="3937000"/>
            <a:ext cx="60198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400" b="1">
                <a:solidFill>
                  <a:srgbClr val="4E4E4E"/>
                </a:solidFill>
                <a:latin typeface="MiSans"/>
                <a:ea typeface="MiSans"/>
              </a:rPr>
              <a:t>Запустите программу</a:t>
            </a:r>
            <a:r>
              <a:rPr lang="en-US" sz="1400">
                <a:solidFill>
                  <a:srgbClr val="4E4E4E"/>
                </a:solidFill>
                <a:latin typeface="MiSans"/>
                <a:ea typeface="MiSans"/>
              </a:rPr>
              <a:t> — из меню «Пуск»; при первом запуске она сама проверит базу свойств гликолей и откроется на шаге «Климат»</a:t>
            </a:r>
            <a:endParaRPr lang="en-US" sz="1400"/>
          </a:p>
        </p:txBody>
      </p:sp>
      <p:sp>
        <p:nvSpPr>
          <p:cNvPr id="17" name="note-bar"/>
          <p:cNvSpPr/>
          <p:nvPr/>
        </p:nvSpPr>
        <p:spPr>
          <a:xfrm>
            <a:off x="5080000" y="5080000"/>
            <a:ext cx="6604000" cy="63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D9D9D9"/>
            </a:solidFill>
          </a:ln>
        </p:spPr>
      </p:sp>
      <p:sp>
        <p:nvSpPr>
          <p:cNvPr id="18" name="note-text"/>
          <p:cNvSpPr txBox="1"/>
          <p:nvPr/>
        </p:nvSpPr>
        <p:spPr>
          <a:xfrm>
            <a:off x="5334000" y="5080000"/>
            <a:ext cx="6096000" cy="635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После установки файлы проектов </a:t>
            </a: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.smc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открываются двойным кликом — расширение ассоциировано с программой</a:t>
            </a:r>
            <a:endParaRPr lang="en-US" sz="1300"/>
          </a:p>
        </p:txBody>
      </p:sp>
      <p:pic>
        <p:nvPicPr>
          <p:cNvPr id="19" name="footer-logo"/>
          <p:cNvPicPr/>
          <p:nvPr/>
        </p:nvPicPr>
        <p:blipFill>
          <a:blip r:embed="rId2"/>
          <a:srcRect t="-84" b="-84"/>
          <a:stretch>
            <a:fillRect/>
          </a:stretch>
        </p:blipFill>
        <p:spPr>
          <a:xfrm>
            <a:off x="11074400" y="6350000"/>
            <a:ext cx="304800" cy="317500"/>
          </a:xfrm>
          <a:prstGeom prst="rect">
            <a:avLst/>
          </a:prstGeom>
          <a:ln>
            <a:noFill/>
          </a:ln>
        </p:spPr>
      </p:pic>
      <p:sp>
        <p:nvSpPr>
          <p:cNvPr id="20" name="page-num"/>
          <p:cNvSpPr txBox="1"/>
          <p:nvPr/>
        </p:nvSpPr>
        <p:spPr>
          <a:xfrm>
            <a:off x="11430000" y="6375400"/>
            <a:ext cx="304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818181"/>
                </a:solidFill>
                <a:latin typeface="MiSans"/>
                <a:ea typeface="MiSans"/>
              </a:rPr>
              <a:t>02</a:t>
            </a:r>
            <a:endParaRPr lang="en-US" sz="1100"/>
          </a:p>
        </p:txBody>
      </p:sp>
    </p:spTree>
  </p:cSld>
  <p:clrMapOvr>
    <a:masterClrMapping/>
  </p:clrMapOvr>
  <p:transition spd="fast" advClick="1">
    <p:checker dir="horz"/>
  </p:transition>
</p:sld>
</file>

<file path=ppt/slides/slide3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762000" y="5080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200" b="1" spc="200" kern="0">
                <a:solidFill>
                  <a:srgbClr val="E50040"/>
                </a:solidFill>
                <a:latin typeface="MiSans"/>
                <a:ea typeface="MiSans"/>
              </a:rPr>
              <a:t>ИНТЕРФЕЙС</a:t>
            </a:r>
            <a:endParaRPr lang="en-US" sz="1200"/>
          </a:p>
        </p:txBody>
      </p:sp>
      <p:sp>
        <p:nvSpPr>
          <p:cNvPr id="3" name="title"/>
          <p:cNvSpPr txBox="1"/>
          <p:nvPr/>
        </p:nvSpPr>
        <p:spPr>
          <a:xfrm>
            <a:off x="762000" y="762000"/>
            <a:ext cx="889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3000" b="1">
                <a:solidFill>
                  <a:srgbClr val="000000"/>
                </a:solidFill>
                <a:latin typeface="MiSans"/>
                <a:ea typeface="MiSans"/>
              </a:rPr>
              <a:t>Главное окно: три зоны</a:t>
            </a:r>
            <a:endParaRPr lang="en-US" sz="3000"/>
          </a:p>
        </p:txBody>
      </p:sp>
      <p:sp>
        <p:nvSpPr>
          <p:cNvPr id="4" name="title-bar"/>
          <p:cNvSpPr/>
          <p:nvPr/>
        </p:nvSpPr>
        <p:spPr>
          <a:xfrm>
            <a:off x="787400" y="1422400"/>
            <a:ext cx="584200" cy="635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5" name="zone-mark-1"/>
          <p:cNvSpPr/>
          <p:nvPr/>
        </p:nvSpPr>
        <p:spPr>
          <a:xfrm>
            <a:off x="787400" y="1879600"/>
            <a:ext cx="114300" cy="1143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6" name="zone-1"/>
          <p:cNvSpPr txBox="1"/>
          <p:nvPr/>
        </p:nvSpPr>
        <p:spPr>
          <a:xfrm>
            <a:off x="1066800" y="1803400"/>
            <a:ext cx="35560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Заголовок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— имя текущего шага, кнопки «Назад» / «Далее»</a:t>
            </a:r>
            <a:endParaRPr lang="en-US" sz="1300"/>
          </a:p>
        </p:txBody>
      </p:sp>
      <p:sp>
        <p:nvSpPr>
          <p:cNvPr id="7" name="zone-mark-2"/>
          <p:cNvSpPr/>
          <p:nvPr/>
        </p:nvSpPr>
        <p:spPr>
          <a:xfrm>
            <a:off x="787400" y="2616200"/>
            <a:ext cx="114300" cy="1143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8" name="zone-2"/>
          <p:cNvSpPr txBox="1"/>
          <p:nvPr/>
        </p:nvSpPr>
        <p:spPr>
          <a:xfrm>
            <a:off x="1066800" y="2540000"/>
            <a:ext cx="35560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Панель шагов слева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— Климат → Конструкция → Тепловой → Гидравлика → Результаты</a:t>
            </a:r>
            <a:endParaRPr lang="en-US" sz="1300"/>
          </a:p>
        </p:txBody>
      </p:sp>
      <p:sp>
        <p:nvSpPr>
          <p:cNvPr id="9" name="zone-mark-3"/>
          <p:cNvSpPr/>
          <p:nvPr/>
        </p:nvSpPr>
        <p:spPr>
          <a:xfrm>
            <a:off x="787400" y="3352800"/>
            <a:ext cx="114300" cy="1143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10" name="zone-3"/>
          <p:cNvSpPr txBox="1"/>
          <p:nvPr/>
        </p:nvSpPr>
        <p:spPr>
          <a:xfrm>
            <a:off x="1066800" y="3276600"/>
            <a:ext cx="35560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Рабочая область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— формы и таблицы текущего шага</a:t>
            </a:r>
            <a:endParaRPr lang="en-US" sz="1300"/>
          </a:p>
        </p:txBody>
      </p:sp>
      <p:sp>
        <p:nvSpPr>
          <p:cNvPr id="11" name="zone-mark-4"/>
          <p:cNvSpPr/>
          <p:nvPr/>
        </p:nvSpPr>
        <p:spPr>
          <a:xfrm>
            <a:off x="787400" y="4089400"/>
            <a:ext cx="114300" cy="1143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12" name="zone-4"/>
          <p:cNvSpPr txBox="1"/>
          <p:nvPr/>
        </p:nvSpPr>
        <p:spPr>
          <a:xfrm>
            <a:off x="1066800" y="4013200"/>
            <a:ext cx="3556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Бейджи состояния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— зелёный: данные актуальны; красный: нужен пересчёт</a:t>
            </a:r>
            <a:endParaRPr lang="en-US" sz="1300"/>
          </a:p>
        </p:txBody>
      </p:sp>
      <p:sp>
        <p:nvSpPr>
          <p:cNvPr id="13" name="zone-tip"/>
          <p:cNvSpPr txBox="1"/>
          <p:nvPr/>
        </p:nvSpPr>
        <p:spPr>
          <a:xfrm>
            <a:off x="762000" y="5080000"/>
            <a:ext cx="3810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0000"/>
              </a:lnSpc>
            </a:pPr>
            <a:r>
              <a:rPr lang="en-US" sz="1200">
                <a:solidFill>
                  <a:srgbClr val="818181"/>
                </a:solidFill>
                <a:latin typeface="MiSans"/>
                <a:ea typeface="MiSans"/>
              </a:rPr>
              <a:t>Совет: по шагам можно ходить в любую сторону — кликом по названию в панели или кнопками «Назад» / «Далее»</a:t>
            </a:r>
            <a:endParaRPr lang="en-US" sz="1200"/>
          </a:p>
        </p:txBody>
      </p:sp>
      <p:pic>
        <p:nvPicPr>
          <p:cNvPr id="14" name="screen"/>
          <p:cNvPicPr/>
          <p:nvPr/>
        </p:nvPicPr>
        <p:blipFill>
          <a:blip r:embed="rId2"/>
          <a:srcRect t="110" b="110"/>
          <a:stretch>
            <a:fillRect/>
          </a:stretch>
        </p:blipFill>
        <p:spPr>
          <a:xfrm>
            <a:off x="4953000" y="1778000"/>
            <a:ext cx="6731000" cy="3670300"/>
          </a:xfrm>
          <a:prstGeom prst="rect">
            <a:avLst/>
          </a:prstGeom>
          <a:ln>
            <a:noFill/>
          </a:ln>
          <a:effectLst>
            <a:outerShdw blurRad="152400" dist="50800" dir="5400000" sx="100000" sy="100000" kx="0" ky="0" algn="bl" rotWithShape="0">
              <a:srgbClr val="000000">
                <a:alpha val="14902"/>
              </a:srgbClr>
            </a:outerShdw>
          </a:effectLst>
        </p:spPr>
      </p:pic>
      <p:sp>
        <p:nvSpPr>
          <p:cNvPr id="15" name="screen-border"/>
          <p:cNvSpPr/>
          <p:nvPr/>
        </p:nvSpPr>
        <p:spPr>
          <a:xfrm>
            <a:off x="4953000" y="1778000"/>
            <a:ext cx="6731000" cy="3670300"/>
          </a:xfrm>
          <a:prstGeom prst="rect">
            <a:avLst/>
          </a:prstGeom>
          <a:noFill/>
          <a:ln w="12700">
            <a:solidFill>
              <a:srgbClr val="D9D9D9"/>
            </a:solidFill>
          </a:ln>
        </p:spPr>
      </p:sp>
      <p:sp>
        <p:nvSpPr>
          <p:cNvPr id="16" name="screen-caption"/>
          <p:cNvSpPr txBox="1"/>
          <p:nvPr/>
        </p:nvSpPr>
        <p:spPr>
          <a:xfrm>
            <a:off x="4953000" y="5588000"/>
            <a:ext cx="6731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818181"/>
                </a:solidFill>
                <a:latin typeface="MiSans"/>
                <a:ea typeface="MiSans"/>
              </a:rPr>
              <a:t>Главное окно программы — шаг «Климатические данные»</a:t>
            </a:r>
            <a:endParaRPr lang="en-US" sz="1100"/>
          </a:p>
        </p:txBody>
      </p:sp>
      <p:pic>
        <p:nvPicPr>
          <p:cNvPr id="17" name="footer-logo"/>
          <p:cNvPicPr/>
          <p:nvPr/>
        </p:nvPicPr>
        <p:blipFill>
          <a:blip r:embed="rId3"/>
          <a:srcRect t="-84" b="-84"/>
          <a:stretch>
            <a:fillRect/>
          </a:stretch>
        </p:blipFill>
        <p:spPr>
          <a:xfrm>
            <a:off x="11074400" y="6350000"/>
            <a:ext cx="304800" cy="317500"/>
          </a:xfrm>
          <a:prstGeom prst="rect">
            <a:avLst/>
          </a:prstGeom>
          <a:ln>
            <a:noFill/>
          </a:ln>
        </p:spPr>
      </p:pic>
      <p:sp>
        <p:nvSpPr>
          <p:cNvPr id="18" name="page-num"/>
          <p:cNvSpPr txBox="1"/>
          <p:nvPr/>
        </p:nvSpPr>
        <p:spPr>
          <a:xfrm>
            <a:off x="11430000" y="6375400"/>
            <a:ext cx="304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818181"/>
                </a:solidFill>
                <a:latin typeface="MiSans"/>
                <a:ea typeface="MiSans"/>
              </a:rPr>
              <a:t>03</a:t>
            </a:r>
            <a:endParaRPr lang="en-US" sz="1100"/>
          </a:p>
        </p:txBody>
      </p:sp>
    </p:spTree>
  </p:cSld>
  <p:clrMapOvr>
    <a:masterClrMapping/>
  </p:clrMapOvr>
  <p:transition spd="fast" advClick="1">
    <p:checker dir="horz"/>
  </p:transition>
</p:sld>
</file>

<file path=ppt/slides/slide4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762000" y="5080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200" b="1" spc="200" kern="0">
                <a:solidFill>
                  <a:srgbClr val="E50040"/>
                </a:solidFill>
                <a:latin typeface="MiSans"/>
                <a:ea typeface="MiSans"/>
              </a:rPr>
              <a:t>ШАГ 1 · КЛИМАТ</a:t>
            </a:r>
            <a:endParaRPr lang="en-US" sz="1200"/>
          </a:p>
        </p:txBody>
      </p:sp>
      <p:sp>
        <p:nvSpPr>
          <p:cNvPr id="3" name="title"/>
          <p:cNvSpPr txBox="1"/>
          <p:nvPr/>
        </p:nvSpPr>
        <p:spPr>
          <a:xfrm>
            <a:off x="762000" y="762000"/>
            <a:ext cx="889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3000" b="1">
                <a:solidFill>
                  <a:srgbClr val="000000"/>
                </a:solidFill>
                <a:latin typeface="MiSans"/>
                <a:ea typeface="MiSans"/>
              </a:rPr>
              <a:t>Задайте климат объекта</a:t>
            </a:r>
            <a:endParaRPr lang="en-US" sz="3000"/>
          </a:p>
        </p:txBody>
      </p:sp>
      <p:sp>
        <p:nvSpPr>
          <p:cNvPr id="4" name="title-bar"/>
          <p:cNvSpPr/>
          <p:nvPr/>
        </p:nvSpPr>
        <p:spPr>
          <a:xfrm>
            <a:off x="787400" y="1422400"/>
            <a:ext cx="584200" cy="635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5" name="bullet-mark-1"/>
          <p:cNvSpPr/>
          <p:nvPr/>
        </p:nvSpPr>
        <p:spPr>
          <a:xfrm>
            <a:off x="787400" y="1879600"/>
            <a:ext cx="114300" cy="1143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6" name="bullet-1"/>
          <p:cNvSpPr txBox="1"/>
          <p:nvPr/>
        </p:nvSpPr>
        <p:spPr>
          <a:xfrm>
            <a:off x="1066800" y="1803400"/>
            <a:ext cx="37465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Начните вводить город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— подсказка найдёт его в базе 550 городов РФ</a:t>
            </a:r>
            <a:endParaRPr lang="en-US" sz="1300"/>
          </a:p>
        </p:txBody>
      </p:sp>
      <p:sp>
        <p:nvSpPr>
          <p:cNvPr id="7" name="bullet-mark-2"/>
          <p:cNvSpPr/>
          <p:nvPr/>
        </p:nvSpPr>
        <p:spPr>
          <a:xfrm>
            <a:off x="787400" y="2616200"/>
            <a:ext cx="114300" cy="1143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8" name="bullet-2"/>
          <p:cNvSpPr txBox="1"/>
          <p:nvPr/>
        </p:nvSpPr>
        <p:spPr>
          <a:xfrm>
            <a:off x="1066800" y="2540000"/>
            <a:ext cx="37465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Проверьте расчётную температуру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— программа выберет её автоматически (−10 / −15 / −20 °C)</a:t>
            </a:r>
            <a:endParaRPr lang="en-US" sz="1300"/>
          </a:p>
        </p:txBody>
      </p:sp>
      <p:sp>
        <p:nvSpPr>
          <p:cNvPr id="9" name="bullet-mark-3"/>
          <p:cNvSpPr/>
          <p:nvPr/>
        </p:nvSpPr>
        <p:spPr>
          <a:xfrm>
            <a:off x="787400" y="3352800"/>
            <a:ext cx="114300" cy="1143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10" name="bullet-3"/>
          <p:cNvSpPr txBox="1"/>
          <p:nvPr/>
        </p:nvSpPr>
        <p:spPr>
          <a:xfrm>
            <a:off x="1066800" y="3276600"/>
            <a:ext cx="37465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Введите снегопад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— в мм/ч по водяному эквиваленту: 1 мм/ч воды ≈ 1 см/ч снега</a:t>
            </a:r>
            <a:endParaRPr lang="en-US" sz="1300"/>
          </a:p>
        </p:txBody>
      </p:sp>
      <p:sp>
        <p:nvSpPr>
          <p:cNvPr id="11" name="bullet-mark-4"/>
          <p:cNvSpPr/>
          <p:nvPr/>
        </p:nvSpPr>
        <p:spPr>
          <a:xfrm>
            <a:off x="787400" y="4089400"/>
            <a:ext cx="114300" cy="1143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12" name="bullet-4"/>
          <p:cNvSpPr txBox="1"/>
          <p:nvPr/>
        </p:nvSpPr>
        <p:spPr>
          <a:xfrm>
            <a:off x="1066800" y="4013200"/>
            <a:ext cx="37465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Включите «Повышенные требования»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для ответственных объектов — расчёт пойдёт по −20 °C</a:t>
            </a:r>
            <a:endParaRPr lang="en-US" sz="1300"/>
          </a:p>
        </p:txBody>
      </p:sp>
      <p:sp>
        <p:nvSpPr>
          <p:cNvPr id="13" name="tip"/>
          <p:cNvSpPr txBox="1"/>
          <p:nvPr/>
        </p:nvSpPr>
        <p:spPr>
          <a:xfrm>
            <a:off x="762000" y="5054600"/>
            <a:ext cx="38735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0000"/>
              </a:lnSpc>
            </a:pPr>
            <a:r>
              <a:rPr lang="en-US" sz="1200">
                <a:solidFill>
                  <a:srgbClr val="818181"/>
                </a:solidFill>
                <a:latin typeface="MiSans"/>
                <a:ea typeface="MiSans"/>
              </a:rPr>
              <a:t>Допустимый диапазон температур: −50…+10 °C. Все поля можно поправить вручную, кнопка «Сбросить» вернёт данные города</a:t>
            </a:r>
            <a:endParaRPr lang="en-US" sz="1200"/>
          </a:p>
        </p:txBody>
      </p:sp>
      <p:pic>
        <p:nvPicPr>
          <p:cNvPr id="14" name="screen"/>
          <p:cNvPicPr/>
          <p:nvPr/>
        </p:nvPicPr>
        <p:blipFill>
          <a:blip r:embed="rId2"/>
          <a:srcRect t="110" b="110"/>
          <a:stretch>
            <a:fillRect/>
          </a:stretch>
        </p:blipFill>
        <p:spPr>
          <a:xfrm>
            <a:off x="4953000" y="1778000"/>
            <a:ext cx="6731000" cy="3670300"/>
          </a:xfrm>
          <a:prstGeom prst="rect">
            <a:avLst/>
          </a:prstGeom>
          <a:ln>
            <a:noFill/>
          </a:ln>
          <a:effectLst>
            <a:outerShdw blurRad="152400" dist="50800" dir="5400000" sx="100000" sy="100000" kx="0" ky="0" algn="bl" rotWithShape="0">
              <a:srgbClr val="000000">
                <a:alpha val="14902"/>
              </a:srgbClr>
            </a:outerShdw>
          </a:effectLst>
        </p:spPr>
      </p:pic>
      <p:sp>
        <p:nvSpPr>
          <p:cNvPr id="15" name="screen-border"/>
          <p:cNvSpPr/>
          <p:nvPr/>
        </p:nvSpPr>
        <p:spPr>
          <a:xfrm>
            <a:off x="4953000" y="1778000"/>
            <a:ext cx="6731000" cy="3670300"/>
          </a:xfrm>
          <a:prstGeom prst="rect">
            <a:avLst/>
          </a:prstGeom>
          <a:noFill/>
          <a:ln w="12700">
            <a:solidFill>
              <a:srgbClr val="D9D9D9"/>
            </a:solidFill>
          </a:ln>
        </p:spPr>
      </p:sp>
      <p:sp>
        <p:nvSpPr>
          <p:cNvPr id="16" name="screen-caption"/>
          <p:cNvSpPr txBox="1"/>
          <p:nvPr/>
        </p:nvSpPr>
        <p:spPr>
          <a:xfrm>
            <a:off x="4953000" y="5588000"/>
            <a:ext cx="6731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818181"/>
                </a:solidFill>
                <a:latin typeface="MiSans"/>
                <a:ea typeface="MiSans"/>
              </a:rPr>
              <a:t>Шаг «Климат» — выбор города с автоподстановкой</a:t>
            </a:r>
            <a:endParaRPr lang="en-US" sz="1100"/>
          </a:p>
        </p:txBody>
      </p:sp>
      <p:pic>
        <p:nvPicPr>
          <p:cNvPr id="17" name="footer-logo"/>
          <p:cNvPicPr/>
          <p:nvPr/>
        </p:nvPicPr>
        <p:blipFill>
          <a:blip r:embed="rId3"/>
          <a:srcRect t="-84" b="-84"/>
          <a:stretch>
            <a:fillRect/>
          </a:stretch>
        </p:blipFill>
        <p:spPr>
          <a:xfrm>
            <a:off x="11074400" y="6350000"/>
            <a:ext cx="304800" cy="317500"/>
          </a:xfrm>
          <a:prstGeom prst="rect">
            <a:avLst/>
          </a:prstGeom>
          <a:ln>
            <a:noFill/>
          </a:ln>
        </p:spPr>
      </p:pic>
      <p:sp>
        <p:nvSpPr>
          <p:cNvPr id="18" name="page-num"/>
          <p:cNvSpPr txBox="1"/>
          <p:nvPr/>
        </p:nvSpPr>
        <p:spPr>
          <a:xfrm>
            <a:off x="11430000" y="6375400"/>
            <a:ext cx="304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818181"/>
                </a:solidFill>
                <a:latin typeface="MiSans"/>
                <a:ea typeface="MiSans"/>
              </a:rPr>
              <a:t>04</a:t>
            </a:r>
            <a:endParaRPr lang="en-US" sz="1100"/>
          </a:p>
        </p:txBody>
      </p:sp>
    </p:spTree>
  </p:cSld>
  <p:clrMapOvr>
    <a:masterClrMapping/>
  </p:clrMapOvr>
  <p:transition spd="fast" advClick="1">
    <p:checker dir="horz"/>
  </p:transition>
</p:sld>
</file>

<file path=ppt/slides/slide5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762000" y="5080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200" b="1" spc="200" kern="0">
                <a:solidFill>
                  <a:srgbClr val="E50040"/>
                </a:solidFill>
                <a:latin typeface="MiSans"/>
                <a:ea typeface="MiSans"/>
              </a:rPr>
              <a:t>ШАГ 2 · КОНСТРУКЦИЯ</a:t>
            </a:r>
            <a:endParaRPr lang="en-US" sz="1200"/>
          </a:p>
        </p:txBody>
      </p:sp>
      <p:sp>
        <p:nvSpPr>
          <p:cNvPr id="3" name="title"/>
          <p:cNvSpPr txBox="1"/>
          <p:nvPr/>
        </p:nvSpPr>
        <p:spPr>
          <a:xfrm>
            <a:off x="762000" y="762000"/>
            <a:ext cx="889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3000" b="1">
                <a:solidFill>
                  <a:srgbClr val="000000"/>
                </a:solidFill>
                <a:latin typeface="MiSans"/>
                <a:ea typeface="MiSans"/>
              </a:rPr>
              <a:t>Соберите «пирог» покрытия</a:t>
            </a:r>
            <a:endParaRPr lang="en-US" sz="3000"/>
          </a:p>
        </p:txBody>
      </p:sp>
      <p:sp>
        <p:nvSpPr>
          <p:cNvPr id="4" name="title-bar"/>
          <p:cNvSpPr/>
          <p:nvPr/>
        </p:nvSpPr>
        <p:spPr>
          <a:xfrm>
            <a:off x="787400" y="1422400"/>
            <a:ext cx="584200" cy="635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5" name="bullet-mark-1"/>
          <p:cNvSpPr/>
          <p:nvPr/>
        </p:nvSpPr>
        <p:spPr>
          <a:xfrm>
            <a:off x="787400" y="1879600"/>
            <a:ext cx="114300" cy="1143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6" name="bullet-1"/>
          <p:cNvSpPr txBox="1"/>
          <p:nvPr/>
        </p:nvSpPr>
        <p:spPr>
          <a:xfrm>
            <a:off x="1066800" y="1803400"/>
            <a:ext cx="37465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Начните с шаблона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— 4 готовых: парковка, дорога, пешеходная зона, въезд/пандус</a:t>
            </a:r>
            <a:endParaRPr lang="en-US" sz="1300"/>
          </a:p>
        </p:txBody>
      </p:sp>
      <p:sp>
        <p:nvSpPr>
          <p:cNvPr id="7" name="bullet-mark-2"/>
          <p:cNvSpPr/>
          <p:nvPr/>
        </p:nvSpPr>
        <p:spPr>
          <a:xfrm>
            <a:off x="787400" y="2616200"/>
            <a:ext cx="114300" cy="1143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8" name="bullet-2"/>
          <p:cNvSpPr txBox="1"/>
          <p:nvPr/>
        </p:nvSpPr>
        <p:spPr>
          <a:xfrm>
            <a:off x="1066800" y="2540000"/>
            <a:ext cx="37465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Или соберите свои слои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— 15 материалов, толщина каждого 10–1000 мм</a:t>
            </a:r>
            <a:endParaRPr lang="en-US" sz="1300"/>
          </a:p>
        </p:txBody>
      </p:sp>
      <p:sp>
        <p:nvSpPr>
          <p:cNvPr id="9" name="bullet-mark-3"/>
          <p:cNvSpPr/>
          <p:nvPr/>
        </p:nvSpPr>
        <p:spPr>
          <a:xfrm>
            <a:off x="787400" y="3352800"/>
            <a:ext cx="114300" cy="1143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10" name="bullet-3"/>
          <p:cNvSpPr txBox="1"/>
          <p:nvPr/>
        </p:nvSpPr>
        <p:spPr>
          <a:xfrm>
            <a:off x="1066800" y="3276600"/>
            <a:ext cx="37465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Укажите УГВ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— при грунтовых водах выше 1 м λ слоёв под трубой меняется на «влажную»</a:t>
            </a:r>
            <a:endParaRPr lang="en-US" sz="1300"/>
          </a:p>
        </p:txBody>
      </p:sp>
      <p:sp>
        <p:nvSpPr>
          <p:cNvPr id="11" name="bullet-mark-4"/>
          <p:cNvSpPr/>
          <p:nvPr/>
        </p:nvSpPr>
        <p:spPr>
          <a:xfrm>
            <a:off x="787400" y="4089400"/>
            <a:ext cx="114300" cy="1143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12" name="bullet-4"/>
          <p:cNvSpPr txBox="1"/>
          <p:nvPr/>
        </p:nvSpPr>
        <p:spPr>
          <a:xfrm>
            <a:off x="1066800" y="4013200"/>
            <a:ext cx="37465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Следите за разрезом справа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— визуализация и значения R₁, R₂, λE пересчитываются сразу</a:t>
            </a:r>
            <a:endParaRPr lang="en-US" sz="1300"/>
          </a:p>
        </p:txBody>
      </p:sp>
      <p:sp>
        <p:nvSpPr>
          <p:cNvPr id="13" name="tip"/>
          <p:cNvSpPr txBox="1"/>
          <p:nvPr/>
        </p:nvSpPr>
        <p:spPr>
          <a:xfrm>
            <a:off x="762000" y="5054600"/>
            <a:ext cx="38735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0000"/>
              </a:lnSpc>
            </a:pPr>
            <a:r>
              <a:rPr lang="en-US" sz="1200">
                <a:solidFill>
                  <a:srgbClr val="818181"/>
                </a:solidFill>
                <a:latin typeface="MiSans"/>
                <a:ea typeface="MiSans"/>
              </a:rPr>
              <a:t>Помните: над трубой минимум 40 мм (без нагрузок) или 50 мм (с нагрузками). Для бетона t подачи не выше 50 °C</a:t>
            </a:r>
            <a:endParaRPr lang="en-US" sz="1200"/>
          </a:p>
        </p:txBody>
      </p:sp>
      <p:pic>
        <p:nvPicPr>
          <p:cNvPr id="14" name="screen"/>
          <p:cNvPicPr/>
          <p:nvPr/>
        </p:nvPicPr>
        <p:blipFill>
          <a:blip r:embed="rId2"/>
          <a:srcRect t="146" b="146"/>
          <a:stretch>
            <a:fillRect/>
          </a:stretch>
        </p:blipFill>
        <p:spPr>
          <a:xfrm>
            <a:off x="4953000" y="1778000"/>
            <a:ext cx="6731000" cy="3670300"/>
          </a:xfrm>
          <a:prstGeom prst="rect">
            <a:avLst/>
          </a:prstGeom>
          <a:ln>
            <a:noFill/>
          </a:ln>
          <a:effectLst>
            <a:outerShdw blurRad="152400" dist="50800" dir="5400000" sx="100000" sy="100000" kx="0" ky="0" algn="bl" rotWithShape="0">
              <a:srgbClr val="000000">
                <a:alpha val="14902"/>
              </a:srgbClr>
            </a:outerShdw>
          </a:effectLst>
        </p:spPr>
      </p:pic>
      <p:sp>
        <p:nvSpPr>
          <p:cNvPr id="15" name="screen-border"/>
          <p:cNvSpPr/>
          <p:nvPr/>
        </p:nvSpPr>
        <p:spPr>
          <a:xfrm>
            <a:off x="4953000" y="1778000"/>
            <a:ext cx="6731000" cy="3670300"/>
          </a:xfrm>
          <a:prstGeom prst="rect">
            <a:avLst/>
          </a:prstGeom>
          <a:noFill/>
          <a:ln w="12700">
            <a:solidFill>
              <a:srgbClr val="D9D9D9"/>
            </a:solidFill>
          </a:ln>
        </p:spPr>
      </p:sp>
      <p:sp>
        <p:nvSpPr>
          <p:cNvPr id="16" name="screen-caption"/>
          <p:cNvSpPr txBox="1"/>
          <p:nvPr/>
        </p:nvSpPr>
        <p:spPr>
          <a:xfrm>
            <a:off x="4953000" y="5588000"/>
            <a:ext cx="6731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818181"/>
                </a:solidFill>
                <a:latin typeface="MiSans"/>
                <a:ea typeface="MiSans"/>
              </a:rPr>
              <a:t>Шаг «Конструкция» — слои и живой разрез «пирога»</a:t>
            </a:r>
            <a:endParaRPr lang="en-US" sz="1100"/>
          </a:p>
        </p:txBody>
      </p:sp>
      <p:pic>
        <p:nvPicPr>
          <p:cNvPr id="17" name="footer-logo"/>
          <p:cNvPicPr/>
          <p:nvPr/>
        </p:nvPicPr>
        <p:blipFill>
          <a:blip r:embed="rId3"/>
          <a:srcRect t="-84" b="-84"/>
          <a:stretch>
            <a:fillRect/>
          </a:stretch>
        </p:blipFill>
        <p:spPr>
          <a:xfrm>
            <a:off x="11074400" y="6350000"/>
            <a:ext cx="304800" cy="317500"/>
          </a:xfrm>
          <a:prstGeom prst="rect">
            <a:avLst/>
          </a:prstGeom>
          <a:ln>
            <a:noFill/>
          </a:ln>
        </p:spPr>
      </p:pic>
      <p:sp>
        <p:nvSpPr>
          <p:cNvPr id="18" name="page-num"/>
          <p:cNvSpPr txBox="1"/>
          <p:nvPr/>
        </p:nvSpPr>
        <p:spPr>
          <a:xfrm>
            <a:off x="11430000" y="6375400"/>
            <a:ext cx="304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818181"/>
                </a:solidFill>
                <a:latin typeface="MiSans"/>
                <a:ea typeface="MiSans"/>
              </a:rPr>
              <a:t>05</a:t>
            </a:r>
            <a:endParaRPr lang="en-US" sz="1100"/>
          </a:p>
        </p:txBody>
      </p:sp>
    </p:spTree>
  </p:cSld>
  <p:clrMapOvr>
    <a:masterClrMapping/>
  </p:clrMapOvr>
  <p:transition spd="fast" advClick="1">
    <p:checker dir="horz"/>
  </p:transition>
</p:sld>
</file>

<file path=ppt/slides/slide6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762000" y="5080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200" b="1" spc="200" kern="0">
                <a:solidFill>
                  <a:srgbClr val="E50040"/>
                </a:solidFill>
                <a:latin typeface="MiSans"/>
                <a:ea typeface="MiSans"/>
              </a:rPr>
              <a:t>ШАГ 3 · ТЕПЛОВОЙ РАСЧЁТ</a:t>
            </a:r>
            <a:endParaRPr lang="en-US" sz="1200"/>
          </a:p>
        </p:txBody>
      </p:sp>
      <p:sp>
        <p:nvSpPr>
          <p:cNvPr id="3" name="title"/>
          <p:cNvSpPr txBox="1"/>
          <p:nvPr/>
        </p:nvSpPr>
        <p:spPr>
          <a:xfrm>
            <a:off x="762000" y="762000"/>
            <a:ext cx="889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3000" b="1">
                <a:solidFill>
                  <a:srgbClr val="000000"/>
                </a:solidFill>
                <a:latin typeface="MiSans"/>
                <a:ea typeface="MiSans"/>
              </a:rPr>
              <a:t>Подберите мощность</a:t>
            </a:r>
            <a:endParaRPr lang="en-US" sz="3000"/>
          </a:p>
        </p:txBody>
      </p:sp>
      <p:sp>
        <p:nvSpPr>
          <p:cNvPr id="4" name="title-bar"/>
          <p:cNvSpPr/>
          <p:nvPr/>
        </p:nvSpPr>
        <p:spPr>
          <a:xfrm>
            <a:off x="787400" y="1422400"/>
            <a:ext cx="584200" cy="635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5" name="bullet-mark-1"/>
          <p:cNvSpPr/>
          <p:nvPr/>
        </p:nvSpPr>
        <p:spPr>
          <a:xfrm>
            <a:off x="787400" y="1879600"/>
            <a:ext cx="114300" cy="1143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6" name="bullet-1"/>
          <p:cNvSpPr txBox="1"/>
          <p:nvPr/>
        </p:nvSpPr>
        <p:spPr>
          <a:xfrm>
            <a:off x="1066800" y="1803400"/>
            <a:ext cx="37465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Выберите режим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— Melting (таяние, поверхность +5 °C) для большинства объектов</a:t>
            </a:r>
            <a:endParaRPr lang="en-US" sz="1300"/>
          </a:p>
        </p:txBody>
      </p:sp>
      <p:sp>
        <p:nvSpPr>
          <p:cNvPr id="7" name="bullet-mark-2"/>
          <p:cNvSpPr/>
          <p:nvPr/>
        </p:nvSpPr>
        <p:spPr>
          <a:xfrm>
            <a:off x="787400" y="2616200"/>
            <a:ext cx="114300" cy="1143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8" name="bullet-2"/>
          <p:cNvSpPr txBox="1"/>
          <p:nvPr/>
        </p:nvSpPr>
        <p:spPr>
          <a:xfrm>
            <a:off x="1066800" y="2540000"/>
            <a:ext cx="37465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Выберите трубу и шаг укладки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— RAUTHERM S 17/20/25 мм, чем меньше шаг, тем выше мощность</a:t>
            </a:r>
            <a:endParaRPr lang="en-US" sz="1300"/>
          </a:p>
        </p:txBody>
      </p:sp>
      <p:sp>
        <p:nvSpPr>
          <p:cNvPr id="9" name="bullet-mark-3"/>
          <p:cNvSpPr/>
          <p:nvPr/>
        </p:nvSpPr>
        <p:spPr>
          <a:xfrm>
            <a:off x="787400" y="3352800"/>
            <a:ext cx="114300" cy="1143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10" name="bullet-3"/>
          <p:cNvSpPr txBox="1"/>
          <p:nvPr/>
        </p:nvSpPr>
        <p:spPr>
          <a:xfrm>
            <a:off x="1066800" y="3276600"/>
            <a:ext cx="37465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Нажмите «Рассчитать»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— увидите поток вверх q↑, вниз q↓ и суммарную мощность</a:t>
            </a:r>
            <a:endParaRPr lang="en-US" sz="1300"/>
          </a:p>
        </p:txBody>
      </p:sp>
      <p:sp>
        <p:nvSpPr>
          <p:cNvPr id="11" name="bullet-mark-4"/>
          <p:cNvSpPr/>
          <p:nvPr/>
        </p:nvSpPr>
        <p:spPr>
          <a:xfrm>
            <a:off x="787400" y="4089400"/>
            <a:ext cx="114300" cy="1143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12" name="bullet-4"/>
          <p:cNvSpPr txBox="1"/>
          <p:nvPr/>
        </p:nvSpPr>
        <p:spPr>
          <a:xfrm>
            <a:off x="1066800" y="4013200"/>
            <a:ext cx="37465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Сверьтесь с подсказкой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— программа рекомендует температуру подачи под ΔT = 15 K</a:t>
            </a:r>
            <a:endParaRPr lang="en-US" sz="1300"/>
          </a:p>
        </p:txBody>
      </p:sp>
      <p:sp>
        <p:nvSpPr>
          <p:cNvPr id="13" name="tip"/>
          <p:cNvSpPr txBox="1"/>
          <p:nvPr/>
        </p:nvSpPr>
        <p:spPr>
          <a:xfrm>
            <a:off x="762000" y="5054600"/>
            <a:ext cx="38735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0000"/>
              </a:lnSpc>
            </a:pPr>
            <a:r>
              <a:rPr lang="en-US" sz="1200">
                <a:solidFill>
                  <a:srgbClr val="818181"/>
                </a:solidFill>
                <a:latin typeface="MiSans"/>
                <a:ea typeface="MiSans"/>
              </a:rPr>
              <a:t>Ориентир: длина одного контура Ø20 не должна превышать 120 м — заложите это при разбивке на контуры</a:t>
            </a:r>
            <a:endParaRPr lang="en-US" sz="1200"/>
          </a:p>
        </p:txBody>
      </p:sp>
      <p:pic>
        <p:nvPicPr>
          <p:cNvPr id="14" name="screen"/>
          <p:cNvPicPr/>
          <p:nvPr/>
        </p:nvPicPr>
        <p:blipFill>
          <a:blip r:embed="rId2"/>
          <a:srcRect t="74" b="74"/>
          <a:stretch>
            <a:fillRect/>
          </a:stretch>
        </p:blipFill>
        <p:spPr>
          <a:xfrm>
            <a:off x="4953000" y="1778000"/>
            <a:ext cx="6731000" cy="3670300"/>
          </a:xfrm>
          <a:prstGeom prst="rect">
            <a:avLst/>
          </a:prstGeom>
          <a:ln>
            <a:noFill/>
          </a:ln>
          <a:effectLst>
            <a:outerShdw blurRad="152400" dist="50800" dir="5400000" sx="100000" sy="100000" kx="0" ky="0" algn="bl" rotWithShape="0">
              <a:srgbClr val="000000">
                <a:alpha val="14902"/>
              </a:srgbClr>
            </a:outerShdw>
          </a:effectLst>
        </p:spPr>
      </p:pic>
      <p:sp>
        <p:nvSpPr>
          <p:cNvPr id="15" name="screen-border"/>
          <p:cNvSpPr/>
          <p:nvPr/>
        </p:nvSpPr>
        <p:spPr>
          <a:xfrm>
            <a:off x="4953000" y="1778000"/>
            <a:ext cx="6731000" cy="3670300"/>
          </a:xfrm>
          <a:prstGeom prst="rect">
            <a:avLst/>
          </a:prstGeom>
          <a:noFill/>
          <a:ln w="12700">
            <a:solidFill>
              <a:srgbClr val="D9D9D9"/>
            </a:solidFill>
          </a:ln>
        </p:spPr>
      </p:sp>
      <p:sp>
        <p:nvSpPr>
          <p:cNvPr id="16" name="screen-caption"/>
          <p:cNvSpPr txBox="1"/>
          <p:nvPr/>
        </p:nvSpPr>
        <p:spPr>
          <a:xfrm>
            <a:off x="4953000" y="5588000"/>
            <a:ext cx="6731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818181"/>
                </a:solidFill>
                <a:latin typeface="MiSans"/>
                <a:ea typeface="MiSans"/>
              </a:rPr>
              <a:t>Шаг «Тепловой расчёт» — результаты после кнопки «Рассчитать»</a:t>
            </a:r>
            <a:endParaRPr lang="en-US" sz="1100"/>
          </a:p>
        </p:txBody>
      </p:sp>
      <p:pic>
        <p:nvPicPr>
          <p:cNvPr id="17" name="footer-logo"/>
          <p:cNvPicPr/>
          <p:nvPr/>
        </p:nvPicPr>
        <p:blipFill>
          <a:blip r:embed="rId3"/>
          <a:srcRect t="-84" b="-84"/>
          <a:stretch>
            <a:fillRect/>
          </a:stretch>
        </p:blipFill>
        <p:spPr>
          <a:xfrm>
            <a:off x="11074400" y="6350000"/>
            <a:ext cx="304800" cy="317500"/>
          </a:xfrm>
          <a:prstGeom prst="rect">
            <a:avLst/>
          </a:prstGeom>
          <a:ln>
            <a:noFill/>
          </a:ln>
        </p:spPr>
      </p:pic>
      <p:sp>
        <p:nvSpPr>
          <p:cNvPr id="18" name="page-num"/>
          <p:cNvSpPr txBox="1"/>
          <p:nvPr/>
        </p:nvSpPr>
        <p:spPr>
          <a:xfrm>
            <a:off x="11430000" y="6375400"/>
            <a:ext cx="304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818181"/>
                </a:solidFill>
                <a:latin typeface="MiSans"/>
                <a:ea typeface="MiSans"/>
              </a:rPr>
              <a:t>06</a:t>
            </a:r>
            <a:endParaRPr lang="en-US" sz="1100"/>
          </a:p>
        </p:txBody>
      </p:sp>
    </p:spTree>
  </p:cSld>
  <p:clrMapOvr>
    <a:masterClrMapping/>
  </p:clrMapOvr>
  <p:transition spd="fast" advClick="1">
    <p:checker dir="horz"/>
  </p:transition>
</p:sld>
</file>

<file path=ppt/slides/slide7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762000" y="5080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200" b="1" spc="200" kern="0">
                <a:solidFill>
                  <a:srgbClr val="E50040"/>
                </a:solidFill>
                <a:latin typeface="MiSans"/>
                <a:ea typeface="MiSans"/>
              </a:rPr>
              <a:t>ШАГ 4 · ГИДРАВЛИКА</a:t>
            </a:r>
            <a:endParaRPr lang="en-US" sz="1200"/>
          </a:p>
        </p:txBody>
      </p:sp>
      <p:sp>
        <p:nvSpPr>
          <p:cNvPr id="3" name="title"/>
          <p:cNvSpPr txBox="1"/>
          <p:nvPr/>
        </p:nvSpPr>
        <p:spPr>
          <a:xfrm>
            <a:off x="762000" y="762000"/>
            <a:ext cx="889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3000" b="1">
                <a:solidFill>
                  <a:srgbClr val="000000"/>
                </a:solidFill>
                <a:latin typeface="MiSans"/>
                <a:ea typeface="MiSans"/>
              </a:rPr>
              <a:t>Разбейте систему на контуры</a:t>
            </a:r>
            <a:endParaRPr lang="en-US" sz="3000"/>
          </a:p>
        </p:txBody>
      </p:sp>
      <p:sp>
        <p:nvSpPr>
          <p:cNvPr id="4" name="title-bar"/>
          <p:cNvSpPr/>
          <p:nvPr/>
        </p:nvSpPr>
        <p:spPr>
          <a:xfrm>
            <a:off x="787400" y="1422400"/>
            <a:ext cx="584200" cy="635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5" name="bullet-mark-1"/>
          <p:cNvSpPr/>
          <p:nvPr/>
        </p:nvSpPr>
        <p:spPr>
          <a:xfrm>
            <a:off x="787400" y="1879600"/>
            <a:ext cx="114300" cy="1143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6" name="bullet-1"/>
          <p:cNvSpPr txBox="1"/>
          <p:nvPr/>
        </p:nvSpPr>
        <p:spPr>
          <a:xfrm>
            <a:off x="1066800" y="1803400"/>
            <a:ext cx="37465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Задайте теплоноситель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— тип гликоля и концентрацию; свойства подтянутся из базы ASHRAE</a:t>
            </a:r>
            <a:endParaRPr lang="en-US" sz="1300"/>
          </a:p>
        </p:txBody>
      </p:sp>
      <p:sp>
        <p:nvSpPr>
          <p:cNvPr id="7" name="bullet-mark-2"/>
          <p:cNvSpPr/>
          <p:nvPr/>
        </p:nvSpPr>
        <p:spPr>
          <a:xfrm>
            <a:off x="787400" y="2616200"/>
            <a:ext cx="114300" cy="1143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8" name="bullet-2"/>
          <p:cNvSpPr txBox="1"/>
          <p:nvPr/>
        </p:nvSpPr>
        <p:spPr>
          <a:xfrm>
            <a:off x="1066800" y="2540000"/>
            <a:ext cx="37465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Добавьте коллекторы и контуры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— длина каждого контура и подводки</a:t>
            </a:r>
            <a:endParaRPr lang="en-US" sz="1300"/>
          </a:p>
        </p:txBody>
      </p:sp>
      <p:sp>
        <p:nvSpPr>
          <p:cNvPr id="9" name="bullet-mark-3"/>
          <p:cNvSpPr/>
          <p:nvPr/>
        </p:nvSpPr>
        <p:spPr>
          <a:xfrm>
            <a:off x="787400" y="3352800"/>
            <a:ext cx="114300" cy="1143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10" name="bullet-3"/>
          <p:cNvSpPr txBox="1"/>
          <p:nvPr/>
        </p:nvSpPr>
        <p:spPr>
          <a:xfrm>
            <a:off x="1066800" y="3276600"/>
            <a:ext cx="37465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Нажмите «Рассчитать»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— расходы, скорости и потери давления по каждому контуру</a:t>
            </a:r>
            <a:endParaRPr lang="en-US" sz="1300"/>
          </a:p>
        </p:txBody>
      </p:sp>
      <p:sp>
        <p:nvSpPr>
          <p:cNvPr id="11" name="bullet-mark-4"/>
          <p:cNvSpPr/>
          <p:nvPr/>
        </p:nvSpPr>
        <p:spPr>
          <a:xfrm>
            <a:off x="787400" y="4089400"/>
            <a:ext cx="114300" cy="1143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12" name="bullet-4"/>
          <p:cNvSpPr txBox="1"/>
          <p:nvPr/>
        </p:nvSpPr>
        <p:spPr>
          <a:xfrm>
            <a:off x="1066800" y="4013200"/>
            <a:ext cx="37465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Проверьте балансировку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— программа выдаст дросселирование и обороты вентилей для монтажа</a:t>
            </a:r>
            <a:endParaRPr lang="en-US" sz="1300"/>
          </a:p>
        </p:txBody>
      </p:sp>
      <p:sp>
        <p:nvSpPr>
          <p:cNvPr id="13" name="tip"/>
          <p:cNvSpPr txBox="1"/>
          <p:nvPr/>
        </p:nvSpPr>
        <p:spPr>
          <a:xfrm>
            <a:off x="762000" y="5054600"/>
            <a:ext cx="38735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0000"/>
              </a:lnSpc>
            </a:pPr>
            <a:r>
              <a:rPr lang="en-US" sz="1200">
                <a:solidFill>
                  <a:srgbClr val="818181"/>
                </a:solidFill>
                <a:latin typeface="MiSans"/>
                <a:ea typeface="MiSans"/>
              </a:rPr>
              <a:t>Максимально допустимые потери на коллектор — 320 мбар; программа предупредит, если подбор не сошёлся</a:t>
            </a:r>
            <a:endParaRPr lang="en-US" sz="1200"/>
          </a:p>
        </p:txBody>
      </p:sp>
      <p:pic>
        <p:nvPicPr>
          <p:cNvPr id="14" name="screen"/>
          <p:cNvPicPr/>
          <p:nvPr/>
        </p:nvPicPr>
        <p:blipFill>
          <a:blip r:embed="rId2"/>
          <a:srcRect t="146" b="146"/>
          <a:stretch>
            <a:fillRect/>
          </a:stretch>
        </p:blipFill>
        <p:spPr>
          <a:xfrm>
            <a:off x="4953000" y="1778000"/>
            <a:ext cx="6731000" cy="3670300"/>
          </a:xfrm>
          <a:prstGeom prst="rect">
            <a:avLst/>
          </a:prstGeom>
          <a:ln>
            <a:noFill/>
          </a:ln>
          <a:effectLst>
            <a:outerShdw blurRad="152400" dist="50800" dir="5400000" sx="100000" sy="100000" kx="0" ky="0" algn="bl" rotWithShape="0">
              <a:srgbClr val="000000">
                <a:alpha val="14902"/>
              </a:srgbClr>
            </a:outerShdw>
          </a:effectLst>
        </p:spPr>
      </p:pic>
      <p:sp>
        <p:nvSpPr>
          <p:cNvPr id="15" name="screen-border"/>
          <p:cNvSpPr/>
          <p:nvPr/>
        </p:nvSpPr>
        <p:spPr>
          <a:xfrm>
            <a:off x="4953000" y="1778000"/>
            <a:ext cx="6731000" cy="3670300"/>
          </a:xfrm>
          <a:prstGeom prst="rect">
            <a:avLst/>
          </a:prstGeom>
          <a:noFill/>
          <a:ln w="12700">
            <a:solidFill>
              <a:srgbClr val="D9D9D9"/>
            </a:solidFill>
          </a:ln>
        </p:spPr>
      </p:sp>
      <p:sp>
        <p:nvSpPr>
          <p:cNvPr id="16" name="screen-caption"/>
          <p:cNvSpPr txBox="1"/>
          <p:nvPr/>
        </p:nvSpPr>
        <p:spPr>
          <a:xfrm>
            <a:off x="4953000" y="5588000"/>
            <a:ext cx="6731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818181"/>
                </a:solidFill>
                <a:latin typeface="MiSans"/>
                <a:ea typeface="MiSans"/>
              </a:rPr>
              <a:t>Шаг «Гидравлика» — таблица контуров по коллекторам</a:t>
            </a:r>
            <a:endParaRPr lang="en-US" sz="1100"/>
          </a:p>
        </p:txBody>
      </p:sp>
      <p:pic>
        <p:nvPicPr>
          <p:cNvPr id="17" name="footer-logo"/>
          <p:cNvPicPr/>
          <p:nvPr/>
        </p:nvPicPr>
        <p:blipFill>
          <a:blip r:embed="rId3"/>
          <a:srcRect t="-84" b="-84"/>
          <a:stretch>
            <a:fillRect/>
          </a:stretch>
        </p:blipFill>
        <p:spPr>
          <a:xfrm>
            <a:off x="11074400" y="6350000"/>
            <a:ext cx="304800" cy="317500"/>
          </a:xfrm>
          <a:prstGeom prst="rect">
            <a:avLst/>
          </a:prstGeom>
          <a:ln>
            <a:noFill/>
          </a:ln>
        </p:spPr>
      </p:pic>
      <p:sp>
        <p:nvSpPr>
          <p:cNvPr id="18" name="page-num"/>
          <p:cNvSpPr txBox="1"/>
          <p:nvPr/>
        </p:nvSpPr>
        <p:spPr>
          <a:xfrm>
            <a:off x="11430000" y="6375400"/>
            <a:ext cx="304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818181"/>
                </a:solidFill>
                <a:latin typeface="MiSans"/>
                <a:ea typeface="MiSans"/>
              </a:rPr>
              <a:t>07</a:t>
            </a:r>
            <a:endParaRPr lang="en-US" sz="1100"/>
          </a:p>
        </p:txBody>
      </p:sp>
    </p:spTree>
  </p:cSld>
  <p:clrMapOvr>
    <a:masterClrMapping/>
  </p:clrMapOvr>
  <p:transition spd="fast" advClick="1">
    <p:checker dir="horz"/>
  </p:transition>
</p:sld>
</file>

<file path=ppt/slides/slide8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762000" y="5080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200" b="1" spc="200" kern="0">
                <a:solidFill>
                  <a:srgbClr val="E50040"/>
                </a:solidFill>
                <a:latin typeface="MiSans"/>
                <a:ea typeface="MiSans"/>
              </a:rPr>
              <a:t>ШАГ 5 · РЕЗУЛЬТАТЫ</a:t>
            </a:r>
            <a:endParaRPr lang="en-US" sz="1200"/>
          </a:p>
        </p:txBody>
      </p:sp>
      <p:sp>
        <p:nvSpPr>
          <p:cNvPr id="3" name="title"/>
          <p:cNvSpPr txBox="1"/>
          <p:nvPr/>
        </p:nvSpPr>
        <p:spPr>
          <a:xfrm>
            <a:off x="762000" y="762000"/>
            <a:ext cx="889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3000" b="1">
                <a:solidFill>
                  <a:srgbClr val="000000"/>
                </a:solidFill>
                <a:latin typeface="MiSans"/>
                <a:ea typeface="MiSans"/>
              </a:rPr>
              <a:t>Проверьте и выгрузите</a:t>
            </a:r>
            <a:endParaRPr lang="en-US" sz="3000"/>
          </a:p>
        </p:txBody>
      </p:sp>
      <p:sp>
        <p:nvSpPr>
          <p:cNvPr id="4" name="title-bar"/>
          <p:cNvSpPr/>
          <p:nvPr/>
        </p:nvSpPr>
        <p:spPr>
          <a:xfrm>
            <a:off x="787400" y="1422400"/>
            <a:ext cx="584200" cy="635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5" name="bullet-mark-1"/>
          <p:cNvSpPr/>
          <p:nvPr/>
        </p:nvSpPr>
        <p:spPr>
          <a:xfrm>
            <a:off x="787400" y="1879600"/>
            <a:ext cx="114300" cy="1143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6" name="bullet-1"/>
          <p:cNvSpPr txBox="1"/>
          <p:nvPr/>
        </p:nvSpPr>
        <p:spPr>
          <a:xfrm>
            <a:off x="1066800" y="1803400"/>
            <a:ext cx="37465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Сверьте КПИ в шапке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— мощность, объём, насос, температуры подачи и обратки</a:t>
            </a:r>
            <a:endParaRPr lang="en-US" sz="1300"/>
          </a:p>
        </p:txBody>
      </p:sp>
      <p:sp>
        <p:nvSpPr>
          <p:cNvPr id="7" name="bullet-mark-2"/>
          <p:cNvSpPr/>
          <p:nvPr/>
        </p:nvSpPr>
        <p:spPr>
          <a:xfrm>
            <a:off x="787400" y="2616200"/>
            <a:ext cx="114300" cy="1143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8" name="bullet-2"/>
          <p:cNvSpPr txBox="1"/>
          <p:nvPr/>
        </p:nvSpPr>
        <p:spPr>
          <a:xfrm>
            <a:off x="1066800" y="2540000"/>
            <a:ext cx="37465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Проверьте ведомость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— коллекторы, труба, бак: это будущая спецификация заказа</a:t>
            </a:r>
            <a:endParaRPr lang="en-US" sz="1300"/>
          </a:p>
        </p:txBody>
      </p:sp>
      <p:sp>
        <p:nvSpPr>
          <p:cNvPr id="9" name="bullet-mark-3"/>
          <p:cNvSpPr/>
          <p:nvPr/>
        </p:nvSpPr>
        <p:spPr>
          <a:xfrm>
            <a:off x="787400" y="3352800"/>
            <a:ext cx="114300" cy="1143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10" name="bullet-3"/>
          <p:cNvSpPr txBox="1"/>
          <p:nvPr/>
        </p:nvSpPr>
        <p:spPr>
          <a:xfrm>
            <a:off x="1066800" y="3276600"/>
            <a:ext cx="37465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Сохраните проект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— файл .smc откроется позже со всеми введёнными данными</a:t>
            </a:r>
            <a:endParaRPr lang="en-US" sz="1300"/>
          </a:p>
        </p:txBody>
      </p:sp>
      <p:sp>
        <p:nvSpPr>
          <p:cNvPr id="11" name="bullet-mark-4"/>
          <p:cNvSpPr/>
          <p:nvPr/>
        </p:nvSpPr>
        <p:spPr>
          <a:xfrm>
            <a:off x="787400" y="4089400"/>
            <a:ext cx="114300" cy="114300"/>
          </a:xfrm>
          <a:prstGeom prst="rect">
            <a:avLst/>
          </a:prstGeom>
          <a:solidFill>
            <a:srgbClr val="4FC7B5"/>
          </a:solidFill>
          <a:ln>
            <a:noFill/>
          </a:ln>
        </p:spPr>
      </p:sp>
      <p:sp>
        <p:nvSpPr>
          <p:cNvPr id="12" name="bullet-4"/>
          <p:cNvSpPr txBox="1"/>
          <p:nvPr/>
        </p:nvSpPr>
        <p:spPr>
          <a:xfrm>
            <a:off x="1066800" y="4013200"/>
            <a:ext cx="37465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3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Выгрузите отчёт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— «Предпросмотр» или «Печать» дадут брендированный PDF для заказчика</a:t>
            </a:r>
            <a:endParaRPr lang="en-US" sz="1300"/>
          </a:p>
        </p:txBody>
      </p:sp>
      <p:sp>
        <p:nvSpPr>
          <p:cNvPr id="13" name="tip"/>
          <p:cNvSpPr txBox="1"/>
          <p:nvPr/>
        </p:nvSpPr>
        <p:spPr>
          <a:xfrm>
            <a:off x="762000" y="5054600"/>
            <a:ext cx="3873500" cy="812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0000"/>
              </a:lnSpc>
            </a:pPr>
            <a:r>
              <a:rPr lang="en-US" sz="1200">
                <a:solidFill>
                  <a:srgbClr val="818181"/>
                </a:solidFill>
                <a:latin typeface="MiSans"/>
                <a:ea typeface="MiSans"/>
              </a:rPr>
              <a:t>Обороты вентилей из отчёта передайте монтажникам — это настройки балансировки на объекте</a:t>
            </a:r>
            <a:endParaRPr lang="en-US" sz="1200"/>
          </a:p>
        </p:txBody>
      </p:sp>
      <p:pic>
        <p:nvPicPr>
          <p:cNvPr id="14" name="screen"/>
          <p:cNvPicPr/>
          <p:nvPr/>
        </p:nvPicPr>
        <p:blipFill>
          <a:blip r:embed="rId2"/>
          <a:srcRect t="146" b="146"/>
          <a:stretch>
            <a:fillRect/>
          </a:stretch>
        </p:blipFill>
        <p:spPr>
          <a:xfrm>
            <a:off x="4953000" y="1778000"/>
            <a:ext cx="6731000" cy="3670300"/>
          </a:xfrm>
          <a:prstGeom prst="rect">
            <a:avLst/>
          </a:prstGeom>
          <a:ln>
            <a:noFill/>
          </a:ln>
          <a:effectLst>
            <a:outerShdw blurRad="152400" dist="50800" dir="5400000" sx="100000" sy="100000" kx="0" ky="0" algn="bl" rotWithShape="0">
              <a:srgbClr val="000000">
                <a:alpha val="14902"/>
              </a:srgbClr>
            </a:outerShdw>
          </a:effectLst>
        </p:spPr>
      </p:pic>
      <p:sp>
        <p:nvSpPr>
          <p:cNvPr id="15" name="screen-border"/>
          <p:cNvSpPr/>
          <p:nvPr/>
        </p:nvSpPr>
        <p:spPr>
          <a:xfrm>
            <a:off x="4953000" y="1778000"/>
            <a:ext cx="6731000" cy="3670300"/>
          </a:xfrm>
          <a:prstGeom prst="rect">
            <a:avLst/>
          </a:prstGeom>
          <a:noFill/>
          <a:ln w="12700">
            <a:solidFill>
              <a:srgbClr val="D9D9D9"/>
            </a:solidFill>
          </a:ln>
        </p:spPr>
      </p:sp>
      <p:sp>
        <p:nvSpPr>
          <p:cNvPr id="16" name="screen-caption"/>
          <p:cNvSpPr txBox="1"/>
          <p:nvPr/>
        </p:nvSpPr>
        <p:spPr>
          <a:xfrm>
            <a:off x="4953000" y="5588000"/>
            <a:ext cx="6731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818181"/>
                </a:solidFill>
                <a:latin typeface="MiSans"/>
                <a:ea typeface="MiSans"/>
              </a:rPr>
              <a:t>Шаг «Результаты» — КПИ, оборудование и исходные данные</a:t>
            </a:r>
            <a:endParaRPr lang="en-US" sz="1100"/>
          </a:p>
        </p:txBody>
      </p:sp>
      <p:pic>
        <p:nvPicPr>
          <p:cNvPr id="17" name="footer-logo"/>
          <p:cNvPicPr/>
          <p:nvPr/>
        </p:nvPicPr>
        <p:blipFill>
          <a:blip r:embed="rId3"/>
          <a:srcRect t="-84" b="-84"/>
          <a:stretch>
            <a:fillRect/>
          </a:stretch>
        </p:blipFill>
        <p:spPr>
          <a:xfrm>
            <a:off x="11074400" y="6350000"/>
            <a:ext cx="304800" cy="317500"/>
          </a:xfrm>
          <a:prstGeom prst="rect">
            <a:avLst/>
          </a:prstGeom>
          <a:ln>
            <a:noFill/>
          </a:ln>
        </p:spPr>
      </p:pic>
      <p:sp>
        <p:nvSpPr>
          <p:cNvPr id="18" name="page-num"/>
          <p:cNvSpPr txBox="1"/>
          <p:nvPr/>
        </p:nvSpPr>
        <p:spPr>
          <a:xfrm>
            <a:off x="11430000" y="6375400"/>
            <a:ext cx="304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818181"/>
                </a:solidFill>
                <a:latin typeface="MiSans"/>
                <a:ea typeface="MiSans"/>
              </a:rPr>
              <a:t>08</a:t>
            </a:r>
            <a:endParaRPr lang="en-US" sz="1100"/>
          </a:p>
        </p:txBody>
      </p:sp>
    </p:spTree>
  </p:cSld>
  <p:clrMapOvr>
    <a:masterClrMapping/>
  </p:clrMapOvr>
  <p:transition spd="fast" advClick="1">
    <p:checker dir="horz"/>
  </p:transition>
</p:sld>
</file>

<file path=ppt/slides/slide9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762000" y="5080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200" b="1" spc="200" kern="0">
                <a:solidFill>
                  <a:srgbClr val="E50040"/>
                </a:solidFill>
                <a:latin typeface="MiSans"/>
                <a:ea typeface="MiSans"/>
              </a:rPr>
              <a:t>ПОЛЕЗНО ЗНАТЬ</a:t>
            </a:r>
            <a:endParaRPr lang="en-US" sz="1200"/>
          </a:p>
        </p:txBody>
      </p:sp>
      <p:sp>
        <p:nvSpPr>
          <p:cNvPr id="3" name="title"/>
          <p:cNvSpPr txBox="1"/>
          <p:nvPr/>
        </p:nvSpPr>
        <p:spPr>
          <a:xfrm>
            <a:off x="762000" y="762000"/>
            <a:ext cx="9652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3000" b="1">
                <a:solidFill>
                  <a:srgbClr val="000000"/>
                </a:solidFill>
                <a:latin typeface="MiSans"/>
                <a:ea typeface="MiSans"/>
              </a:rPr>
              <a:t>Бейджи и типичные ошибки</a:t>
            </a:r>
            <a:endParaRPr lang="en-US" sz="3000"/>
          </a:p>
        </p:txBody>
      </p:sp>
      <p:sp>
        <p:nvSpPr>
          <p:cNvPr id="4" name="title-bar"/>
          <p:cNvSpPr/>
          <p:nvPr/>
        </p:nvSpPr>
        <p:spPr>
          <a:xfrm>
            <a:off x="787400" y="1422400"/>
            <a:ext cx="584200" cy="635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5" name="badge-card"/>
          <p:cNvSpPr/>
          <p:nvPr/>
        </p:nvSpPr>
        <p:spPr>
          <a:xfrm>
            <a:off x="762000" y="1905000"/>
            <a:ext cx="5334000" cy="38100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 w="12700">
            <a:solidFill>
              <a:srgbClr val="D9D9D9"/>
            </a:solidFill>
          </a:ln>
        </p:spPr>
      </p:sp>
      <p:sp>
        <p:nvSpPr>
          <p:cNvPr id="6" name="badge-title"/>
          <p:cNvSpPr txBox="1"/>
          <p:nvPr/>
        </p:nvSpPr>
        <p:spPr>
          <a:xfrm>
            <a:off x="1066800" y="2133600"/>
            <a:ext cx="4699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Как читать бейджи шагов</a:t>
            </a:r>
            <a:endParaRPr lang="en-US" sz="1600"/>
          </a:p>
        </p:txBody>
      </p:sp>
      <p:sp>
        <p:nvSpPr>
          <p:cNvPr id="7" name="badge-mark-1"/>
          <p:cNvSpPr/>
          <p:nvPr/>
        </p:nvSpPr>
        <p:spPr>
          <a:xfrm>
            <a:off x="1092200" y="2717800"/>
            <a:ext cx="177800" cy="177800"/>
          </a:xfrm>
          <a:prstGeom prst="roundRect">
            <a:avLst>
              <a:gd name="adj" fmla="val 30000"/>
            </a:avLst>
          </a:prstGeom>
          <a:solidFill>
            <a:srgbClr val="4FC7B5"/>
          </a:solidFill>
          <a:ln>
            <a:noFill/>
          </a:ln>
        </p:spPr>
      </p:sp>
      <p:sp>
        <p:nvSpPr>
          <p:cNvPr id="8" name="badge-text-1"/>
          <p:cNvSpPr txBox="1"/>
          <p:nvPr/>
        </p:nvSpPr>
        <p:spPr>
          <a:xfrm>
            <a:off x="1422400" y="2616200"/>
            <a:ext cx="43688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Зелёный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— данные шага актуальны, можно идти дальше</a:t>
            </a:r>
            <a:endParaRPr lang="en-US" sz="1300"/>
          </a:p>
        </p:txBody>
      </p:sp>
      <p:sp>
        <p:nvSpPr>
          <p:cNvPr id="9" name="badge-mark-2"/>
          <p:cNvSpPr/>
          <p:nvPr/>
        </p:nvSpPr>
        <p:spPr>
          <a:xfrm>
            <a:off x="1092200" y="3479800"/>
            <a:ext cx="177800" cy="177800"/>
          </a:xfrm>
          <a:prstGeom prst="roundRect">
            <a:avLst>
              <a:gd name="adj" fmla="val 30000"/>
            </a:avLst>
          </a:prstGeom>
          <a:solidFill>
            <a:srgbClr val="E50040"/>
          </a:solidFill>
          <a:ln>
            <a:noFill/>
          </a:ln>
        </p:spPr>
      </p:sp>
      <p:sp>
        <p:nvSpPr>
          <p:cNvPr id="10" name="badge-text-2"/>
          <p:cNvSpPr txBox="1"/>
          <p:nvPr/>
        </p:nvSpPr>
        <p:spPr>
          <a:xfrm>
            <a:off x="1422400" y="3378200"/>
            <a:ext cx="43688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 b="1">
                <a:solidFill>
                  <a:srgbClr val="4E4E4E"/>
                </a:solidFill>
                <a:latin typeface="MiSans"/>
                <a:ea typeface="MiSans"/>
              </a:rPr>
              <a:t>Красный</a:t>
            </a: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 — параметры изменились: вернитесь на шаг и нажмите «Рассчитать»</a:t>
            </a:r>
            <a:endParaRPr lang="en-US" sz="1300"/>
          </a:p>
        </p:txBody>
      </p:sp>
      <p:sp>
        <p:nvSpPr>
          <p:cNvPr id="11" name="badge-note"/>
          <p:cNvSpPr txBox="1"/>
          <p:nvPr/>
        </p:nvSpPr>
        <p:spPr>
          <a:xfrm>
            <a:off x="1066800" y="4267200"/>
            <a:ext cx="4724400" cy="1143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200">
                <a:solidFill>
                  <a:srgbClr val="818181"/>
                </a:solidFill>
                <a:latin typeface="MiSans"/>
                <a:ea typeface="MiSans"/>
              </a:rPr>
              <a:t>Программа не даёт «уйти вперёд» с устаревшими данными: перед выгрузкой отчёта все бейджи должны быть зелёными</a:t>
            </a:r>
            <a:endParaRPr lang="en-US" sz="1200"/>
          </a:p>
        </p:txBody>
      </p:sp>
      <p:sp>
        <p:nvSpPr>
          <p:cNvPr id="12" name="err-card"/>
          <p:cNvSpPr/>
          <p:nvPr/>
        </p:nvSpPr>
        <p:spPr>
          <a:xfrm>
            <a:off x="6350000" y="1905000"/>
            <a:ext cx="5334000" cy="3810000"/>
          </a:xfrm>
          <a:prstGeom prst="roundRect">
            <a:avLst>
              <a:gd name="adj" fmla="val 6000"/>
            </a:avLst>
          </a:prstGeom>
          <a:solidFill>
            <a:srgbClr val="F5F5F5"/>
          </a:solidFill>
          <a:ln w="12700">
            <a:solidFill>
              <a:srgbClr val="D9D9D9"/>
            </a:solidFill>
          </a:ln>
        </p:spPr>
      </p:sp>
      <p:sp>
        <p:nvSpPr>
          <p:cNvPr id="13" name="err-title"/>
          <p:cNvSpPr txBox="1"/>
          <p:nvPr/>
        </p:nvSpPr>
        <p:spPr>
          <a:xfrm>
            <a:off x="6654800" y="2133600"/>
            <a:ext cx="4699000" cy="355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000000"/>
                </a:solidFill>
                <a:latin typeface="MiSans"/>
                <a:ea typeface="MiSans"/>
              </a:rPr>
              <a:t>Частые ошибки новичков</a:t>
            </a:r>
            <a:endParaRPr lang="en-US" sz="1600"/>
          </a:p>
        </p:txBody>
      </p:sp>
      <p:sp>
        <p:nvSpPr>
          <p:cNvPr id="14" name="err-body"/>
          <p:cNvSpPr txBox="1"/>
          <p:nvPr/>
        </p:nvSpPr>
        <p:spPr>
          <a:xfrm>
            <a:off x="6654800" y="2616200"/>
            <a:ext cx="4724400" cy="292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Забыли нажать «Рассчитать» после правки — смотрите на красный бейдж</a:t>
            </a:r>
            <a:endParaRPr lang="en-US" sz="1300"/>
          </a:p>
          <a:p>
            <a:pPr algn="l">
              <a:lnSpc>
                <a:spcPct val="150000"/>
              </a:lnSpc>
              <a:spcBef>
                <a:spcPts val="800"/>
              </a:spcBef>
            </a:pP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Асфальт при t ниже −15 °C — выберите бетон или плитку</a:t>
            </a:r>
            <a:endParaRPr lang="en-US" sz="1300"/>
          </a:p>
          <a:p>
            <a:pPr algn="l">
              <a:lnSpc>
                <a:spcPct val="150000"/>
              </a:lnSpc>
              <a:spcBef>
                <a:spcPts val="800"/>
              </a:spcBef>
            </a:pP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Подача выше 50 °C для бетона — снизьте температуру</a:t>
            </a:r>
            <a:endParaRPr lang="en-US" sz="1300"/>
          </a:p>
          <a:p>
            <a:pPr algn="l">
              <a:lnSpc>
                <a:spcPct val="150000"/>
              </a:lnSpc>
              <a:spcBef>
                <a:spcPts val="800"/>
              </a:spcBef>
            </a:pP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Контур длиннее 120 м (Ø20) — разбейте на два контура</a:t>
            </a:r>
            <a:endParaRPr lang="en-US" sz="1300"/>
          </a:p>
        </p:txBody>
      </p:sp>
      <p:pic>
        <p:nvPicPr>
          <p:cNvPr id="15" name="footer-logo"/>
          <p:cNvPicPr/>
          <p:nvPr/>
        </p:nvPicPr>
        <p:blipFill>
          <a:blip r:embed="rId2"/>
          <a:srcRect t="-84" b="-84"/>
          <a:stretch>
            <a:fillRect/>
          </a:stretch>
        </p:blipFill>
        <p:spPr>
          <a:xfrm>
            <a:off x="11074400" y="6350000"/>
            <a:ext cx="304800" cy="317500"/>
          </a:xfrm>
          <a:prstGeom prst="rect">
            <a:avLst/>
          </a:prstGeom>
          <a:ln>
            <a:noFill/>
          </a:ln>
        </p:spPr>
      </p:pic>
      <p:sp>
        <p:nvSpPr>
          <p:cNvPr id="16" name="page-num"/>
          <p:cNvSpPr txBox="1"/>
          <p:nvPr/>
        </p:nvSpPr>
        <p:spPr>
          <a:xfrm>
            <a:off x="11430000" y="6375400"/>
            <a:ext cx="304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818181"/>
                </a:solidFill>
                <a:latin typeface="MiSans"/>
                <a:ea typeface="MiSans"/>
              </a:rPr>
              <a:t>09</a:t>
            </a:r>
            <a:endParaRPr lang="en-US" sz="1100"/>
          </a:p>
        </p:txBody>
      </p:sp>
    </p:spTree>
  </p:cSld>
  <p:clrMapOvr>
    <a:masterClrMapping/>
  </p:clrMapOvr>
  <p:transition spd="fast" advClick="1">
    <p:checker dir="horz"/>
  </p:transition>
</p:sld>
</file>

<file path=ppt/slides/slide10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762000" y="5080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200" b="1" spc="200" kern="0">
                <a:solidFill>
                  <a:srgbClr val="E50040"/>
                </a:solidFill>
                <a:latin typeface="MiSans"/>
                <a:ea typeface="MiSans"/>
              </a:rPr>
              <a:t>ВОПРОСЫ И ОТВЕТЫ</a:t>
            </a:r>
            <a:endParaRPr lang="en-US" sz="1200"/>
          </a:p>
        </p:txBody>
      </p:sp>
      <p:sp>
        <p:nvSpPr>
          <p:cNvPr id="3" name="title"/>
          <p:cNvSpPr txBox="1"/>
          <p:nvPr/>
        </p:nvSpPr>
        <p:spPr>
          <a:xfrm>
            <a:off x="762000" y="762000"/>
            <a:ext cx="889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20000"/>
              </a:lnSpc>
            </a:pPr>
            <a:r>
              <a:rPr lang="en-US" sz="3000" b="1">
                <a:solidFill>
                  <a:srgbClr val="000000"/>
                </a:solidFill>
                <a:latin typeface="MiSans"/>
                <a:ea typeface="MiSans"/>
              </a:rPr>
              <a:t>Частые вопросы</a:t>
            </a:r>
            <a:endParaRPr lang="en-US" sz="3000"/>
          </a:p>
        </p:txBody>
      </p:sp>
      <p:sp>
        <p:nvSpPr>
          <p:cNvPr id="4" name="title-bar"/>
          <p:cNvSpPr/>
          <p:nvPr/>
        </p:nvSpPr>
        <p:spPr>
          <a:xfrm>
            <a:off x="787400" y="1422400"/>
            <a:ext cx="584200" cy="635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5" name="q-card-1"/>
          <p:cNvSpPr/>
          <p:nvPr/>
        </p:nvSpPr>
        <p:spPr>
          <a:xfrm>
            <a:off x="762000" y="1905000"/>
            <a:ext cx="5334000" cy="1778000"/>
          </a:xfrm>
          <a:prstGeom prst="roundRect">
            <a:avLst>
              <a:gd name="adj" fmla="val 7000"/>
            </a:avLst>
          </a:prstGeom>
          <a:solidFill>
            <a:srgbClr val="F5F5F5"/>
          </a:solidFill>
          <a:ln w="12700">
            <a:solidFill>
              <a:srgbClr val="D9D9D9"/>
            </a:solidFill>
          </a:ln>
        </p:spPr>
      </p:sp>
      <p:sp>
        <p:nvSpPr>
          <p:cNvPr id="6" name="q-1-q"/>
          <p:cNvSpPr txBox="1"/>
          <p:nvPr/>
        </p:nvSpPr>
        <p:spPr>
          <a:xfrm>
            <a:off x="1066800" y="2108200"/>
            <a:ext cx="47244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E50040"/>
                </a:solidFill>
                <a:latin typeface="MiSans"/>
                <a:ea typeface="MiSans"/>
              </a:rPr>
              <a:t>Моего города нет в базе — что делать?</a:t>
            </a:r>
            <a:endParaRPr lang="en-US" sz="1500"/>
          </a:p>
        </p:txBody>
      </p:sp>
      <p:sp>
        <p:nvSpPr>
          <p:cNvPr id="7" name="q-1-a"/>
          <p:cNvSpPr txBox="1"/>
          <p:nvPr/>
        </p:nvSpPr>
        <p:spPr>
          <a:xfrm>
            <a:off x="1066800" y="2540000"/>
            <a:ext cx="4724400" cy="939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Выберите ближайший город с похожим климатом и скорректируйте температуру, ветер и влажность вручную по СП 131.13330.2025</a:t>
            </a:r>
            <a:endParaRPr lang="en-US" sz="1300"/>
          </a:p>
        </p:txBody>
      </p:sp>
      <p:sp>
        <p:nvSpPr>
          <p:cNvPr id="8" name="q-card-2"/>
          <p:cNvSpPr/>
          <p:nvPr/>
        </p:nvSpPr>
        <p:spPr>
          <a:xfrm>
            <a:off x="6350000" y="1905000"/>
            <a:ext cx="5334000" cy="1778000"/>
          </a:xfrm>
          <a:prstGeom prst="roundRect">
            <a:avLst>
              <a:gd name="adj" fmla="val 7000"/>
            </a:avLst>
          </a:prstGeom>
          <a:solidFill>
            <a:srgbClr val="F5F5F5"/>
          </a:solidFill>
          <a:ln w="12700">
            <a:solidFill>
              <a:srgbClr val="D9D9D9"/>
            </a:solidFill>
          </a:ln>
        </p:spPr>
      </p:sp>
      <p:sp>
        <p:nvSpPr>
          <p:cNvPr id="9" name="q-2-q"/>
          <p:cNvSpPr txBox="1"/>
          <p:nvPr/>
        </p:nvSpPr>
        <p:spPr>
          <a:xfrm>
            <a:off x="6654800" y="2108200"/>
            <a:ext cx="47244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E50040"/>
                </a:solidFill>
                <a:latin typeface="MiSans"/>
                <a:ea typeface="MiSans"/>
              </a:rPr>
              <a:t>Можно ли вернуться к проекту позже?</a:t>
            </a:r>
            <a:endParaRPr lang="en-US" sz="1500"/>
          </a:p>
        </p:txBody>
      </p:sp>
      <p:sp>
        <p:nvSpPr>
          <p:cNvPr id="10" name="q-2-a"/>
          <p:cNvSpPr txBox="1"/>
          <p:nvPr/>
        </p:nvSpPr>
        <p:spPr>
          <a:xfrm>
            <a:off x="6654800" y="2540000"/>
            <a:ext cx="4724400" cy="939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Да. Сохраните проект кнопкой «Сохранить» — файл .smc содержит все введённые данные и открывается через меню «Файл»</a:t>
            </a:r>
            <a:endParaRPr lang="en-US" sz="1300"/>
          </a:p>
        </p:txBody>
      </p:sp>
      <p:sp>
        <p:nvSpPr>
          <p:cNvPr id="11" name="q-card-3"/>
          <p:cNvSpPr/>
          <p:nvPr/>
        </p:nvSpPr>
        <p:spPr>
          <a:xfrm>
            <a:off x="762000" y="3937000"/>
            <a:ext cx="5334000" cy="1778000"/>
          </a:xfrm>
          <a:prstGeom prst="roundRect">
            <a:avLst>
              <a:gd name="adj" fmla="val 7000"/>
            </a:avLst>
          </a:prstGeom>
          <a:solidFill>
            <a:srgbClr val="F5F5F5"/>
          </a:solidFill>
          <a:ln w="12700">
            <a:solidFill>
              <a:srgbClr val="D9D9D9"/>
            </a:solidFill>
          </a:ln>
        </p:spPr>
      </p:sp>
      <p:sp>
        <p:nvSpPr>
          <p:cNvPr id="12" name="q-3-q"/>
          <p:cNvSpPr txBox="1"/>
          <p:nvPr/>
        </p:nvSpPr>
        <p:spPr>
          <a:xfrm>
            <a:off x="1066800" y="4140200"/>
            <a:ext cx="47244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E50040"/>
                </a:solidFill>
                <a:latin typeface="MiSans"/>
                <a:ea typeface="MiSans"/>
              </a:rPr>
              <a:t>Чем отличаются рабочий и холодный режимы?</a:t>
            </a:r>
            <a:endParaRPr lang="en-US" sz="1500"/>
          </a:p>
        </p:txBody>
      </p:sp>
      <p:sp>
        <p:nvSpPr>
          <p:cNvPr id="13" name="q-3-a"/>
          <p:cNvSpPr txBox="1"/>
          <p:nvPr/>
        </p:nvSpPr>
        <p:spPr>
          <a:xfrm>
            <a:off x="1066800" y="4572000"/>
            <a:ext cx="4724400" cy="939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Холодный учитывает вязкость гликоля при запуске системы на морозе: потери давления выше — проверяйте оба значения ΔP в результатах</a:t>
            </a:r>
            <a:endParaRPr lang="en-US" sz="1300"/>
          </a:p>
        </p:txBody>
      </p:sp>
      <p:sp>
        <p:nvSpPr>
          <p:cNvPr id="14" name="q-card-4"/>
          <p:cNvSpPr/>
          <p:nvPr/>
        </p:nvSpPr>
        <p:spPr>
          <a:xfrm>
            <a:off x="6350000" y="3937000"/>
            <a:ext cx="5334000" cy="1778000"/>
          </a:xfrm>
          <a:prstGeom prst="roundRect">
            <a:avLst>
              <a:gd name="adj" fmla="val 7000"/>
            </a:avLst>
          </a:prstGeom>
          <a:solidFill>
            <a:srgbClr val="F5F5F5"/>
          </a:solidFill>
          <a:ln w="12700">
            <a:solidFill>
              <a:srgbClr val="D9D9D9"/>
            </a:solidFill>
          </a:ln>
        </p:spPr>
      </p:sp>
      <p:sp>
        <p:nvSpPr>
          <p:cNvPr id="15" name="q-4-q"/>
          <p:cNvSpPr txBox="1"/>
          <p:nvPr/>
        </p:nvSpPr>
        <p:spPr>
          <a:xfrm>
            <a:off x="6654800" y="4140200"/>
            <a:ext cx="47244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500" b="1">
                <a:solidFill>
                  <a:srgbClr val="E50040"/>
                </a:solidFill>
                <a:latin typeface="MiSans"/>
                <a:ea typeface="MiSans"/>
              </a:rPr>
              <a:t>Куда передавать результаты?</a:t>
            </a:r>
            <a:endParaRPr lang="en-US" sz="1500"/>
          </a:p>
        </p:txBody>
      </p:sp>
      <p:sp>
        <p:nvSpPr>
          <p:cNvPr id="16" name="q-4-a"/>
          <p:cNvSpPr txBox="1"/>
          <p:nvPr/>
        </p:nvSpPr>
        <p:spPr>
          <a:xfrm>
            <a:off x="6654800" y="4572000"/>
            <a:ext cx="4724400" cy="939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45000"/>
              </a:lnSpc>
            </a:pPr>
            <a:r>
              <a:rPr lang="en-US" sz="1300">
                <a:solidFill>
                  <a:srgbClr val="4E4E4E"/>
                </a:solidFill>
                <a:latin typeface="MiSans"/>
                <a:ea typeface="MiSans"/>
              </a:rPr>
              <a:t>PDF-отчёт — заказчику и в проектную документацию; обороты вентилей — монтажникам для балансировки; ведомость — в закупку</a:t>
            </a:r>
            <a:endParaRPr lang="en-US" sz="1300"/>
          </a:p>
        </p:txBody>
      </p:sp>
      <p:pic>
        <p:nvPicPr>
          <p:cNvPr id="17" name="footer-logo"/>
          <p:cNvPicPr/>
          <p:nvPr/>
        </p:nvPicPr>
        <p:blipFill>
          <a:blip r:embed="rId2"/>
          <a:srcRect t="-84" b="-84"/>
          <a:stretch>
            <a:fillRect/>
          </a:stretch>
        </p:blipFill>
        <p:spPr>
          <a:xfrm>
            <a:off x="11074400" y="6350000"/>
            <a:ext cx="304800" cy="317500"/>
          </a:xfrm>
          <a:prstGeom prst="rect">
            <a:avLst/>
          </a:prstGeom>
          <a:ln>
            <a:noFill/>
          </a:ln>
        </p:spPr>
      </p:pic>
      <p:sp>
        <p:nvSpPr>
          <p:cNvPr id="18" name="page-num"/>
          <p:cNvSpPr txBox="1"/>
          <p:nvPr/>
        </p:nvSpPr>
        <p:spPr>
          <a:xfrm>
            <a:off x="11430000" y="6375400"/>
            <a:ext cx="3048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100">
                <a:solidFill>
                  <a:srgbClr val="818181"/>
                </a:solidFill>
                <a:latin typeface="MiSans"/>
                <a:ea typeface="MiSans"/>
              </a:rPr>
              <a:t>10</a:t>
            </a:r>
            <a:endParaRPr lang="en-US" sz="1100"/>
          </a:p>
        </p:txBody>
      </p:sp>
    </p:spTree>
  </p:cSld>
  <p:clrMapOvr>
    <a:masterClrMapping/>
  </p:clrMapOvr>
  <p:transition spd="fast" advClick="1">
    <p:checker dir="horz"/>
  </p:transition>
</p:sld>
</file>

<file path=ppt/slides/slide11.xml><?xml version="1.0" encoding="utf-8"?>
<p:sld xmlns:p="http://schemas.openxmlformats.org/presentationml/2006/main"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ttern-right"/>
          <p:cNvPicPr/>
          <p:nvPr/>
        </p:nvPicPr>
        <p:blipFill>
          <a:blip r:embed="rId2">
            <a:alphaModFix amt="55000"/>
          </a:blip>
          <a:srcRect l="30987" r="30987"/>
          <a:stretch>
            <a:fillRect/>
          </a:stretch>
        </p:blipFill>
        <p:spPr>
          <a:xfrm>
            <a:off x="8128000" y="0"/>
            <a:ext cx="4064000" cy="6858000"/>
          </a:xfrm>
          <a:prstGeom prst="rect">
            <a:avLst/>
          </a:prstGeom>
          <a:ln>
            <a:noFill/>
          </a:ln>
        </p:spPr>
      </p:pic>
      <p:pic>
        <p:nvPicPr>
          <p:cNvPr id="3" name="logo"/>
          <p:cNvPicPr/>
          <p:nvPr/>
        </p:nvPicPr>
        <p:blipFill>
          <a:blip r:embed="rId3"/>
          <a:srcRect l="-160" r="-160"/>
          <a:stretch>
            <a:fillRect/>
          </a:stretch>
        </p:blipFill>
        <p:spPr>
          <a:xfrm>
            <a:off x="762000" y="2540000"/>
            <a:ext cx="2413000" cy="1270000"/>
          </a:xfrm>
          <a:prstGeom prst="rect">
            <a:avLst/>
          </a:prstGeom>
          <a:ln>
            <a:noFill/>
          </a:ln>
        </p:spPr>
      </p:pic>
      <p:sp>
        <p:nvSpPr>
          <p:cNvPr id="4" name="accent-bar"/>
          <p:cNvSpPr/>
          <p:nvPr/>
        </p:nvSpPr>
        <p:spPr>
          <a:xfrm>
            <a:off x="787400" y="4064000"/>
            <a:ext cx="584200" cy="76200"/>
          </a:xfrm>
          <a:prstGeom prst="rect">
            <a:avLst/>
          </a:prstGeom>
          <a:solidFill>
            <a:srgbClr val="E50040"/>
          </a:solidFill>
          <a:ln>
            <a:noFill/>
          </a:ln>
        </p:spPr>
      </p:sp>
      <p:sp>
        <p:nvSpPr>
          <p:cNvPr id="5" name="slogan"/>
          <p:cNvSpPr txBox="1"/>
          <p:nvPr/>
        </p:nvSpPr>
        <p:spPr>
          <a:xfrm>
            <a:off x="762000" y="4318000"/>
            <a:ext cx="5334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000">
                <a:solidFill>
                  <a:srgbClr val="FFFFFF"/>
                </a:solidFill>
                <a:latin typeface="MiSans"/>
                <a:ea typeface="MiSans"/>
              </a:rPr>
              <a:t>Решения для дома и бизнеса</a:t>
            </a:r>
            <a:endParaRPr lang="en-US" sz="2000"/>
          </a:p>
        </p:txBody>
      </p:sp>
      <p:sp>
        <p:nvSpPr>
          <p:cNvPr id="6" name="contacts"/>
          <p:cNvSpPr txBox="1"/>
          <p:nvPr/>
        </p:nvSpPr>
        <p:spPr>
          <a:xfrm>
            <a:off x="762000" y="5461000"/>
            <a:ext cx="6096000" cy="889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300">
                <a:solidFill>
                  <a:srgbClr val="B0B0B0"/>
                </a:solidFill>
                <a:latin typeface="MiSans"/>
                <a:ea typeface="MiSans"/>
              </a:rPr>
              <a:t>Автор и контакты — placeholder</a:t>
            </a:r>
            <a:endParaRPr lang="en-US" sz="1300"/>
          </a:p>
          <a:p>
            <a:pPr algn="l">
              <a:lnSpc>
                <a:spcPct val="150000"/>
              </a:lnSpc>
            </a:pPr>
            <a:r>
              <a:rPr lang="en-US" sz="1300">
                <a:solidFill>
                  <a:srgbClr val="B0B0B0"/>
                </a:solidFill>
                <a:latin typeface="MiSans"/>
                <a:ea typeface="MiSans"/>
              </a:rPr>
              <a:t>e-mail · телефон · сайт</a:t>
            </a:r>
            <a:endParaRPr lang="en-US" sz="1300"/>
          </a:p>
        </p:txBody>
      </p:sp>
      <p:sp>
        <p:nvSpPr>
          <p:cNvPr id="7" name="page-num"/>
          <p:cNvSpPr txBox="1"/>
          <p:nvPr/>
        </p:nvSpPr>
        <p:spPr>
          <a:xfrm>
            <a:off x="10922000" y="6324600"/>
            <a:ext cx="762000" cy="25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1100">
                <a:solidFill>
                  <a:srgbClr val="818181"/>
                </a:solidFill>
                <a:latin typeface="MiSans"/>
                <a:ea typeface="MiSans"/>
              </a:rPr>
              <a:t>11</a:t>
            </a:r>
            <a:endParaRPr lang="en-US" sz="1100"/>
          </a:p>
        </p:txBody>
      </p:sp>
    </p:spTree>
  </p:cSld>
  <p:clrMapOvr>
    <a:masterClrMapping/>
  </p:clrMapOvr>
  <p:transition spd="fast" advClick="1">
    <p:checker dir="horz"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Neo Design</Application>
  <Company>Moonshot</Company>
  <Slides>11</Slides>
</Properties>
</file>

<file path=docProps/core.xml><?xml version="1.0" encoding="utf-8"?>
<cp:coreProperties xmlns:cp="http://schemas.openxmlformats.org/package/2006/metadata/core-properties" xmlns:dc="http://purl.org/dc/elements/1.1/">
  <dc:title>РЕХАУ Калькулятор снеготаяния — быстрый старт</dc:title>
  <dc:subject>РЕХАУ Калькулятор снеготаяния — быстрый старт</dc:subject>
  <dc:creator>Kimi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>{"Label":"РЕХАУ Калькулятор снеготаяния — быстрый старт","ContentProducer":"001191110108MACG2KBH8F10000","ProduceID":"rehau_guide","ReservedCode1":"","ContentPropagator":"001191110108MACG2KBH8F20000","PropagateID":"agent:main:main:conversation:0e45d92d-2496-4a30-aac0-f895591856da","ReservedCode2":""}</vt:lpwstr>
  </property>
</Properties>
</file>