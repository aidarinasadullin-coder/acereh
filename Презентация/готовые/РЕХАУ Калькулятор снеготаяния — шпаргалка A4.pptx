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</p:sldIdLst>
  <p:sldSz cx="9144000" cy="12928600" type="custom"/>
  <p:notesSz cx="9144000" cy="129286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bg"/>
          <p:cNvSpPr/>
          <p:nvPr/>
        </p:nvSpPr>
        <p:spPr>
          <a:xfrm>
            <a:off x="0" y="0"/>
            <a:ext cx="9144000" cy="22606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pic>
        <p:nvPicPr>
          <p:cNvPr id="3" name="header-pattern"/>
          <p:cNvPicPr/>
          <p:nvPr/>
        </p:nvPicPr>
        <p:blipFill>
          <a:blip r:embed="rId2">
            <a:alphaModFix amt="60000"/>
          </a:blip>
          <a:srcRect l="10345" r="10345"/>
          <a:stretch>
            <a:fillRect/>
          </a:stretch>
        </p:blipFill>
        <p:spPr>
          <a:xfrm>
            <a:off x="6350000" y="0"/>
            <a:ext cx="2794000" cy="2260600"/>
          </a:xfrm>
          <a:prstGeom prst="rect">
            <a:avLst/>
          </a:prstGeom>
          <a:ln>
            <a:noFill/>
          </a:ln>
        </p:spPr>
      </p:pic>
      <p:pic>
        <p:nvPicPr>
          <p:cNvPr id="4" name="header-logo"/>
          <p:cNvPicPr/>
          <p:nvPr/>
        </p:nvPicPr>
        <p:blipFill>
          <a:blip r:embed="rId3"/>
          <a:srcRect l="-69" r="-69"/>
          <a:stretch>
            <a:fillRect/>
          </a:stretch>
        </p:blipFill>
        <p:spPr>
          <a:xfrm>
            <a:off x="508000" y="381000"/>
            <a:ext cx="1397000" cy="736600"/>
          </a:xfrm>
          <a:prstGeom prst="rect">
            <a:avLst/>
          </a:prstGeom>
          <a:ln>
            <a:noFill/>
          </a:ln>
        </p:spPr>
      </p:pic>
      <p:sp>
        <p:nvSpPr>
          <p:cNvPr id="5" name="header-title"/>
          <p:cNvSpPr txBox="1"/>
          <p:nvPr/>
        </p:nvSpPr>
        <p:spPr>
          <a:xfrm>
            <a:off x="508000" y="12192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MiSans"/>
                <a:ea typeface="MiSans"/>
              </a:rPr>
              <a:t>Калькулятор снеготаяния</a:t>
            </a:r>
            <a:endParaRPr lang="en-US" sz="3000" noProof="1"/>
          </a:p>
        </p:txBody>
      </p:sp>
      <p:sp>
        <p:nvSpPr>
          <p:cNvPr id="6" name="header-sub"/>
          <p:cNvSpPr txBox="1"/>
          <p:nvPr/>
        </p:nvSpPr>
        <p:spPr>
          <a:xfrm>
            <a:off x="508000" y="17526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B0B0B0"/>
                </a:solidFill>
                <a:latin typeface="MiSans"/>
                <a:ea typeface="MiSans"/>
              </a:rPr>
              <a:t>Шпаргалка проектировщика · антиобледенение открытых площадок</a:t>
            </a:r>
            <a:endParaRPr lang="en-US" sz="1300" noProof="1"/>
          </a:p>
        </p:txBody>
      </p:sp>
      <p:sp>
        <p:nvSpPr>
          <p:cNvPr id="7" name="kpi-bg"/>
          <p:cNvSpPr/>
          <p:nvPr/>
        </p:nvSpPr>
        <p:spPr>
          <a:xfrm>
            <a:off x="0" y="2260600"/>
            <a:ext cx="9144000" cy="16256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8" name="kpi-1-val"/>
          <p:cNvSpPr txBox="1"/>
          <p:nvPr/>
        </p:nvSpPr>
        <p:spPr>
          <a:xfrm>
            <a:off x="508000" y="24892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FFFFFF"/>
                </a:solidFill>
                <a:latin typeface="MiSans"/>
                <a:ea typeface="MiSans"/>
              </a:rPr>
              <a:t>96,8</a:t>
            </a:r>
            <a:endParaRPr lang="en-US" sz="3600" noProof="1"/>
          </a:p>
        </p:txBody>
      </p:sp>
      <p:sp>
        <p:nvSpPr>
          <p:cNvPr id="9" name="kpi-1-lbl"/>
          <p:cNvSpPr txBox="1"/>
          <p:nvPr/>
        </p:nvSpPr>
        <p:spPr>
          <a:xfrm>
            <a:off x="508000" y="3098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кВт — мощность системы</a:t>
            </a:r>
            <a:endParaRPr lang="en-US" sz="1100" noProof="1"/>
          </a:p>
        </p:txBody>
      </p:sp>
      <p:sp>
        <p:nvSpPr>
          <p:cNvPr id="10" name="kpi-2-val"/>
          <p:cNvSpPr txBox="1"/>
          <p:nvPr/>
        </p:nvSpPr>
        <p:spPr>
          <a:xfrm>
            <a:off x="2603500" y="24892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FFFFFF"/>
                </a:solidFill>
                <a:latin typeface="MiSans"/>
                <a:ea typeface="MiSans"/>
              </a:rPr>
              <a:t>920</a:t>
            </a:r>
            <a:endParaRPr lang="en-US" sz="3600" noProof="1"/>
          </a:p>
        </p:txBody>
      </p:sp>
      <p:sp>
        <p:nvSpPr>
          <p:cNvPr id="11" name="kpi-2-lbl"/>
          <p:cNvSpPr txBox="1"/>
          <p:nvPr/>
        </p:nvSpPr>
        <p:spPr>
          <a:xfrm>
            <a:off x="2603500" y="3098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м — труба RAUTHERM S 20×2,0</a:t>
            </a:r>
            <a:endParaRPr lang="en-US" sz="1100" noProof="1"/>
          </a:p>
        </p:txBody>
      </p:sp>
      <p:sp>
        <p:nvSpPr>
          <p:cNvPr id="12" name="kpi-3-val"/>
          <p:cNvSpPr txBox="1"/>
          <p:nvPr/>
        </p:nvSpPr>
        <p:spPr>
          <a:xfrm>
            <a:off x="4699000" y="24892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FFFFFF"/>
                </a:solidFill>
                <a:latin typeface="MiSans"/>
                <a:ea typeface="MiSans"/>
              </a:rPr>
              <a:t>335,4</a:t>
            </a:r>
            <a:endParaRPr lang="en-US" sz="3600" noProof="1"/>
          </a:p>
        </p:txBody>
      </p:sp>
      <p:sp>
        <p:nvSpPr>
          <p:cNvPr id="13" name="kpi-3-lbl"/>
          <p:cNvSpPr txBox="1"/>
          <p:nvPr/>
        </p:nvSpPr>
        <p:spPr>
          <a:xfrm>
            <a:off x="4699000" y="30988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Вт/м² — удельная мощность</a:t>
            </a:r>
            <a:endParaRPr lang="en-US" sz="1100" noProof="1"/>
          </a:p>
        </p:txBody>
      </p:sp>
      <p:sp>
        <p:nvSpPr>
          <p:cNvPr id="14" name="kpi-4-val"/>
          <p:cNvSpPr txBox="1"/>
          <p:nvPr/>
        </p:nvSpPr>
        <p:spPr>
          <a:xfrm>
            <a:off x="6921500" y="2489200"/>
            <a:ext cx="177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FFFFFF"/>
                </a:solidFill>
                <a:latin typeface="MiSans"/>
                <a:ea typeface="MiSans"/>
              </a:rPr>
              <a:t>19</a:t>
            </a:r>
            <a:endParaRPr lang="en-US" sz="3600" noProof="1"/>
          </a:p>
        </p:txBody>
      </p:sp>
      <p:sp>
        <p:nvSpPr>
          <p:cNvPr id="15" name="kpi-4-lbl"/>
          <p:cNvSpPr txBox="1"/>
          <p:nvPr/>
        </p:nvSpPr>
        <p:spPr>
          <a:xfrm>
            <a:off x="6921500" y="3098800"/>
            <a:ext cx="177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контуров на 4 коллекторах</a:t>
            </a:r>
            <a:endParaRPr lang="en-US" sz="1100" noProof="1"/>
          </a:p>
        </p:txBody>
      </p:sp>
      <p:sp>
        <p:nvSpPr>
          <p:cNvPr id="16" name="kpi-caption"/>
          <p:cNvSpPr txBox="1"/>
          <p:nvPr/>
        </p:nvSpPr>
        <p:spPr>
          <a:xfrm>
            <a:off x="508000" y="39624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818181"/>
                </a:solidFill>
                <a:latin typeface="MiSans"/>
                <a:ea typeface="MiSans"/>
              </a:rPr>
              <a:t>Цифры реального расчёта: Екатеринбург, обогрев наружных поверхностей (режим Melting, этиленгликоль 40 %)</a:t>
            </a:r>
            <a:endParaRPr lang="en-US" sz="1000" noProof="1"/>
          </a:p>
        </p:txBody>
      </p:sp>
      <p:sp>
        <p:nvSpPr>
          <p:cNvPr id="17" name="steps-title"/>
          <p:cNvSpPr txBox="1"/>
          <p:nvPr/>
        </p:nvSpPr>
        <p:spPr>
          <a:xfrm>
            <a:off x="508000" y="447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MiSans"/>
                <a:ea typeface="MiSans"/>
              </a:rPr>
              <a:t>5 шагов до результата</a:t>
            </a:r>
            <a:endParaRPr lang="en-US" sz="2000" noProof="1"/>
          </a:p>
        </p:txBody>
      </p:sp>
      <p:sp>
        <p:nvSpPr>
          <p:cNvPr id="18" name="steps-bar"/>
          <p:cNvSpPr/>
          <p:nvPr/>
        </p:nvSpPr>
        <p:spPr>
          <a:xfrm>
            <a:off x="533400" y="4927600"/>
            <a:ext cx="5080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9" name="st-1-mark"/>
          <p:cNvSpPr/>
          <p:nvPr/>
        </p:nvSpPr>
        <p:spPr>
          <a:xfrm>
            <a:off x="508000" y="5232400"/>
            <a:ext cx="381000" cy="381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20" name="st-1-num"/>
          <p:cNvSpPr txBox="1"/>
          <p:nvPr/>
        </p:nvSpPr>
        <p:spPr>
          <a:xfrm>
            <a:off x="508000" y="5232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400" noProof="1"/>
          </a:p>
        </p:txBody>
      </p:sp>
      <p:sp>
        <p:nvSpPr>
          <p:cNvPr id="21" name="st-1-text"/>
          <p:cNvSpPr txBox="1"/>
          <p:nvPr/>
        </p:nvSpPr>
        <p:spPr>
          <a:xfrm>
            <a:off x="1066800" y="51816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 noProof="1" b="1">
                <a:solidFill>
                  <a:srgbClr val="4E4E4E"/>
                </a:solidFill>
                <a:latin typeface="MiSans"/>
                <a:ea typeface="MiSans"/>
              </a:rPr>
              <a:t>Климат.</a:t>
            </a: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 Введите город — температура, ветер и влажность подставятся из базы 550 городов РФ по СП 131.13330.2025</a:t>
            </a:r>
            <a:endParaRPr lang="en-US" sz="1200" noProof="1"/>
          </a:p>
        </p:txBody>
      </p:sp>
      <p:sp>
        <p:nvSpPr>
          <p:cNvPr id="22" name="st-2-mark"/>
          <p:cNvSpPr/>
          <p:nvPr/>
        </p:nvSpPr>
        <p:spPr>
          <a:xfrm>
            <a:off x="508000" y="5918200"/>
            <a:ext cx="381000" cy="381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23" name="st-2-num"/>
          <p:cNvSpPr txBox="1"/>
          <p:nvPr/>
        </p:nvSpPr>
        <p:spPr>
          <a:xfrm>
            <a:off x="508000" y="5918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400" noProof="1"/>
          </a:p>
        </p:txBody>
      </p:sp>
      <p:sp>
        <p:nvSpPr>
          <p:cNvPr id="24" name="st-2-text"/>
          <p:cNvSpPr txBox="1"/>
          <p:nvPr/>
        </p:nvSpPr>
        <p:spPr>
          <a:xfrm>
            <a:off x="1066800" y="5867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 noProof="1" b="1">
                <a:solidFill>
                  <a:srgbClr val="4E4E4E"/>
                </a:solidFill>
                <a:latin typeface="MiSans"/>
                <a:ea typeface="MiSans"/>
              </a:rPr>
              <a:t>Конструкция.</a:t>
            </a: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 Возьмите один из 3 шаблонов «пирога» или соберите слои сами — R₁, R₂ и разрез пересчитаются сразу</a:t>
            </a:r>
            <a:endParaRPr lang="en-US" sz="1200" noProof="1"/>
          </a:p>
        </p:txBody>
      </p:sp>
      <p:sp>
        <p:nvSpPr>
          <p:cNvPr id="25" name="st-3-mark"/>
          <p:cNvSpPr/>
          <p:nvPr/>
        </p:nvSpPr>
        <p:spPr>
          <a:xfrm>
            <a:off x="508000" y="6604000"/>
            <a:ext cx="381000" cy="381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26" name="st-3-num"/>
          <p:cNvSpPr txBox="1"/>
          <p:nvPr/>
        </p:nvSpPr>
        <p:spPr>
          <a:xfrm>
            <a:off x="508000" y="6604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400" noProof="1"/>
          </a:p>
        </p:txBody>
      </p:sp>
      <p:sp>
        <p:nvSpPr>
          <p:cNvPr id="27" name="st-3-text"/>
          <p:cNvSpPr txBox="1"/>
          <p:nvPr/>
        </p:nvSpPr>
        <p:spPr>
          <a:xfrm>
            <a:off x="1066800" y="65532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 noProof="1" b="1">
                <a:solidFill>
                  <a:srgbClr val="4E4E4E"/>
                </a:solidFill>
                <a:latin typeface="MiSans"/>
                <a:ea typeface="MiSans"/>
              </a:rPr>
              <a:t>Тепловой расчёт.</a:t>
            </a: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 Режим Melting, труба RAUTHERM S и шаг укладки → кнопка «Рассчитать» даёт мощность, Вт/м²</a:t>
            </a:r>
            <a:endParaRPr lang="en-US" sz="1200" noProof="1"/>
          </a:p>
        </p:txBody>
      </p:sp>
      <p:sp>
        <p:nvSpPr>
          <p:cNvPr id="28" name="st-4-mark"/>
          <p:cNvSpPr/>
          <p:nvPr/>
        </p:nvSpPr>
        <p:spPr>
          <a:xfrm>
            <a:off x="508000" y="7289800"/>
            <a:ext cx="381000" cy="381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29" name="st-4-num"/>
          <p:cNvSpPr txBox="1"/>
          <p:nvPr/>
        </p:nvSpPr>
        <p:spPr>
          <a:xfrm>
            <a:off x="508000" y="7289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1400" noProof="1"/>
          </a:p>
        </p:txBody>
      </p:sp>
      <p:sp>
        <p:nvSpPr>
          <p:cNvPr id="30" name="st-4-text"/>
          <p:cNvSpPr txBox="1"/>
          <p:nvPr/>
        </p:nvSpPr>
        <p:spPr>
          <a:xfrm>
            <a:off x="1066800" y="7239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 noProof="1" b="1">
                <a:solidFill>
                  <a:srgbClr val="4E4E4E"/>
                </a:solidFill>
                <a:latin typeface="MiSans"/>
                <a:ea typeface="MiSans"/>
              </a:rPr>
              <a:t>Гидравлика.</a:t>
            </a: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 Гликоль, коллекторы и контуры → потери давления, балансировка по VDI 2075 и обороты вентилей</a:t>
            </a:r>
            <a:endParaRPr lang="en-US" sz="1200" noProof="1"/>
          </a:p>
        </p:txBody>
      </p:sp>
      <p:sp>
        <p:nvSpPr>
          <p:cNvPr id="31" name="st-5-mark"/>
          <p:cNvSpPr/>
          <p:nvPr/>
        </p:nvSpPr>
        <p:spPr>
          <a:xfrm>
            <a:off x="508000" y="7975600"/>
            <a:ext cx="381000" cy="3810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32" name="st-5-num"/>
          <p:cNvSpPr txBox="1"/>
          <p:nvPr/>
        </p:nvSpPr>
        <p:spPr>
          <a:xfrm>
            <a:off x="508000" y="7975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5</a:t>
            </a:r>
            <a:endParaRPr lang="en-US" sz="1400" noProof="1"/>
          </a:p>
        </p:txBody>
      </p:sp>
      <p:sp>
        <p:nvSpPr>
          <p:cNvPr id="33" name="st-5-text"/>
          <p:cNvSpPr txBox="1"/>
          <p:nvPr/>
        </p:nvSpPr>
        <p:spPr>
          <a:xfrm>
            <a:off x="1066800" y="79248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 noProof="1" b="1">
                <a:solidFill>
                  <a:srgbClr val="4E4E4E"/>
                </a:solidFill>
                <a:latin typeface="MiSans"/>
                <a:ea typeface="MiSans"/>
              </a:rPr>
              <a:t>Результаты.</a:t>
            </a: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 КПИ, ведомость оборудования с артикулами РЕХАУ и брендированный отчёт PDF — в один клик</a:t>
            </a:r>
            <a:endParaRPr lang="en-US" sz="1200" noProof="1"/>
          </a:p>
        </p:txBody>
      </p:sp>
      <p:sp>
        <p:nvSpPr>
          <p:cNvPr id="34" name="check-bg"/>
          <p:cNvSpPr/>
          <p:nvPr/>
        </p:nvSpPr>
        <p:spPr>
          <a:xfrm>
            <a:off x="508000" y="8788400"/>
            <a:ext cx="812800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35" name="check-title"/>
          <p:cNvSpPr txBox="1"/>
          <p:nvPr/>
        </p:nvSpPr>
        <p:spPr>
          <a:xfrm>
            <a:off x="812800" y="89916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Проверьте перед выгрузкой отчёта</a:t>
            </a:r>
            <a:endParaRPr lang="en-US" sz="1600" noProof="1"/>
          </a:p>
        </p:txBody>
      </p:sp>
      <p:sp>
        <p:nvSpPr>
          <p:cNvPr id="36" name="ch-1-mark"/>
          <p:cNvSpPr/>
          <p:nvPr/>
        </p:nvSpPr>
        <p:spPr>
          <a:xfrm>
            <a:off x="812800" y="9499600"/>
            <a:ext cx="165100" cy="1651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37" name="ch-1"/>
          <p:cNvSpPr txBox="1"/>
          <p:nvPr/>
        </p:nvSpPr>
        <p:spPr>
          <a:xfrm>
            <a:off x="1117600" y="9448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Все бейджи шагов — зелёные (красный = нажмите «Рассчитать» ещё раз)</a:t>
            </a:r>
            <a:endParaRPr lang="en-US" sz="1200" noProof="1"/>
          </a:p>
        </p:txBody>
      </p:sp>
      <p:sp>
        <p:nvSpPr>
          <p:cNvPr id="38" name="ch-2-mark"/>
          <p:cNvSpPr/>
          <p:nvPr/>
        </p:nvSpPr>
        <p:spPr>
          <a:xfrm>
            <a:off x="812800" y="9906000"/>
            <a:ext cx="165100" cy="1651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39" name="ch-2"/>
          <p:cNvSpPr txBox="1"/>
          <p:nvPr/>
        </p:nvSpPr>
        <p:spPr>
          <a:xfrm>
            <a:off x="1117600" y="98552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Длина контура Ø20 — не более 120 м; над трубой — от 40/50 мм «пирога»</a:t>
            </a:r>
            <a:endParaRPr lang="en-US" sz="1200" noProof="1"/>
          </a:p>
        </p:txBody>
      </p:sp>
      <p:sp>
        <p:nvSpPr>
          <p:cNvPr id="40" name="ch-3-mark"/>
          <p:cNvSpPr/>
          <p:nvPr/>
        </p:nvSpPr>
        <p:spPr>
          <a:xfrm>
            <a:off x="812800" y="10312400"/>
            <a:ext cx="165100" cy="1651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41" name="ch-3"/>
          <p:cNvSpPr txBox="1"/>
          <p:nvPr/>
        </p:nvSpPr>
        <p:spPr>
          <a:xfrm>
            <a:off x="1117600" y="102616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Температура подачи ≤ 50 °C для бетона; асфальт — только при t ≥ −15 °C</a:t>
            </a:r>
            <a:endParaRPr lang="en-US" sz="1200" noProof="1"/>
          </a:p>
        </p:txBody>
      </p:sp>
      <p:sp>
        <p:nvSpPr>
          <p:cNvPr id="42" name="ch-4-mark"/>
          <p:cNvSpPr/>
          <p:nvPr/>
        </p:nvSpPr>
        <p:spPr>
          <a:xfrm>
            <a:off x="812800" y="10718800"/>
            <a:ext cx="165100" cy="1651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43" name="ch-4"/>
          <p:cNvSpPr txBox="1"/>
          <p:nvPr/>
        </p:nvSpPr>
        <p:spPr>
          <a:xfrm>
            <a:off x="1117600" y="106680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Потери давления на коллекторе — в пределах 320 мбар, смотрите рабочее и холодное ΔP</a:t>
            </a:r>
            <a:endParaRPr lang="en-US" sz="1200" noProof="1"/>
          </a:p>
        </p:txBody>
      </p:sp>
      <p:sp>
        <p:nvSpPr>
          <p:cNvPr id="44" name="ch-5-mark"/>
          <p:cNvSpPr/>
          <p:nvPr/>
        </p:nvSpPr>
        <p:spPr>
          <a:xfrm>
            <a:off x="812800" y="11125200"/>
            <a:ext cx="165100" cy="1651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45" name="ch-5"/>
          <p:cNvSpPr txBox="1"/>
          <p:nvPr/>
        </p:nvSpPr>
        <p:spPr>
          <a:xfrm>
            <a:off x="1117600" y="110744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4E4E4E"/>
                </a:solidFill>
                <a:latin typeface="MiSans"/>
                <a:ea typeface="MiSans"/>
              </a:rPr>
              <a:t>Проект сохранён в .smc — отчёт PDF можно обновить в любой момент</a:t>
            </a:r>
            <a:endParaRPr lang="en-US" sz="1200" noProof="1"/>
          </a:p>
        </p:txBody>
      </p:sp>
      <p:sp>
        <p:nvSpPr>
          <p:cNvPr id="46" name="footer-line"/>
          <p:cNvSpPr/>
          <p:nvPr/>
        </p:nvSpPr>
        <p:spPr>
          <a:xfrm>
            <a:off x="508000" y="11811000"/>
            <a:ext cx="8128000" cy="254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47" name="footer-products"/>
          <p:cNvSpPr txBox="1"/>
          <p:nvPr/>
        </p:nvSpPr>
        <p:spPr>
          <a:xfrm>
            <a:off x="508000" y="119888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4E4E4E"/>
                </a:solidFill>
                <a:latin typeface="MiSans"/>
                <a:ea typeface="MiSans"/>
              </a:rPr>
              <a:t>В спецификации:</a:t>
            </a:r>
            <a:r>
              <a:rPr lang="en-US" sz="1100" noProof="1">
                <a:solidFill>
                  <a:srgbClr val="4E4E4E"/>
                </a:solidFill>
                <a:latin typeface="MiSans"/>
                <a:ea typeface="MiSans"/>
              </a:rPr>
              <a:t> трубы RAUTHERM S 17/20/25 · коллекторы HKV-D и IV 1¼″ / 1½″</a:t>
            </a:r>
            <a:endParaRPr lang="en-US" sz="1100" noProof="1"/>
          </a:p>
        </p:txBody>
      </p:sp>
      <p:sp>
        <p:nvSpPr>
          <p:cNvPr id="48" name="footer-norms"/>
          <p:cNvSpPr txBox="1"/>
          <p:nvPr/>
        </p:nvSpPr>
        <p:spPr>
          <a:xfrm>
            <a:off x="508000" y="122936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818181"/>
                </a:solidFill>
                <a:latin typeface="MiSans"/>
                <a:ea typeface="MiSans"/>
              </a:rPr>
              <a:t>Методика: СП 131.13330.2025 · VDI 2075 · DIN EN 60534 · ASHRAE</a:t>
            </a:r>
            <a:endParaRPr lang="en-US" sz="1000" noProof="1"/>
          </a:p>
        </p:txBody>
      </p:sp>
      <p:sp>
        <p:nvSpPr>
          <p:cNvPr id="49" name="footer-slogan"/>
          <p:cNvSpPr txBox="1"/>
          <p:nvPr/>
        </p:nvSpPr>
        <p:spPr>
          <a:xfrm>
            <a:off x="508000" y="12573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B0B0B0"/>
                </a:solidFill>
                <a:latin typeface="MiSans"/>
                <a:ea typeface="MiSans"/>
              </a:rPr>
              <a:t>Асадуллин Айдар · aydar.asadullin@rhsolutions.ru · +7 922 157 01 80</a:t>
            </a:r>
            <a:endParaRPr lang="en-US" sz="1000" noProof="1"/>
          </a:p>
        </p:txBody>
      </p:sp>
      <p:pic>
        <p:nvPicPr>
          <p:cNvPr id="50" name="footer-icon"/>
          <p:cNvPicPr/>
          <p:nvPr/>
        </p:nvPicPr>
        <p:blipFill>
          <a:blip r:embed="rId4"/>
          <a:srcRect l="-203" r="-203"/>
          <a:stretch>
            <a:fillRect/>
          </a:stretch>
        </p:blipFill>
        <p:spPr>
          <a:xfrm>
            <a:off x="8280400" y="12293600"/>
            <a:ext cx="355600" cy="3683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</Slides>
</Properties>
</file>

<file path=docProps/core.xml><?xml version="1.0" encoding="utf-8"?>
<cp:coreProperties xmlns:cp="http://schemas.openxmlformats.org/package/2006/metadata/core-properties" xmlns:dc="http://purl.org/dc/elements/1.1/">
  <dc:title>РЕХАУ Калькулятор снеготаяния — шпаргалка A4</dc:title>
  <dc:subject>РЕХАУ Калькулятор снеготаяния — шпаргалка A4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{"Label":"РЕХАУ Калькулятор снеготаяния — шпаргалка A4","ContentProducer":"001191110108MACG2KBH8F10000","ProduceID":"rehau_cheatsheet","ReservedCode1":"","ContentPropagator":"001191110108MACG2KBH8F20000","PropagateID":"agent:main:main:conversation:0e45d92d-2496-4a30-aac0-f895591856da","ReservedCode2":""}</vt:lpwstr>
  </property>
</Properties>
</file>