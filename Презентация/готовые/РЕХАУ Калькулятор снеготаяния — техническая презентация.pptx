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 type="custom"/>
  <p:notesSz cx="12192000" cy="68580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Relationship Id="rId3" Type="http://schemas.openxmlformats.org/officeDocument/2006/relationships/image" Target="../media/image1_2.png"/><Relationship Id="rId4" Type="http://schemas.openxmlformats.org/officeDocument/2006/relationships/image" Target="../media/image1_3.png"/><Relationship Id="rId5" Type="http://schemas.openxmlformats.org/officeDocument/2006/relationships/image" Target="../media/image1_4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_1.png"/><Relationship Id="rId3" Type="http://schemas.openxmlformats.org/officeDocument/2006/relationships/image" Target="../media/image2_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_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_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_1.png"/><Relationship Id="rId3" Type="http://schemas.openxmlformats.org/officeDocument/2006/relationships/image" Target="../media/image3_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_1.png"/><Relationship Id="rId3" Type="http://schemas.openxmlformats.org/officeDocument/2006/relationships/image" Target="../media/image3_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_1.png"/><Relationship Id="rId3" Type="http://schemas.openxmlformats.org/officeDocument/2006/relationships/image" Target="../media/image3_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_1.png"/><Relationship Id="rId3" Type="http://schemas.openxmlformats.org/officeDocument/2006/relationships/image" Target="../media/image3_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_1.png"/><Relationship Id="rId3" Type="http://schemas.openxmlformats.org/officeDocument/2006/relationships/image" Target="../media/image3_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_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_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_1.png"/><Relationship Id="rId3" Type="http://schemas.openxmlformats.org/officeDocument/2006/relationships/image" Target="../media/image12_2.png"/><Relationship Id="rId4" Type="http://schemas.openxmlformats.org/officeDocument/2006/relationships/image" Target="../media/image3_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_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_1.png"/><Relationship Id="rId3" Type="http://schemas.openxmlformats.org/officeDocument/2006/relationships/image" Target="../media/image2_2.png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ttern-tr"/>
          <p:cNvPicPr/>
          <p:nvPr/>
        </p:nvPicPr>
        <p:blipFill>
          <a:blip r:embed="rId2"/>
          <a:srcRect l="15" r="15"/>
          <a:stretch>
            <a:fillRect/>
          </a:stretch>
        </p:blipFill>
        <p:spPr>
          <a:xfrm>
            <a:off x="8382000" y="0"/>
            <a:ext cx="3810000" cy="2387600"/>
          </a:xfrm>
          <a:prstGeom prst="rect">
            <a:avLst/>
          </a:prstGeom>
          <a:ln>
            <a:noFill/>
          </a:ln>
        </p:spPr>
      </p:pic>
      <p:pic>
        <p:nvPicPr>
          <p:cNvPr id="3" name="logo"/>
          <p:cNvPicPr/>
          <p:nvPr/>
        </p:nvPicPr>
        <p:blipFill>
          <a:blip r:embed="rId3"/>
          <a:srcRect l="-379" r="-379"/>
          <a:stretch>
            <a:fillRect/>
          </a:stretch>
        </p:blipFill>
        <p:spPr>
          <a:xfrm>
            <a:off x="762000" y="609600"/>
            <a:ext cx="2286000" cy="825500"/>
          </a:xfrm>
          <a:prstGeom prst="rect">
            <a:avLst/>
          </a:prstGeom>
          <a:ln>
            <a:noFill/>
          </a:ln>
        </p:spPr>
      </p:pic>
      <p:pic>
        <p:nvPicPr>
          <p:cNvPr id="4" name="app-icon"/>
          <p:cNvPicPr/>
          <p:nvPr/>
        </p:nvPicPr>
        <p:blipFill>
          <a:blip r:embed="rId4"/>
          <a:srcRect l="0" r="0"/>
          <a:stretch>
            <a:fillRect/>
          </a:stretch>
        </p:blipFill>
        <p:spPr>
          <a:xfrm>
            <a:off x="10058400" y="2844800"/>
            <a:ext cx="1371600" cy="1371600"/>
          </a:xfrm>
          <a:prstGeom prst="rect">
            <a:avLst/>
          </a:prstGeom>
          <a:ln>
            <a:noFill/>
          </a:ln>
        </p:spPr>
      </p:pic>
      <p:sp>
        <p:nvSpPr>
          <p:cNvPr id="5" name="accent-bar"/>
          <p:cNvSpPr/>
          <p:nvPr/>
        </p:nvSpPr>
        <p:spPr>
          <a:xfrm>
            <a:off x="787400" y="2768600"/>
            <a:ext cx="584200" cy="762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title"/>
          <p:cNvSpPr txBox="1"/>
          <p:nvPr/>
        </p:nvSpPr>
        <p:spPr>
          <a:xfrm>
            <a:off x="762000" y="3022600"/>
            <a:ext cx="812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200" noProof="1" b="1">
                <a:solidFill>
                  <a:srgbClr val="000000"/>
                </a:solidFill>
                <a:latin typeface="MiSans"/>
                <a:ea typeface="MiSans"/>
              </a:rPr>
              <a:t>Калькулятор снеготаяния</a:t>
            </a:r>
            <a:endParaRPr lang="en-US" sz="4200" noProof="1"/>
          </a:p>
        </p:txBody>
      </p:sp>
      <p:sp>
        <p:nvSpPr>
          <p:cNvPr id="7" name="subtitle"/>
          <p:cNvSpPr txBox="1"/>
          <p:nvPr/>
        </p:nvSpPr>
        <p:spPr>
          <a:xfrm>
            <a:off x="762000" y="3911600"/>
            <a:ext cx="711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700" noProof="1">
                <a:solidFill>
                  <a:srgbClr val="4E4E4E"/>
                </a:solidFill>
                <a:latin typeface="MiSans"/>
                <a:ea typeface="MiSans"/>
              </a:rPr>
              <a:t>Тепловой и гидравлический расчёт систем антиобледенения открытых площадок — по нормативам, с продукцией РЕХАУ</a:t>
            </a:r>
            <a:endParaRPr lang="en-US" sz="1700" noProof="1"/>
          </a:p>
        </p:txBody>
      </p:sp>
      <p:pic>
        <p:nvPicPr>
          <p:cNvPr id="8" name="squares-br"/>
          <p:cNvPicPr/>
          <p:nvPr/>
        </p:nvPicPr>
        <p:blipFill>
          <a:blip r:embed="rId5"/>
          <a:srcRect l="-36" r="-36"/>
          <a:stretch>
            <a:fillRect/>
          </a:stretch>
        </p:blipFill>
        <p:spPr>
          <a:xfrm>
            <a:off x="10871200" y="5080000"/>
            <a:ext cx="711200" cy="1168400"/>
          </a:xfrm>
          <a:prstGeom prst="rect">
            <a:avLst/>
          </a:prstGeom>
          <a:ln>
            <a:noFill/>
          </a:ln>
        </p:spPr>
      </p:pic>
      <p:sp>
        <p:nvSpPr>
          <p:cNvPr id="9" name="slogan"/>
          <p:cNvSpPr txBox="1"/>
          <p:nvPr/>
        </p:nvSpPr>
        <p:spPr>
          <a:xfrm>
            <a:off x="762000" y="60706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Решения для дома и бизнеса</a:t>
            </a:r>
            <a:endParaRPr lang="en-US" sz="1300" noProof="1"/>
          </a:p>
        </p:txBody>
      </p:sp>
      <p:sp>
        <p:nvSpPr>
          <p:cNvPr id="10" name="meta"/>
          <p:cNvSpPr txBox="1"/>
          <p:nvPr/>
        </p:nvSpPr>
        <p:spPr>
          <a:xfrm>
            <a:off x="5842000" y="60706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200" noProof="1">
                <a:solidFill>
                  <a:srgbClr val="B0B0B0"/>
                </a:solidFill>
                <a:latin typeface="MiSans"/>
                <a:ea typeface="MiSans"/>
              </a:rPr>
              <a:t>Техническая презентация · кейс «Екатеринбург» · 2026</a:t>
            </a:r>
            <a:endParaRPr lang="en-US" sz="12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ttern-right"/>
          <p:cNvPicPr/>
          <p:nvPr/>
        </p:nvPicPr>
        <p:blipFill>
          <a:blip r:embed="rId2"/>
          <a:srcRect l="29799" r="29799"/>
          <a:stretch>
            <a:fillRect/>
          </a:stretch>
        </p:blipFill>
        <p:spPr>
          <a:xfrm>
            <a:off x="7874000" y="0"/>
            <a:ext cx="4318000" cy="6858000"/>
          </a:xfrm>
          <a:prstGeom prst="rect">
            <a:avLst/>
          </a:prstGeom>
          <a:ln>
            <a:noFill/>
          </a:ln>
        </p:spPr>
      </p:pic>
      <p:pic>
        <p:nvPicPr>
          <p:cNvPr id="3" name="logo"/>
          <p:cNvPicPr/>
          <p:nvPr/>
        </p:nvPicPr>
        <p:blipFill>
          <a:blip r:embed="rId3"/>
          <a:srcRect l="-286" r="-286"/>
          <a:stretch>
            <a:fillRect/>
          </a:stretch>
        </p:blipFill>
        <p:spPr>
          <a:xfrm>
            <a:off x="762000" y="609600"/>
            <a:ext cx="1524000" cy="800100"/>
          </a:xfrm>
          <a:prstGeom prst="rect">
            <a:avLst/>
          </a:prstGeom>
          <a:ln>
            <a:noFill/>
          </a:ln>
        </p:spPr>
      </p:pic>
      <p:sp>
        <p:nvSpPr>
          <p:cNvPr id="4" name="chapter-num"/>
          <p:cNvSpPr txBox="1"/>
          <p:nvPr/>
        </p:nvSpPr>
        <p:spPr>
          <a:xfrm>
            <a:off x="762000" y="24130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8800" noProof="1" b="1">
                <a:solidFill>
                  <a:srgbClr val="E50040"/>
                </a:solidFill>
                <a:latin typeface="MiSans"/>
                <a:ea typeface="MiSans"/>
              </a:rPr>
              <a:t>01</a:t>
            </a:r>
            <a:endParaRPr lang="en-US" sz="8800" noProof="1"/>
          </a:p>
        </p:txBody>
      </p:sp>
      <p:sp>
        <p:nvSpPr>
          <p:cNvPr id="5" name="accent-bar"/>
          <p:cNvSpPr/>
          <p:nvPr/>
        </p:nvSpPr>
        <p:spPr>
          <a:xfrm>
            <a:off x="787400" y="3810000"/>
            <a:ext cx="584200" cy="762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6" name="chapter-title"/>
          <p:cNvSpPr txBox="1"/>
          <p:nvPr/>
        </p:nvSpPr>
        <p:spPr>
          <a:xfrm>
            <a:off x="762000" y="4064000"/>
            <a:ext cx="6604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800" noProof="1" b="1">
                <a:solidFill>
                  <a:srgbClr val="FFFFFF"/>
                </a:solidFill>
                <a:latin typeface="MiSans"/>
                <a:ea typeface="MiSans"/>
              </a:rPr>
              <a:t>Основа расчётов</a:t>
            </a:r>
            <a:endParaRPr lang="en-US" sz="3800" noProof="1"/>
          </a:p>
        </p:txBody>
      </p:sp>
      <p:sp>
        <p:nvSpPr>
          <p:cNvPr id="7" name="chapter-sub"/>
          <p:cNvSpPr txBox="1"/>
          <p:nvPr/>
        </p:nvSpPr>
        <p:spPr>
          <a:xfrm>
            <a:off x="762000" y="49276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B0B0B0"/>
                </a:solidFill>
                <a:latin typeface="MiSans"/>
                <a:ea typeface="MiSans"/>
              </a:rPr>
              <a:t>Нормативная база и логика из пяти шагов</a:t>
            </a:r>
            <a:endParaRPr lang="en-US" sz="1500" noProof="1"/>
          </a:p>
        </p:txBody>
      </p:sp>
      <p:sp>
        <p:nvSpPr>
          <p:cNvPr id="8" name="page-num"/>
          <p:cNvSpPr txBox="1"/>
          <p:nvPr/>
        </p:nvSpPr>
        <p:spPr>
          <a:xfrm>
            <a:off x="10922000" y="63246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02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ОСНОВА РАСЧЁТОВ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Методика — только на нормативах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card-1"/>
          <p:cNvSpPr/>
          <p:nvPr/>
        </p:nvSpPr>
        <p:spPr>
          <a:xfrm>
            <a:off x="762000" y="1905000"/>
            <a:ext cx="5334000" cy="1778000"/>
          </a:xfrm>
          <a:prstGeom prst="roundRect">
            <a:avLst>
              <a:gd name="adj" fmla="val 7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6" name="card-1-name"/>
          <p:cNvSpPr txBox="1"/>
          <p:nvPr/>
        </p:nvSpPr>
        <p:spPr>
          <a:xfrm>
            <a:off x="1041400" y="21082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b="1">
                <a:solidFill>
                  <a:srgbClr val="000000"/>
                </a:solidFill>
                <a:latin typeface="MiSans"/>
                <a:ea typeface="MiSans"/>
              </a:rPr>
              <a:t>СП 131.13330.2025</a:t>
            </a:r>
            <a:endParaRPr lang="en-US" sz="1700" noProof="1"/>
          </a:p>
        </p:txBody>
      </p:sp>
      <p:sp>
        <p:nvSpPr>
          <p:cNvPr id="7" name="card-1-desc"/>
          <p:cNvSpPr txBox="1"/>
          <p:nvPr/>
        </p:nvSpPr>
        <p:spPr>
          <a:xfrm>
            <a:off x="1041400" y="2540000"/>
            <a:ext cx="47752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«Строительная климатология»: t холодной пятидневки, ветер, влажность, снеговая нагрузка — база </a:t>
            </a: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550 городов РФ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внутри программы</a:t>
            </a:r>
            <a:endParaRPr lang="en-US" sz="1300" noProof="1"/>
          </a:p>
        </p:txBody>
      </p:sp>
      <p:sp>
        <p:nvSpPr>
          <p:cNvPr id="8" name="card-2"/>
          <p:cNvSpPr/>
          <p:nvPr/>
        </p:nvSpPr>
        <p:spPr>
          <a:xfrm>
            <a:off x="6350000" y="1905000"/>
            <a:ext cx="5334000" cy="1778000"/>
          </a:xfrm>
          <a:prstGeom prst="roundRect">
            <a:avLst>
              <a:gd name="adj" fmla="val 7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9" name="card-2-name"/>
          <p:cNvSpPr txBox="1"/>
          <p:nvPr/>
        </p:nvSpPr>
        <p:spPr>
          <a:xfrm>
            <a:off x="6629400" y="21082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b="1">
                <a:solidFill>
                  <a:srgbClr val="000000"/>
                </a:solidFill>
                <a:latin typeface="MiSans"/>
                <a:ea typeface="MiSans"/>
              </a:rPr>
              <a:t>VDI 2075</a:t>
            </a:r>
            <a:endParaRPr lang="en-US" sz="1700" noProof="1"/>
          </a:p>
        </p:txBody>
      </p:sp>
      <p:sp>
        <p:nvSpPr>
          <p:cNvPr id="10" name="card-2-desc"/>
          <p:cNvSpPr txBox="1"/>
          <p:nvPr/>
        </p:nvSpPr>
        <p:spPr>
          <a:xfrm>
            <a:off x="6629400" y="2540000"/>
            <a:ext cx="47752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Гидравлическая балансировка контуров: увязка потерь давления дросселированием на коллекторах</a:t>
            </a:r>
            <a:endParaRPr lang="en-US" sz="1300" noProof="1"/>
          </a:p>
        </p:txBody>
      </p:sp>
      <p:sp>
        <p:nvSpPr>
          <p:cNvPr id="11" name="card-3"/>
          <p:cNvSpPr/>
          <p:nvPr/>
        </p:nvSpPr>
        <p:spPr>
          <a:xfrm>
            <a:off x="762000" y="3937000"/>
            <a:ext cx="5334000" cy="1778000"/>
          </a:xfrm>
          <a:prstGeom prst="roundRect">
            <a:avLst>
              <a:gd name="adj" fmla="val 7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2" name="card-3-name"/>
          <p:cNvSpPr txBox="1"/>
          <p:nvPr/>
        </p:nvSpPr>
        <p:spPr>
          <a:xfrm>
            <a:off x="1041400" y="41402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b="1">
                <a:solidFill>
                  <a:srgbClr val="000000"/>
                </a:solidFill>
                <a:latin typeface="MiSans"/>
                <a:ea typeface="MiSans"/>
              </a:rPr>
              <a:t>DIN EN 60534</a:t>
            </a:r>
            <a:endParaRPr lang="en-US" sz="1700" noProof="1"/>
          </a:p>
        </p:txBody>
      </p:sp>
      <p:sp>
        <p:nvSpPr>
          <p:cNvPr id="13" name="card-3-desc"/>
          <p:cNvSpPr txBox="1"/>
          <p:nvPr/>
        </p:nvSpPr>
        <p:spPr>
          <a:xfrm>
            <a:off x="1041400" y="4572000"/>
            <a:ext cx="47752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Промышленные регулирующие клапаны: подбор по коэффициенту пропускной способности Kv</a:t>
            </a:r>
            <a:endParaRPr lang="en-US" sz="1300" noProof="1"/>
          </a:p>
        </p:txBody>
      </p:sp>
      <p:sp>
        <p:nvSpPr>
          <p:cNvPr id="14" name="card-4"/>
          <p:cNvSpPr/>
          <p:nvPr/>
        </p:nvSpPr>
        <p:spPr>
          <a:xfrm>
            <a:off x="6350000" y="3937000"/>
            <a:ext cx="5334000" cy="1778000"/>
          </a:xfrm>
          <a:prstGeom prst="roundRect">
            <a:avLst>
              <a:gd name="adj" fmla="val 7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5" name="card-4-name"/>
          <p:cNvSpPr txBox="1"/>
          <p:nvPr/>
        </p:nvSpPr>
        <p:spPr>
          <a:xfrm>
            <a:off x="6629400" y="41402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b="1">
                <a:solidFill>
                  <a:srgbClr val="000000"/>
                </a:solidFill>
                <a:latin typeface="MiSans"/>
                <a:ea typeface="MiSans"/>
              </a:rPr>
              <a:t>ASHRAE Handbook</a:t>
            </a:r>
            <a:endParaRPr lang="en-US" sz="1700" noProof="1"/>
          </a:p>
        </p:txBody>
      </p:sp>
      <p:sp>
        <p:nvSpPr>
          <p:cNvPr id="16" name="card-4-desc"/>
          <p:cNvSpPr txBox="1"/>
          <p:nvPr/>
        </p:nvSpPr>
        <p:spPr>
          <a:xfrm>
            <a:off x="6629400" y="4572000"/>
            <a:ext cx="47752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Теплофизика теплоносителей: плотность, вязкость, теплоёмкость растворов этилен- и пропиленгликоля 10–90 %</a:t>
            </a:r>
            <a:endParaRPr lang="en-US" sz="1300" noProof="1"/>
          </a:p>
        </p:txBody>
      </p:sp>
      <p:sp>
        <p:nvSpPr>
          <p:cNvPr id="17" name="note"/>
          <p:cNvSpPr txBox="1"/>
          <p:nvPr/>
        </p:nvSpPr>
        <p:spPr>
          <a:xfrm>
            <a:off x="762000" y="5969000"/>
            <a:ext cx="10922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Единая методика для всех проектировщиков — расчёт воспроизводим и проверяем по первоисточникам</a:t>
            </a:r>
            <a:endParaRPr lang="en-US" sz="1300" noProof="1"/>
          </a:p>
        </p:txBody>
      </p:sp>
      <p:pic>
        <p:nvPicPr>
          <p:cNvPr id="18" name="footer-logo"/>
          <p:cNvPicPr/>
          <p:nvPr/>
        </p:nvPicPr>
        <p:blipFill>
          <a:blip r:embed="rId2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9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03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ЛОГИКА РАСЧЁТА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Пять шагов — от климата до спецификации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chev-1"/>
          <p:cNvSpPr/>
          <p:nvPr/>
        </p:nvSpPr>
        <p:spPr>
          <a:xfrm>
            <a:off x="762000" y="2032000"/>
            <a:ext cx="2082800" cy="914400"/>
          </a:xfrm>
          <a:prstGeom prst="homePlate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chev-1-num"/>
          <p:cNvSpPr txBox="1"/>
          <p:nvPr/>
        </p:nvSpPr>
        <p:spPr>
          <a:xfrm>
            <a:off x="914400" y="2133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FFFFFF"/>
                </a:solidFill>
                <a:latin typeface="MiSans"/>
                <a:ea typeface="MiSans"/>
              </a:rPr>
              <a:t>01</a:t>
            </a:r>
            <a:endParaRPr lang="en-US" sz="1600" noProof="1"/>
          </a:p>
        </p:txBody>
      </p:sp>
      <p:sp>
        <p:nvSpPr>
          <p:cNvPr id="7" name="chev-1-name"/>
          <p:cNvSpPr txBox="1"/>
          <p:nvPr/>
        </p:nvSpPr>
        <p:spPr>
          <a:xfrm>
            <a:off x="914400" y="2438400"/>
            <a:ext cx="177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" noProof="1" b="1">
                <a:solidFill>
                  <a:srgbClr val="FFFFFF"/>
                </a:solidFill>
                <a:latin typeface="MiSans"/>
                <a:ea typeface="MiSans"/>
              </a:rPr>
              <a:t>Климат</a:t>
            </a:r>
            <a:endParaRPr lang="en-US" sz="1400" noProof="1"/>
          </a:p>
        </p:txBody>
      </p:sp>
      <p:sp>
        <p:nvSpPr>
          <p:cNvPr id="8" name="chev-2"/>
          <p:cNvSpPr/>
          <p:nvPr/>
        </p:nvSpPr>
        <p:spPr>
          <a:xfrm>
            <a:off x="2908300" y="2032000"/>
            <a:ext cx="2082800" cy="914400"/>
          </a:xfrm>
          <a:prstGeom prst="homePlate">
            <a:avLst/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9" name="chev-2-num"/>
          <p:cNvSpPr txBox="1"/>
          <p:nvPr/>
        </p:nvSpPr>
        <p:spPr>
          <a:xfrm>
            <a:off x="3111500" y="2133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E50040"/>
                </a:solidFill>
                <a:latin typeface="MiSans"/>
                <a:ea typeface="MiSans"/>
              </a:rPr>
              <a:t>02</a:t>
            </a:r>
            <a:endParaRPr lang="en-US" sz="1600" noProof="1"/>
          </a:p>
        </p:txBody>
      </p:sp>
      <p:sp>
        <p:nvSpPr>
          <p:cNvPr id="10" name="chev-2-name"/>
          <p:cNvSpPr txBox="1"/>
          <p:nvPr/>
        </p:nvSpPr>
        <p:spPr>
          <a:xfrm>
            <a:off x="3111500" y="2438400"/>
            <a:ext cx="177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" noProof="1" b="1">
                <a:solidFill>
                  <a:srgbClr val="000000"/>
                </a:solidFill>
                <a:latin typeface="MiSans"/>
                <a:ea typeface="MiSans"/>
              </a:rPr>
              <a:t>Конструкция</a:t>
            </a:r>
            <a:endParaRPr lang="en-US" sz="1400" noProof="1"/>
          </a:p>
        </p:txBody>
      </p:sp>
      <p:sp>
        <p:nvSpPr>
          <p:cNvPr id="11" name="chev-3"/>
          <p:cNvSpPr/>
          <p:nvPr/>
        </p:nvSpPr>
        <p:spPr>
          <a:xfrm>
            <a:off x="5054600" y="2032000"/>
            <a:ext cx="2082800" cy="914400"/>
          </a:xfrm>
          <a:prstGeom prst="homePlate">
            <a:avLst/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2" name="chev-3-num"/>
          <p:cNvSpPr txBox="1"/>
          <p:nvPr/>
        </p:nvSpPr>
        <p:spPr>
          <a:xfrm>
            <a:off x="5257800" y="2133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E50040"/>
                </a:solidFill>
                <a:latin typeface="MiSans"/>
                <a:ea typeface="MiSans"/>
              </a:rPr>
              <a:t>03</a:t>
            </a:r>
            <a:endParaRPr lang="en-US" sz="1600" noProof="1"/>
          </a:p>
        </p:txBody>
      </p:sp>
      <p:sp>
        <p:nvSpPr>
          <p:cNvPr id="13" name="chev-3-name"/>
          <p:cNvSpPr txBox="1"/>
          <p:nvPr/>
        </p:nvSpPr>
        <p:spPr>
          <a:xfrm>
            <a:off x="5257800" y="2438400"/>
            <a:ext cx="177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" noProof="1" b="1">
                <a:solidFill>
                  <a:srgbClr val="000000"/>
                </a:solidFill>
                <a:latin typeface="MiSans"/>
                <a:ea typeface="MiSans"/>
              </a:rPr>
              <a:t>Тепловой</a:t>
            </a:r>
            <a:endParaRPr lang="en-US" sz="1400" noProof="1"/>
          </a:p>
        </p:txBody>
      </p:sp>
      <p:sp>
        <p:nvSpPr>
          <p:cNvPr id="14" name="chev-4"/>
          <p:cNvSpPr/>
          <p:nvPr/>
        </p:nvSpPr>
        <p:spPr>
          <a:xfrm>
            <a:off x="7200900" y="2032000"/>
            <a:ext cx="2082800" cy="914400"/>
          </a:xfrm>
          <a:prstGeom prst="homePlate">
            <a:avLst/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5" name="chev-4-num"/>
          <p:cNvSpPr txBox="1"/>
          <p:nvPr/>
        </p:nvSpPr>
        <p:spPr>
          <a:xfrm>
            <a:off x="7404100" y="2133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E50040"/>
                </a:solidFill>
                <a:latin typeface="MiSans"/>
                <a:ea typeface="MiSans"/>
              </a:rPr>
              <a:t>04</a:t>
            </a:r>
            <a:endParaRPr lang="en-US" sz="1600" noProof="1"/>
          </a:p>
        </p:txBody>
      </p:sp>
      <p:sp>
        <p:nvSpPr>
          <p:cNvPr id="16" name="chev-4-name"/>
          <p:cNvSpPr txBox="1"/>
          <p:nvPr/>
        </p:nvSpPr>
        <p:spPr>
          <a:xfrm>
            <a:off x="7404100" y="2438400"/>
            <a:ext cx="177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" noProof="1" b="1">
                <a:solidFill>
                  <a:srgbClr val="000000"/>
                </a:solidFill>
                <a:latin typeface="MiSans"/>
                <a:ea typeface="MiSans"/>
              </a:rPr>
              <a:t>Гидравлика</a:t>
            </a:r>
            <a:endParaRPr lang="en-US" sz="1400" noProof="1"/>
          </a:p>
        </p:txBody>
      </p:sp>
      <p:sp>
        <p:nvSpPr>
          <p:cNvPr id="17" name="chev-5"/>
          <p:cNvSpPr/>
          <p:nvPr/>
        </p:nvSpPr>
        <p:spPr>
          <a:xfrm>
            <a:off x="9347200" y="2032000"/>
            <a:ext cx="2082800" cy="914400"/>
          </a:xfrm>
          <a:prstGeom prst="homePlate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8" name="chev-5-num"/>
          <p:cNvSpPr txBox="1"/>
          <p:nvPr/>
        </p:nvSpPr>
        <p:spPr>
          <a:xfrm>
            <a:off x="9550400" y="2133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000000"/>
                </a:solidFill>
                <a:latin typeface="MiSans"/>
                <a:ea typeface="MiSans"/>
              </a:rPr>
              <a:t>05</a:t>
            </a:r>
            <a:endParaRPr lang="en-US" sz="1600" noProof="1"/>
          </a:p>
        </p:txBody>
      </p:sp>
      <p:sp>
        <p:nvSpPr>
          <p:cNvPr id="19" name="chev-5-name"/>
          <p:cNvSpPr txBox="1"/>
          <p:nvPr/>
        </p:nvSpPr>
        <p:spPr>
          <a:xfrm>
            <a:off x="9550400" y="2438400"/>
            <a:ext cx="177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" noProof="1" b="1">
                <a:solidFill>
                  <a:srgbClr val="000000"/>
                </a:solidFill>
                <a:latin typeface="MiSans"/>
                <a:ea typeface="MiSans"/>
              </a:rPr>
              <a:t>Результаты</a:t>
            </a:r>
            <a:endParaRPr lang="en-US" sz="1400" noProof="1"/>
          </a:p>
        </p:txBody>
      </p:sp>
      <p:sp>
        <p:nvSpPr>
          <p:cNvPr id="20" name="d-1"/>
          <p:cNvSpPr txBox="1"/>
          <p:nvPr/>
        </p:nvSpPr>
        <p:spPr>
          <a:xfrm>
            <a:off x="762000" y="3200400"/>
            <a:ext cx="2032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200" noProof="1">
                <a:solidFill>
                  <a:srgbClr val="4E4E4E"/>
                </a:solidFill>
                <a:latin typeface="MiSans"/>
                <a:ea typeface="MiSans"/>
              </a:rPr>
              <a:t>Город из базы 550 городов РФ — параметры СП подставляются автоматически</a:t>
            </a:r>
            <a:endParaRPr lang="en-US" sz="1200" noProof="1"/>
          </a:p>
        </p:txBody>
      </p:sp>
      <p:sp>
        <p:nvSpPr>
          <p:cNvPr id="21" name="d-2"/>
          <p:cNvSpPr txBox="1"/>
          <p:nvPr/>
        </p:nvSpPr>
        <p:spPr>
          <a:xfrm>
            <a:off x="2908300" y="3200400"/>
            <a:ext cx="2032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200" noProof="1">
                <a:solidFill>
                  <a:srgbClr val="4E4E4E"/>
                </a:solidFill>
                <a:latin typeface="MiSans"/>
                <a:ea typeface="MiSans"/>
              </a:rPr>
              <a:t>Слои «пирога» над и под трубой, термосопротивления R₁ и R₂</a:t>
            </a:r>
            <a:endParaRPr lang="en-US" sz="1200" noProof="1"/>
          </a:p>
        </p:txBody>
      </p:sp>
      <p:sp>
        <p:nvSpPr>
          <p:cNvPr id="22" name="d-3"/>
          <p:cNvSpPr txBox="1"/>
          <p:nvPr/>
        </p:nvSpPr>
        <p:spPr>
          <a:xfrm>
            <a:off x="5054600" y="3200400"/>
            <a:ext cx="2032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200" noProof="1">
                <a:solidFill>
                  <a:srgbClr val="4E4E4E"/>
                </a:solidFill>
                <a:latin typeface="MiSans"/>
                <a:ea typeface="MiSans"/>
              </a:rPr>
              <a:t>Режим, труба и шаг укладки — удельная мощность, Вт/м²</a:t>
            </a:r>
            <a:endParaRPr lang="en-US" sz="1200" noProof="1"/>
          </a:p>
        </p:txBody>
      </p:sp>
      <p:sp>
        <p:nvSpPr>
          <p:cNvPr id="23" name="d-4"/>
          <p:cNvSpPr txBox="1"/>
          <p:nvPr/>
        </p:nvSpPr>
        <p:spPr>
          <a:xfrm>
            <a:off x="7200900" y="3200400"/>
            <a:ext cx="2032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200" noProof="1">
                <a:solidFill>
                  <a:srgbClr val="4E4E4E"/>
                </a:solidFill>
                <a:latin typeface="MiSans"/>
                <a:ea typeface="MiSans"/>
              </a:rPr>
              <a:t>Контуры по коллекторам, потери давления, балансировка</a:t>
            </a:r>
            <a:endParaRPr lang="en-US" sz="1200" noProof="1"/>
          </a:p>
        </p:txBody>
      </p:sp>
      <p:sp>
        <p:nvSpPr>
          <p:cNvPr id="24" name="d-5"/>
          <p:cNvSpPr txBox="1"/>
          <p:nvPr/>
        </p:nvSpPr>
        <p:spPr>
          <a:xfrm>
            <a:off x="9347200" y="3200400"/>
            <a:ext cx="2032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200" noProof="1">
                <a:solidFill>
                  <a:srgbClr val="4E4E4E"/>
                </a:solidFill>
                <a:latin typeface="MiSans"/>
                <a:ea typeface="MiSans"/>
              </a:rPr>
              <a:t>КПИ, ведомость оборудования, выгрузка отчёта в PDF</a:t>
            </a:r>
            <a:endParaRPr lang="en-US" sz="1200" noProof="1"/>
          </a:p>
        </p:txBody>
      </p:sp>
      <p:sp>
        <p:nvSpPr>
          <p:cNvPr id="25" name="badge-bar"/>
          <p:cNvSpPr/>
          <p:nvPr/>
        </p:nvSpPr>
        <p:spPr>
          <a:xfrm>
            <a:off x="762000" y="4826000"/>
            <a:ext cx="10922000" cy="9652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26" name="badge-mark-1"/>
          <p:cNvSpPr/>
          <p:nvPr/>
        </p:nvSpPr>
        <p:spPr>
          <a:xfrm>
            <a:off x="1092200" y="5156200"/>
            <a:ext cx="177800" cy="177800"/>
          </a:xfrm>
          <a:prstGeom prst="roundRect">
            <a:avLst>
              <a:gd name="adj" fmla="val 30000"/>
            </a:avLst>
          </a:prstGeom>
          <a:solidFill>
            <a:srgbClr val="4FC7B5"/>
          </a:solidFill>
          <a:ln>
            <a:noFill/>
          </a:ln>
        </p:spPr>
      </p:sp>
      <p:sp>
        <p:nvSpPr>
          <p:cNvPr id="27" name="badge-text-1"/>
          <p:cNvSpPr txBox="1"/>
          <p:nvPr/>
        </p:nvSpPr>
        <p:spPr>
          <a:xfrm>
            <a:off x="1397000" y="5080000"/>
            <a:ext cx="419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зелёный бейдж — данные актуальны</a:t>
            </a:r>
            <a:endParaRPr lang="en-US" sz="1300" noProof="1"/>
          </a:p>
        </p:txBody>
      </p:sp>
      <p:sp>
        <p:nvSpPr>
          <p:cNvPr id="28" name="badge-mark-2"/>
          <p:cNvSpPr/>
          <p:nvPr/>
        </p:nvSpPr>
        <p:spPr>
          <a:xfrm>
            <a:off x="6096000" y="5156200"/>
            <a:ext cx="177800" cy="177800"/>
          </a:xfrm>
          <a:prstGeom prst="roundRect">
            <a:avLst>
              <a:gd name="adj" fmla="val 30000"/>
            </a:avLst>
          </a:prstGeom>
          <a:solidFill>
            <a:srgbClr val="E50040"/>
          </a:solidFill>
          <a:ln>
            <a:noFill/>
          </a:ln>
        </p:spPr>
      </p:sp>
      <p:sp>
        <p:nvSpPr>
          <p:cNvPr id="29" name="badge-text-2"/>
          <p:cNvSpPr txBox="1"/>
          <p:nvPr/>
        </p:nvSpPr>
        <p:spPr>
          <a:xfrm>
            <a:off x="6400800" y="5080000"/>
            <a:ext cx="4826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красный бейдж — нужен пересчёт после изменений</a:t>
            </a:r>
            <a:endParaRPr lang="en-US" sz="1300" noProof="1"/>
          </a:p>
        </p:txBody>
      </p:sp>
      <p:sp>
        <p:nvSpPr>
          <p:cNvPr id="30" name="badge-caption"/>
          <p:cNvSpPr txBox="1"/>
          <p:nvPr/>
        </p:nvSpPr>
        <p:spPr>
          <a:xfrm>
            <a:off x="762000" y="5943600"/>
            <a:ext cx="1092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Навигация между шагами свободная: программа сама следит за актуальностью данных на каждом шаге</a:t>
            </a:r>
            <a:endParaRPr lang="en-US" sz="1100" noProof="1"/>
          </a:p>
        </p:txBody>
      </p:sp>
      <p:pic>
        <p:nvPicPr>
          <p:cNvPr id="31" name="footer-logo"/>
          <p:cNvPicPr/>
          <p:nvPr/>
        </p:nvPicPr>
        <p:blipFill>
          <a:blip r:embed="rId2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32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04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ШАГ 1 · КЛИМАТ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Климат подставляется сам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550 городов РФ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поиск с автоподстановкой, данные СП 131.13330.2025</a:t>
            </a:r>
            <a:endParaRPr lang="en-US" sz="1300" noProof="1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Расчётная t — автоматически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по таблице 1.6: колонки −10 / −15 / −20 °C</a:t>
            </a:r>
            <a:endParaRPr lang="en-US" sz="1300" noProof="1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Ветер, влажность, снегопад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из норм, доступна ручная корректировка</a:t>
            </a:r>
            <a:endParaRPr lang="en-US" sz="1300" noProof="1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«Повышенные требования»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флаг для ответственных объектов: всегда −20 °C</a:t>
            </a:r>
            <a:endParaRPr lang="en-US" sz="1300" noProof="1"/>
          </a:p>
        </p:txBody>
      </p:sp>
      <p:pic>
        <p:nvPicPr>
          <p:cNvPr id="13" name="screen"/>
          <p:cNvPicPr/>
          <p:nvPr/>
        </p:nvPicPr>
        <p:blipFill>
          <a:blip r:embed="rId2"/>
          <a:srcRect t="110" b="110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4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5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Екатеринбург: t холодной пятидневки −30 °C, расчётная колонка −15 °C (Zone_M15)</a:t>
            </a:r>
            <a:endParaRPr lang="en-US" sz="1100" noProof="1"/>
          </a:p>
        </p:txBody>
      </p:sp>
      <p:pic>
        <p:nvPicPr>
          <p:cNvPr id="16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7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05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ШАГ 2 · КОНСТРУКЦИЯ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«Пирог» — слой за слоем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Слои над и под трубой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из встроенного справочника материалов</a:t>
            </a:r>
            <a:endParaRPr lang="en-US" sz="1300" noProof="1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λА / λБ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сухие и влажные условия в зависимости от УГВ</a:t>
            </a:r>
            <a:endParaRPr lang="en-US" sz="1300" noProof="1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Визуализация конструкции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разрез перерисовывается при каждом изменении</a:t>
            </a:r>
            <a:endParaRPr lang="en-US" sz="1300" noProof="1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Автопересчёт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R₁ над трубой, R₂ под трубой, эквивалентная λE</a:t>
            </a:r>
            <a:endParaRPr lang="en-US" sz="1300" noProof="1"/>
          </a:p>
        </p:txBody>
      </p:sp>
      <p:pic>
        <p:nvPicPr>
          <p:cNvPr id="13" name="screen"/>
          <p:cNvPicPr/>
          <p:nvPr/>
        </p:nvPicPr>
        <p:blipFill>
          <a:blip r:embed="rId2"/>
          <a:srcRect t="146" b="146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4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5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Бетон 100 мм + ЭППС 80 мм + основание: R₁ = 0,0575, R₂ = 5,6374 м²·К/Вт</a:t>
            </a:r>
            <a:endParaRPr lang="en-US" sz="1100" noProof="1"/>
          </a:p>
        </p:txBody>
      </p:sp>
      <p:pic>
        <p:nvPicPr>
          <p:cNvPr id="16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7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06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ШАГ 3 · ТЕПЛОВОЙ РАСЧЁТ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Мощность — за один клик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Режимы работы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таяние (поверхность +5 °C) или поддержание</a:t>
            </a:r>
            <a:endParaRPr lang="en-US" sz="1300" noProof="1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Труба и шаг укладки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RAUTHERM S 17 / 20 / 25 мм, шаг от 100 мм</a:t>
            </a:r>
            <a:endParaRPr lang="en-US" sz="1300" noProof="1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Итог расчёта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поток вверх q↑, вниз q↓ и суммарная мощность, Вт/м²</a:t>
            </a:r>
            <a:endParaRPr lang="en-US" sz="1300" noProof="1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Подсказки в форме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рекомендуемая температура подачи для ΔT = 15 K</a:t>
            </a:r>
            <a:endParaRPr lang="en-US" sz="1300" noProof="1"/>
          </a:p>
        </p:txBody>
      </p:sp>
      <p:pic>
        <p:nvPicPr>
          <p:cNvPr id="13" name="screen"/>
          <p:cNvPicPr/>
          <p:nvPr/>
        </p:nvPicPr>
        <p:blipFill>
          <a:blip r:embed="rId2"/>
          <a:srcRect t="74" b="74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4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5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Режим Melting, шаг 200 мм: q↑ = 330,5 Вт/м², суммарная — 335,4 Вт/м²</a:t>
            </a:r>
            <a:endParaRPr lang="en-US" sz="1100" noProof="1"/>
          </a:p>
        </p:txBody>
      </p:sp>
      <p:pic>
        <p:nvPicPr>
          <p:cNvPr id="16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7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07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ШАГ 4 · ГИДРАВЛИКА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Гидравлика с балансировкой контуров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Теплоноситель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этилен-/пропиленгликоль 10–90 %, свойства ASHRAE</a:t>
            </a:r>
            <a:endParaRPr lang="en-US" sz="1300" noProof="1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Контуры по коллекторам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длины, расходы, скорости в каждом контуре</a:t>
            </a:r>
            <a:endParaRPr lang="en-US" sz="1300" noProof="1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Балансировка по VDI 2075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дросселирование контуров, обороты вентилей</a:t>
            </a:r>
            <a:endParaRPr lang="en-US" sz="1300" noProof="1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Подбор Kv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клапаны по DIN EN 60534, потери рабочие и холодные</a:t>
            </a:r>
            <a:endParaRPr lang="en-US" sz="1300" noProof="1"/>
          </a:p>
        </p:txBody>
      </p:sp>
      <p:pic>
        <p:nvPicPr>
          <p:cNvPr id="13" name="screen"/>
          <p:cNvPicPr/>
          <p:nvPr/>
        </p:nvPicPr>
        <p:blipFill>
          <a:blip r:embed="rId2"/>
          <a:srcRect t="146" b="146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4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5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Этиленгликоль 40 %: 4 коллектора, 19 контуров, макс. ΔP раб. = 46,2 кПа</a:t>
            </a:r>
            <a:endParaRPr lang="en-US" sz="1100" noProof="1"/>
          </a:p>
        </p:txBody>
      </p:sp>
      <p:pic>
        <p:nvPicPr>
          <p:cNvPr id="16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7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08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ШАГ 5 · РЕЗУЛЬТАТЫ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Спецификация — сразу после расчёта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Дашборд КПИ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мощность, объём системы, насос, температуры</a:t>
            </a:r>
            <a:endParaRPr lang="en-US" sz="1300" noProof="1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Ведомость оборудования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коллекторы, труба, бак, насос</a:t>
            </a:r>
            <a:endParaRPr lang="en-US" sz="1300" noProof="1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Полный контекст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схема конструкции и исходные данные рядом с итогами</a:t>
            </a:r>
            <a:endParaRPr lang="en-US" sz="1300" noProof="1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 b="1">
                <a:solidFill>
                  <a:srgbClr val="4E4E4E"/>
                </a:solidFill>
                <a:latin typeface="MiSans"/>
                <a:ea typeface="MiSans"/>
              </a:rPr>
              <a:t>Проект в файле .smc</a:t>
            </a: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 — сохранение, открытие, предпросмотр и печать</a:t>
            </a:r>
            <a:endParaRPr lang="en-US" sz="1300" noProof="1"/>
          </a:p>
        </p:txBody>
      </p:sp>
      <p:pic>
        <p:nvPicPr>
          <p:cNvPr id="13" name="screen"/>
          <p:cNvPicPr/>
          <p:nvPr/>
        </p:nvPicPr>
        <p:blipFill>
          <a:blip r:embed="rId2"/>
          <a:srcRect t="146" b="146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4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5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Проект 9-100000 «Екатеринбург, обогрев наружных поверхностей»</a:t>
            </a:r>
            <a:endParaRPr lang="en-US" sz="1100" noProof="1"/>
          </a:p>
        </p:txBody>
      </p:sp>
      <p:pic>
        <p:nvPicPr>
          <p:cNvPr id="16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7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09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СПЕЦИФИКАЦИЯ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9652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В расчёте — только продукция РЕХАУ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p-card-1"/>
          <p:cNvSpPr/>
          <p:nvPr/>
        </p:nvSpPr>
        <p:spPr>
          <a:xfrm>
            <a:off x="762000" y="1905000"/>
            <a:ext cx="3467100" cy="31750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6" name="p-1-mark"/>
          <p:cNvSpPr/>
          <p:nvPr/>
        </p:nvSpPr>
        <p:spPr>
          <a:xfrm>
            <a:off x="1041400" y="2184400"/>
            <a:ext cx="330200" cy="3302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7" name="p-1-name"/>
          <p:cNvSpPr txBox="1"/>
          <p:nvPr/>
        </p:nvSpPr>
        <p:spPr>
          <a:xfrm>
            <a:off x="1041400" y="2667000"/>
            <a:ext cx="2921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800" noProof="1" b="1">
                <a:solidFill>
                  <a:srgbClr val="000000"/>
                </a:solidFill>
                <a:latin typeface="MiSans"/>
                <a:ea typeface="MiSans"/>
              </a:rPr>
              <a:t>Трубы RAUTHERM S</a:t>
            </a:r>
            <a:endParaRPr lang="en-US" sz="1800" noProof="1"/>
          </a:p>
        </p:txBody>
      </p:sp>
      <p:sp>
        <p:nvSpPr>
          <p:cNvPr id="8" name="p-1-desc"/>
          <p:cNvSpPr txBox="1"/>
          <p:nvPr/>
        </p:nvSpPr>
        <p:spPr>
          <a:xfrm>
            <a:off x="1041400" y="3200400"/>
            <a:ext cx="29210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Диаметры 17, 20 и 25 мм для нагревательных контуров открытых площадок</a:t>
            </a:r>
            <a:endParaRPr lang="en-US" sz="1300" noProof="1"/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Учитываются реальные диаметры и шероховатость</a:t>
            </a:r>
            <a:endParaRPr lang="en-US" sz="1300" noProof="1"/>
          </a:p>
        </p:txBody>
      </p:sp>
      <p:sp>
        <p:nvSpPr>
          <p:cNvPr id="9" name="p-card-2"/>
          <p:cNvSpPr/>
          <p:nvPr/>
        </p:nvSpPr>
        <p:spPr>
          <a:xfrm>
            <a:off x="4483100" y="1905000"/>
            <a:ext cx="3467100" cy="31750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0" name="p-2-mark"/>
          <p:cNvSpPr/>
          <p:nvPr/>
        </p:nvSpPr>
        <p:spPr>
          <a:xfrm>
            <a:off x="4762500" y="2184400"/>
            <a:ext cx="330200" cy="3302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1" name="p-2-name"/>
          <p:cNvSpPr txBox="1"/>
          <p:nvPr/>
        </p:nvSpPr>
        <p:spPr>
          <a:xfrm>
            <a:off x="4762500" y="2667000"/>
            <a:ext cx="2921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800" noProof="1" b="1">
                <a:solidFill>
                  <a:srgbClr val="000000"/>
                </a:solidFill>
                <a:latin typeface="MiSans"/>
                <a:ea typeface="MiSans"/>
              </a:rPr>
              <a:t>Коллекторы HKV-D</a:t>
            </a:r>
            <a:endParaRPr lang="en-US" sz="1800" noProof="1"/>
          </a:p>
        </p:txBody>
      </p:sp>
      <p:sp>
        <p:nvSpPr>
          <p:cNvPr id="12" name="p-2-desc"/>
          <p:cNvSpPr txBox="1"/>
          <p:nvPr/>
        </p:nvSpPr>
        <p:spPr>
          <a:xfrm>
            <a:off x="4762500" y="3200400"/>
            <a:ext cx="29210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Бытовые распределительные коллекторы на 2–12 контуров</a:t>
            </a:r>
            <a:endParaRPr lang="en-US" sz="1300" noProof="1"/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Подбор по Kv и числу контуров — с артикулами</a:t>
            </a:r>
            <a:endParaRPr lang="en-US" sz="1300" noProof="1"/>
          </a:p>
        </p:txBody>
      </p:sp>
      <p:sp>
        <p:nvSpPr>
          <p:cNvPr id="13" name="p-card-3"/>
          <p:cNvSpPr/>
          <p:nvPr/>
        </p:nvSpPr>
        <p:spPr>
          <a:xfrm>
            <a:off x="8204200" y="1905000"/>
            <a:ext cx="3479800" cy="31750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4" name="p-3-mark"/>
          <p:cNvSpPr/>
          <p:nvPr/>
        </p:nvSpPr>
        <p:spPr>
          <a:xfrm>
            <a:off x="8483600" y="2184400"/>
            <a:ext cx="330200" cy="3302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5" name="p-3-name"/>
          <p:cNvSpPr txBox="1"/>
          <p:nvPr/>
        </p:nvSpPr>
        <p:spPr>
          <a:xfrm>
            <a:off x="8483600" y="2667000"/>
            <a:ext cx="2946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000000"/>
                </a:solidFill>
                <a:latin typeface="MiSans"/>
                <a:ea typeface="MiSans"/>
              </a:rPr>
              <a:t>Промышленные коллекторы IV</a:t>
            </a:r>
            <a:endParaRPr lang="en-US" sz="1600" noProof="1"/>
          </a:p>
        </p:txBody>
      </p:sp>
      <p:sp>
        <p:nvSpPr>
          <p:cNvPr id="16" name="p-3-desc"/>
          <p:cNvSpPr txBox="1"/>
          <p:nvPr/>
        </p:nvSpPr>
        <p:spPr>
          <a:xfrm>
            <a:off x="8483600" y="3200400"/>
            <a:ext cx="29464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IV 1¼" и IV 1½" для крупных площадок и больших расходов</a:t>
            </a:r>
            <a:endParaRPr lang="en-US" sz="1300" noProof="1"/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Автоматический выбор типоразмера по нагрузке</a:t>
            </a:r>
            <a:endParaRPr lang="en-US" sz="1300" noProof="1"/>
          </a:p>
        </p:txBody>
      </p:sp>
      <p:sp>
        <p:nvSpPr>
          <p:cNvPr id="17" name="note-bar"/>
          <p:cNvSpPr/>
          <p:nvPr/>
        </p:nvSpPr>
        <p:spPr>
          <a:xfrm>
            <a:off x="762000" y="5461000"/>
            <a:ext cx="10922000" cy="508000"/>
          </a:xfrm>
          <a:prstGeom prst="roundRect">
            <a:avLst>
              <a:gd name="adj" fmla="val 12000"/>
            </a:avLst>
          </a:prstGeom>
          <a:solidFill>
            <a:srgbClr val="4FC7B5"/>
          </a:solidFill>
          <a:ln>
            <a:noFill/>
          </a:ln>
        </p:spPr>
      </p:sp>
      <p:sp>
        <p:nvSpPr>
          <p:cNvPr id="18" name="note-text"/>
          <p:cNvSpPr txBox="1"/>
          <p:nvPr/>
        </p:nvSpPr>
        <p:spPr>
          <a:xfrm>
            <a:off x="1041400" y="5461000"/>
            <a:ext cx="10414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400" noProof="1" b="1">
                <a:solidFill>
                  <a:srgbClr val="000000"/>
                </a:solidFill>
                <a:latin typeface="MiSans"/>
                <a:ea typeface="MiSans"/>
              </a:rPr>
              <a:t>Спецификация формируется с артикулами РЕХАУ</a:t>
            </a:r>
            <a:r>
              <a:rPr lang="en-US" sz="1400" noProof="1">
                <a:solidFill>
                  <a:srgbClr val="000000"/>
                </a:solidFill>
                <a:latin typeface="MiSans"/>
                <a:ea typeface="MiSans"/>
              </a:rPr>
              <a:t> — из расчёта сразу понятно, что заказывать</a:t>
            </a:r>
            <a:endParaRPr lang="en-US" sz="1400" noProof="1"/>
          </a:p>
        </p:txBody>
      </p:sp>
      <p:pic>
        <p:nvPicPr>
          <p:cNvPr id="19" name="footer-logo"/>
          <p:cNvPicPr/>
          <p:nvPr/>
        </p:nvPicPr>
        <p:blipFill>
          <a:blip r:embed="rId2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20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10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КЕЙС · «ЕКАТЕРИНБУРГ, ОБОГРЕВ НАРУЖНЫХ ПОВЕРХНОСТЕЙ»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12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Весь расчёт — на одном экране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kpi-card-1"/>
          <p:cNvSpPr/>
          <p:nvPr/>
        </p:nvSpPr>
        <p:spPr>
          <a:xfrm>
            <a:off x="762000" y="1841500"/>
            <a:ext cx="26035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</p:sp>
      <p:sp>
        <p:nvSpPr>
          <p:cNvPr id="6" name="kpi-val-1"/>
          <p:cNvSpPr txBox="1"/>
          <p:nvPr/>
        </p:nvSpPr>
        <p:spPr>
          <a:xfrm>
            <a:off x="990600" y="2057400"/>
            <a:ext cx="2159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200" noProof="1" b="1">
                <a:solidFill>
                  <a:srgbClr val="E50040"/>
                </a:solidFill>
                <a:latin typeface="MiSans"/>
                <a:ea typeface="MiSans"/>
              </a:rPr>
              <a:t>96,8</a:t>
            </a:r>
            <a:endParaRPr lang="en-US" sz="3200" noProof="1"/>
          </a:p>
        </p:txBody>
      </p:sp>
      <p:sp>
        <p:nvSpPr>
          <p:cNvPr id="7" name="kpi-lbl-1"/>
          <p:cNvSpPr txBox="1"/>
          <p:nvPr/>
        </p:nvSpPr>
        <p:spPr>
          <a:xfrm>
            <a:off x="990600" y="2692400"/>
            <a:ext cx="2159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0000"/>
              </a:lnSpc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кВт — тепловая мощность системы</a:t>
            </a:r>
            <a:endParaRPr lang="en-US" sz="1300" noProof="1"/>
          </a:p>
        </p:txBody>
      </p:sp>
      <p:sp>
        <p:nvSpPr>
          <p:cNvPr id="8" name="kpi-card-2"/>
          <p:cNvSpPr/>
          <p:nvPr/>
        </p:nvSpPr>
        <p:spPr>
          <a:xfrm>
            <a:off x="3619500" y="1841500"/>
            <a:ext cx="26035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</p:sp>
      <p:sp>
        <p:nvSpPr>
          <p:cNvPr id="9" name="kpi-val-2"/>
          <p:cNvSpPr txBox="1"/>
          <p:nvPr/>
        </p:nvSpPr>
        <p:spPr>
          <a:xfrm>
            <a:off x="3848100" y="2057400"/>
            <a:ext cx="2159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200" noProof="1" b="1">
                <a:solidFill>
                  <a:srgbClr val="E50040"/>
                </a:solidFill>
                <a:latin typeface="MiSans"/>
                <a:ea typeface="MiSans"/>
              </a:rPr>
              <a:t>920</a:t>
            </a:r>
            <a:endParaRPr lang="en-US" sz="3200" noProof="1"/>
          </a:p>
        </p:txBody>
      </p:sp>
      <p:sp>
        <p:nvSpPr>
          <p:cNvPr id="10" name="kpi-lbl-2"/>
          <p:cNvSpPr txBox="1"/>
          <p:nvPr/>
        </p:nvSpPr>
        <p:spPr>
          <a:xfrm>
            <a:off x="3848100" y="2692400"/>
            <a:ext cx="2159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0000"/>
              </a:lnSpc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м — труба RAUTHERM S 20×2,0</a:t>
            </a:r>
            <a:endParaRPr lang="en-US" sz="1300" noProof="1"/>
          </a:p>
        </p:txBody>
      </p:sp>
      <p:sp>
        <p:nvSpPr>
          <p:cNvPr id="11" name="kpi-card-3"/>
          <p:cNvSpPr/>
          <p:nvPr/>
        </p:nvSpPr>
        <p:spPr>
          <a:xfrm>
            <a:off x="6477000" y="1841500"/>
            <a:ext cx="26035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</p:sp>
      <p:sp>
        <p:nvSpPr>
          <p:cNvPr id="12" name="kpi-val-3"/>
          <p:cNvSpPr txBox="1"/>
          <p:nvPr/>
        </p:nvSpPr>
        <p:spPr>
          <a:xfrm>
            <a:off x="6705600" y="2057400"/>
            <a:ext cx="2159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200" noProof="1" b="1">
                <a:solidFill>
                  <a:srgbClr val="E50040"/>
                </a:solidFill>
                <a:latin typeface="MiSans"/>
                <a:ea typeface="MiSans"/>
              </a:rPr>
              <a:t>4,61</a:t>
            </a:r>
            <a:endParaRPr lang="en-US" sz="3200" noProof="1"/>
          </a:p>
        </p:txBody>
      </p:sp>
      <p:sp>
        <p:nvSpPr>
          <p:cNvPr id="13" name="kpi-lbl-3"/>
          <p:cNvSpPr txBox="1"/>
          <p:nvPr/>
        </p:nvSpPr>
        <p:spPr>
          <a:xfrm>
            <a:off x="6705600" y="2692400"/>
            <a:ext cx="2159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0000"/>
              </a:lnSpc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м³/ч — расход насоса</a:t>
            </a:r>
            <a:endParaRPr lang="en-US" sz="1300" noProof="1"/>
          </a:p>
        </p:txBody>
      </p:sp>
      <p:sp>
        <p:nvSpPr>
          <p:cNvPr id="14" name="kpi-card-4"/>
          <p:cNvSpPr/>
          <p:nvPr/>
        </p:nvSpPr>
        <p:spPr>
          <a:xfrm>
            <a:off x="9334500" y="1841500"/>
            <a:ext cx="23495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</p:sp>
      <p:sp>
        <p:nvSpPr>
          <p:cNvPr id="15" name="kpi-val-4"/>
          <p:cNvSpPr txBox="1"/>
          <p:nvPr/>
        </p:nvSpPr>
        <p:spPr>
          <a:xfrm>
            <a:off x="9563100" y="2057400"/>
            <a:ext cx="1905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3200" noProof="1" b="1">
                <a:solidFill>
                  <a:srgbClr val="E50040"/>
                </a:solidFill>
                <a:latin typeface="MiSans"/>
                <a:ea typeface="MiSans"/>
              </a:rPr>
              <a:t>46</a:t>
            </a:r>
            <a:endParaRPr lang="en-US" sz="3200" noProof="1"/>
          </a:p>
        </p:txBody>
      </p:sp>
      <p:sp>
        <p:nvSpPr>
          <p:cNvPr id="16" name="kpi-lbl-4"/>
          <p:cNvSpPr txBox="1"/>
          <p:nvPr/>
        </p:nvSpPr>
        <p:spPr>
          <a:xfrm>
            <a:off x="9563100" y="2692400"/>
            <a:ext cx="1905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0000"/>
              </a:lnSpc>
            </a:pPr>
            <a:r>
              <a:rPr lang="en-US" sz="1300" noProof="1">
                <a:solidFill>
                  <a:srgbClr val="818181"/>
                </a:solidFill>
                <a:latin typeface="MiSans"/>
                <a:ea typeface="MiSans"/>
              </a:rPr>
              <a:t>кПа — напор насоса</a:t>
            </a:r>
            <a:endParaRPr lang="en-US" sz="1300" noProof="1"/>
          </a:p>
        </p:txBody>
      </p:sp>
      <p:sp>
        <p:nvSpPr>
          <p:cNvPr id="17" name="sub-card-1"/>
          <p:cNvSpPr/>
          <p:nvPr/>
        </p:nvSpPr>
        <p:spPr>
          <a:xfrm>
            <a:off x="762000" y="3683000"/>
            <a:ext cx="2603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</p:sp>
      <p:sp>
        <p:nvSpPr>
          <p:cNvPr id="18" name="sub-val-1"/>
          <p:cNvSpPr txBox="1"/>
          <p:nvPr/>
        </p:nvSpPr>
        <p:spPr>
          <a:xfrm>
            <a:off x="990600" y="3835400"/>
            <a:ext cx="2159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b="1">
                <a:solidFill>
                  <a:srgbClr val="000000"/>
                </a:solidFill>
                <a:latin typeface="MiSans"/>
                <a:ea typeface="MiSans"/>
              </a:rPr>
              <a:t>53,0 / 37,4 °C</a:t>
            </a:r>
            <a:endParaRPr lang="en-US" sz="2200" noProof="1"/>
          </a:p>
        </p:txBody>
      </p:sp>
      <p:sp>
        <p:nvSpPr>
          <p:cNvPr id="19" name="sub-lbl-1"/>
          <p:cNvSpPr txBox="1"/>
          <p:nvPr/>
        </p:nvSpPr>
        <p:spPr>
          <a:xfrm>
            <a:off x="990600" y="42926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818181"/>
                </a:solidFill>
                <a:latin typeface="MiSans"/>
                <a:ea typeface="MiSans"/>
              </a:rPr>
              <a:t>подача / обратка</a:t>
            </a:r>
            <a:endParaRPr lang="en-US" sz="1200" noProof="1"/>
          </a:p>
        </p:txBody>
      </p:sp>
      <p:sp>
        <p:nvSpPr>
          <p:cNvPr id="20" name="sub-card-2"/>
          <p:cNvSpPr/>
          <p:nvPr/>
        </p:nvSpPr>
        <p:spPr>
          <a:xfrm>
            <a:off x="3619500" y="3683000"/>
            <a:ext cx="2603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</p:sp>
      <p:sp>
        <p:nvSpPr>
          <p:cNvPr id="21" name="sub-val-2"/>
          <p:cNvSpPr txBox="1"/>
          <p:nvPr/>
        </p:nvSpPr>
        <p:spPr>
          <a:xfrm>
            <a:off x="3848100" y="3835400"/>
            <a:ext cx="2159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b="1">
                <a:solidFill>
                  <a:srgbClr val="000000"/>
                </a:solidFill>
                <a:latin typeface="MiSans"/>
                <a:ea typeface="MiSans"/>
              </a:rPr>
              <a:t>4 коллектора</a:t>
            </a:r>
            <a:endParaRPr lang="en-US" sz="2200" noProof="1"/>
          </a:p>
        </p:txBody>
      </p:sp>
      <p:sp>
        <p:nvSpPr>
          <p:cNvPr id="22" name="sub-lbl-2"/>
          <p:cNvSpPr txBox="1"/>
          <p:nvPr/>
        </p:nvSpPr>
        <p:spPr>
          <a:xfrm>
            <a:off x="3848100" y="42926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818181"/>
                </a:solidFill>
                <a:latin typeface="MiSans"/>
                <a:ea typeface="MiSans"/>
              </a:rPr>
              <a:t>IV 1¼" и HKV-D, 19 контуров</a:t>
            </a:r>
            <a:endParaRPr lang="en-US" sz="1200" noProof="1"/>
          </a:p>
        </p:txBody>
      </p:sp>
      <p:sp>
        <p:nvSpPr>
          <p:cNvPr id="23" name="sub-card-3"/>
          <p:cNvSpPr/>
          <p:nvPr/>
        </p:nvSpPr>
        <p:spPr>
          <a:xfrm>
            <a:off x="6477000" y="3683000"/>
            <a:ext cx="2603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</p:sp>
      <p:sp>
        <p:nvSpPr>
          <p:cNvPr id="24" name="sub-val-3"/>
          <p:cNvSpPr txBox="1"/>
          <p:nvPr/>
        </p:nvSpPr>
        <p:spPr>
          <a:xfrm>
            <a:off x="6705600" y="3835400"/>
            <a:ext cx="2159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b="1">
                <a:solidFill>
                  <a:srgbClr val="000000"/>
                </a:solidFill>
                <a:latin typeface="MiSans"/>
                <a:ea typeface="MiSans"/>
              </a:rPr>
              <a:t>335,4 Вт/м²</a:t>
            </a:r>
            <a:endParaRPr lang="en-US" sz="2200" noProof="1"/>
          </a:p>
        </p:txBody>
      </p:sp>
      <p:sp>
        <p:nvSpPr>
          <p:cNvPr id="25" name="sub-lbl-3"/>
          <p:cNvSpPr txBox="1"/>
          <p:nvPr/>
        </p:nvSpPr>
        <p:spPr>
          <a:xfrm>
            <a:off x="6705600" y="42926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818181"/>
                </a:solidFill>
                <a:latin typeface="MiSans"/>
                <a:ea typeface="MiSans"/>
              </a:rPr>
              <a:t>суммарная удельная мощность</a:t>
            </a:r>
            <a:endParaRPr lang="en-US" sz="1200" noProof="1"/>
          </a:p>
        </p:txBody>
      </p:sp>
      <p:sp>
        <p:nvSpPr>
          <p:cNvPr id="26" name="sub-card-4"/>
          <p:cNvSpPr/>
          <p:nvPr/>
        </p:nvSpPr>
        <p:spPr>
          <a:xfrm>
            <a:off x="9334500" y="3683000"/>
            <a:ext cx="2349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</p:sp>
      <p:sp>
        <p:nvSpPr>
          <p:cNvPr id="27" name="sub-val-4"/>
          <p:cNvSpPr txBox="1"/>
          <p:nvPr/>
        </p:nvSpPr>
        <p:spPr>
          <a:xfrm>
            <a:off x="9563100" y="3835400"/>
            <a:ext cx="1905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b="1">
                <a:solidFill>
                  <a:srgbClr val="000000"/>
                </a:solidFill>
                <a:latin typeface="MiSans"/>
                <a:ea typeface="MiSans"/>
              </a:rPr>
              <a:t>16 л</a:t>
            </a:r>
            <a:endParaRPr lang="en-US" sz="2200" noProof="1"/>
          </a:p>
        </p:txBody>
      </p:sp>
      <p:sp>
        <p:nvSpPr>
          <p:cNvPr id="28" name="sub-lbl-4"/>
          <p:cNvSpPr txBox="1"/>
          <p:nvPr/>
        </p:nvSpPr>
        <p:spPr>
          <a:xfrm>
            <a:off x="9563100" y="4292600"/>
            <a:ext cx="190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818181"/>
                </a:solidFill>
                <a:latin typeface="MiSans"/>
                <a:ea typeface="MiSans"/>
              </a:rPr>
              <a:t>расширительный бак</a:t>
            </a:r>
            <a:endParaRPr lang="en-US" sz="1200" noProof="1"/>
          </a:p>
        </p:txBody>
      </p:sp>
      <p:sp>
        <p:nvSpPr>
          <p:cNvPr id="29" name="note-bar"/>
          <p:cNvSpPr/>
          <p:nvPr/>
        </p:nvSpPr>
        <p:spPr>
          <a:xfrm>
            <a:off x="762000" y="5207000"/>
            <a:ext cx="10922000" cy="711200"/>
          </a:xfrm>
          <a:prstGeom prst="roundRect">
            <a:avLst>
              <a:gd name="adj" fmla="val 12000"/>
            </a:avLst>
          </a:prstGeom>
          <a:solidFill>
            <a:srgbClr val="4FC7B5"/>
          </a:solidFill>
          <a:ln>
            <a:noFill/>
          </a:ln>
        </p:spPr>
      </p:sp>
      <p:sp>
        <p:nvSpPr>
          <p:cNvPr id="30" name="note-text"/>
          <p:cNvSpPr txBox="1"/>
          <p:nvPr/>
        </p:nvSpPr>
        <p:spPr>
          <a:xfrm>
            <a:off x="1041400" y="5207000"/>
            <a:ext cx="10414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400" noProof="1" b="1">
                <a:solidFill>
                  <a:srgbClr val="000000"/>
                </a:solidFill>
                <a:latin typeface="MiSans"/>
                <a:ea typeface="MiSans"/>
              </a:rPr>
              <a:t>Итог для объекта:</a:t>
            </a:r>
            <a:r>
              <a:rPr lang="en-US" sz="1400" noProof="1">
                <a:solidFill>
                  <a:srgbClr val="000000"/>
                </a:solidFill>
                <a:latin typeface="MiSans"/>
                <a:ea typeface="MiSans"/>
              </a:rPr>
              <a:t> полная спецификация оборудования и гидравлики сформирована автоматически и готова к выгрузке в PDF</a:t>
            </a:r>
            <a:endParaRPr lang="en-US" sz="1400" noProof="1"/>
          </a:p>
        </p:txBody>
      </p:sp>
      <p:pic>
        <p:nvPicPr>
          <p:cNvPr id="31" name="footer-logo"/>
          <p:cNvPicPr/>
          <p:nvPr/>
        </p:nvPicPr>
        <p:blipFill>
          <a:blip r:embed="rId2"/>
          <a:srcRect t="-84" b="-84"/>
          <a:stretch>
            <a:fillRect/>
          </a:stretch>
        </p:blipFill>
        <p:spPr>
          <a:xfrm>
            <a:off x="11074400" y="62992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32" name="page-num"/>
          <p:cNvSpPr txBox="1"/>
          <p:nvPr/>
        </p:nvSpPr>
        <p:spPr>
          <a:xfrm>
            <a:off x="11430000" y="63246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11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1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ВЫХОДНОЙ ДОКУМЕНТ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Отчёт в PDF — в один клик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pic>
        <p:nvPicPr>
          <p:cNvPr id="5" name="report-img"/>
          <p:cNvPicPr/>
          <p:nvPr/>
        </p:nvPicPr>
        <p:blipFill>
          <a:blip r:embed="rId2"/>
          <a:srcRect b="12000"/>
          <a:stretch>
            <a:fillRect/>
          </a:stretch>
        </p:blipFill>
        <p:spPr>
          <a:xfrm>
            <a:off x="762000" y="1778000"/>
            <a:ext cx="4064000" cy="28702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6" name="report-img-border"/>
          <p:cNvSpPr/>
          <p:nvPr/>
        </p:nvSpPr>
        <p:spPr>
          <a:xfrm>
            <a:off x="762000" y="1778000"/>
            <a:ext cx="4064000" cy="28702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7" name="report-caption"/>
          <p:cNvSpPr txBox="1"/>
          <p:nvPr/>
        </p:nvSpPr>
        <p:spPr>
          <a:xfrm>
            <a:off x="762000" y="477520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Первая страница отчёта — проект 9-100000</a:t>
            </a:r>
            <a:endParaRPr lang="en-US" sz="1100" noProof="1"/>
          </a:p>
        </p:txBody>
      </p:sp>
      <p:sp>
        <p:nvSpPr>
          <p:cNvPr id="8" name="bullet-mark-1"/>
          <p:cNvSpPr/>
          <p:nvPr/>
        </p:nvSpPr>
        <p:spPr>
          <a:xfrm>
            <a:off x="54610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9" name="bullet-1"/>
          <p:cNvSpPr txBox="1"/>
          <p:nvPr/>
        </p:nvSpPr>
        <p:spPr>
          <a:xfrm>
            <a:off x="5740400" y="1803400"/>
            <a:ext cx="5842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400" noProof="1" b="1">
                <a:solidFill>
                  <a:srgbClr val="4E4E4E"/>
                </a:solidFill>
                <a:latin typeface="MiSans"/>
                <a:ea typeface="MiSans"/>
              </a:rPr>
              <a:t>КПИ и исходные данные</a:t>
            </a:r>
            <a:r>
              <a:rPr lang="en-US" sz="1400" noProof="1">
                <a:solidFill>
                  <a:srgbClr val="4E4E4E"/>
                </a:solidFill>
                <a:latin typeface="MiSans"/>
                <a:ea typeface="MiSans"/>
              </a:rPr>
              <a:t> — мощность, насос, климат, конструкция, теплоноситель</a:t>
            </a:r>
            <a:endParaRPr lang="en-US" sz="1400" noProof="1"/>
          </a:p>
        </p:txBody>
      </p:sp>
      <p:sp>
        <p:nvSpPr>
          <p:cNvPr id="10" name="bullet-mark-2"/>
          <p:cNvSpPr/>
          <p:nvPr/>
        </p:nvSpPr>
        <p:spPr>
          <a:xfrm>
            <a:off x="5461000" y="25400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1" name="bullet-2"/>
          <p:cNvSpPr txBox="1"/>
          <p:nvPr/>
        </p:nvSpPr>
        <p:spPr>
          <a:xfrm>
            <a:off x="5740400" y="2463800"/>
            <a:ext cx="5842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400" noProof="1" b="1">
                <a:solidFill>
                  <a:srgbClr val="4E4E4E"/>
                </a:solidFill>
                <a:latin typeface="MiSans"/>
                <a:ea typeface="MiSans"/>
              </a:rPr>
              <a:t>Ведомость оборудования и слои «пирога»</a:t>
            </a:r>
            <a:r>
              <a:rPr lang="en-US" sz="1400" noProof="1">
                <a:solidFill>
                  <a:srgbClr val="4E4E4E"/>
                </a:solidFill>
                <a:latin typeface="MiSans"/>
                <a:ea typeface="MiSans"/>
              </a:rPr>
              <a:t> — материалы, толщины, λ, R</a:t>
            </a:r>
            <a:endParaRPr lang="en-US" sz="1400" noProof="1"/>
          </a:p>
        </p:txBody>
      </p:sp>
      <p:sp>
        <p:nvSpPr>
          <p:cNvPr id="12" name="bullet-mark-3"/>
          <p:cNvSpPr/>
          <p:nvPr/>
        </p:nvSpPr>
        <p:spPr>
          <a:xfrm>
            <a:off x="5461000" y="32004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3" name="bullet-3"/>
          <p:cNvSpPr txBox="1"/>
          <p:nvPr/>
        </p:nvSpPr>
        <p:spPr>
          <a:xfrm>
            <a:off x="5740400" y="3124200"/>
            <a:ext cx="5842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400" noProof="1" b="1">
                <a:solidFill>
                  <a:srgbClr val="4E4E4E"/>
                </a:solidFill>
                <a:latin typeface="MiSans"/>
                <a:ea typeface="MiSans"/>
              </a:rPr>
              <a:t>Приложение по гидравлике</a:t>
            </a:r>
            <a:r>
              <a:rPr lang="en-US" sz="1400" noProof="1">
                <a:solidFill>
                  <a:srgbClr val="4E4E4E"/>
                </a:solidFill>
                <a:latin typeface="MiSans"/>
                <a:ea typeface="MiSans"/>
              </a:rPr>
              <a:t> — таблица каждого контура: расход, ΔP, дросселирование, обороты</a:t>
            </a:r>
            <a:endParaRPr lang="en-US" sz="1400" noProof="1"/>
          </a:p>
        </p:txBody>
      </p:sp>
      <p:sp>
        <p:nvSpPr>
          <p:cNvPr id="14" name="bullet-mark-4"/>
          <p:cNvSpPr/>
          <p:nvPr/>
        </p:nvSpPr>
        <p:spPr>
          <a:xfrm>
            <a:off x="5461000" y="38608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5" name="bullet-4"/>
          <p:cNvSpPr txBox="1"/>
          <p:nvPr/>
        </p:nvSpPr>
        <p:spPr>
          <a:xfrm>
            <a:off x="5740400" y="3784600"/>
            <a:ext cx="5842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400" noProof="1" b="1">
                <a:solidFill>
                  <a:srgbClr val="4E4E4E"/>
                </a:solidFill>
                <a:latin typeface="MiSans"/>
                <a:ea typeface="MiSans"/>
              </a:rPr>
              <a:t>Брендированный документ</a:t>
            </a:r>
            <a:r>
              <a:rPr lang="en-US" sz="1400" noProof="1">
                <a:solidFill>
                  <a:srgbClr val="4E4E4E"/>
                </a:solidFill>
                <a:latin typeface="MiSans"/>
                <a:ea typeface="MiSans"/>
              </a:rPr>
              <a:t> — шапка РЕХАУ, нумерация, дата, готов к передаче заказчику</a:t>
            </a:r>
            <a:endParaRPr lang="en-US" sz="1400" noProof="1"/>
          </a:p>
        </p:txBody>
      </p:sp>
      <p:pic>
        <p:nvPicPr>
          <p:cNvPr id="16" name="toolbar-img"/>
          <p:cNvPicPr/>
          <p:nvPr/>
        </p:nvPicPr>
        <p:blipFill>
          <a:blip r:embed="rId3"/>
          <a:srcRect l="-63" r="-63"/>
          <a:stretch>
            <a:fillRect/>
          </a:stretch>
        </p:blipFill>
        <p:spPr>
          <a:xfrm>
            <a:off x="5740400" y="4699000"/>
            <a:ext cx="5334000" cy="1130300"/>
          </a:xfrm>
          <a:prstGeom prst="rect">
            <a:avLst/>
          </a:prstGeom>
          <a:ln>
            <a:noFill/>
          </a:ln>
        </p:spPr>
      </p:pic>
      <p:sp>
        <p:nvSpPr>
          <p:cNvPr id="17" name="toolbar-caption"/>
          <p:cNvSpPr txBox="1"/>
          <p:nvPr/>
        </p:nvSpPr>
        <p:spPr>
          <a:xfrm>
            <a:off x="5740400" y="5918200"/>
            <a:ext cx="584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Кнопки на экране результатов: предпросмотр, печать, сохранение</a:t>
            </a:r>
            <a:endParaRPr lang="en-US" sz="1100" noProof="1"/>
          </a:p>
        </p:txBody>
      </p:sp>
      <p:pic>
        <p:nvPicPr>
          <p:cNvPr id="18" name="footer-logo"/>
          <p:cNvPicPr/>
          <p:nvPr/>
        </p:nvPicPr>
        <p:blipFill>
          <a:blip r:embed="rId4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9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12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1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 b="1" spc="200" kern="0">
                <a:solidFill>
                  <a:srgbClr val="E50040"/>
                </a:solidFill>
                <a:latin typeface="MiSans"/>
                <a:ea typeface="MiSans"/>
              </a:rPr>
              <a:t>РАЗВИТИЕ</a:t>
            </a:r>
            <a:endParaRPr lang="en-US" sz="1200" noProof="1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noProof="1" b="1">
                <a:solidFill>
                  <a:srgbClr val="000000"/>
                </a:solidFill>
                <a:latin typeface="MiSans"/>
                <a:ea typeface="MiSans"/>
              </a:rPr>
              <a:t>Что уже есть и что дальше</a:t>
            </a:r>
            <a:endParaRPr lang="en-US" sz="3000" noProof="1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col-1-head"/>
          <p:cNvSpPr/>
          <p:nvPr/>
        </p:nvSpPr>
        <p:spPr>
          <a:xfrm>
            <a:off x="762000" y="1905000"/>
            <a:ext cx="3467100" cy="558800"/>
          </a:xfrm>
          <a:prstGeom prst="roundRect">
            <a:avLst>
              <a:gd name="adj" fmla="val 16000"/>
            </a:avLst>
          </a:prstGeom>
          <a:solidFill>
            <a:srgbClr val="4FC7B5"/>
          </a:solidFill>
          <a:ln>
            <a:noFill/>
          </a:ln>
        </p:spPr>
      </p:sp>
      <p:sp>
        <p:nvSpPr>
          <p:cNvPr id="6" name="col-1-head-text"/>
          <p:cNvSpPr txBox="1"/>
          <p:nvPr/>
        </p:nvSpPr>
        <p:spPr>
          <a:xfrm>
            <a:off x="1041400" y="1905000"/>
            <a:ext cx="2921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000000"/>
                </a:solidFill>
                <a:latin typeface="MiSans"/>
                <a:ea typeface="MiSans"/>
              </a:rPr>
              <a:t>Реализовано</a:t>
            </a:r>
            <a:endParaRPr lang="en-US" sz="1600" noProof="1"/>
          </a:p>
        </p:txBody>
      </p:sp>
      <p:sp>
        <p:nvSpPr>
          <p:cNvPr id="7" name="col-1-body"/>
          <p:cNvSpPr/>
          <p:nvPr/>
        </p:nvSpPr>
        <p:spPr>
          <a:xfrm>
            <a:off x="762000" y="2565400"/>
            <a:ext cx="3467100" cy="33274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8" name="col-1-text"/>
          <p:cNvSpPr txBox="1"/>
          <p:nvPr/>
        </p:nvSpPr>
        <p:spPr>
          <a:xfrm>
            <a:off x="1041400" y="2743200"/>
            <a:ext cx="2921000" cy="294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Климат: 550 городов по СП 131.13330.2025</a:t>
            </a:r>
            <a:endParaRPr lang="en-US" sz="1300" noProof="1"/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Конструкция с визуализацией «пирога»</a:t>
            </a:r>
            <a:endParaRPr lang="en-US" sz="1300" noProof="1"/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Тепловой расчёт (режимы Melting)</a:t>
            </a:r>
            <a:endParaRPr lang="en-US" sz="1300" noProof="1"/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Гидравлика с балансировкой по VDI 2075</a:t>
            </a:r>
            <a:endParaRPr lang="en-US" sz="1300" noProof="1"/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PDF-отчёт с приложением по контурам</a:t>
            </a:r>
            <a:endParaRPr lang="en-US" sz="1300" noProof="1"/>
          </a:p>
        </p:txBody>
      </p:sp>
      <p:sp>
        <p:nvSpPr>
          <p:cNvPr id="9" name="col-2-head"/>
          <p:cNvSpPr/>
          <p:nvPr/>
        </p:nvSpPr>
        <p:spPr>
          <a:xfrm>
            <a:off x="4483100" y="1905000"/>
            <a:ext cx="3467100" cy="558800"/>
          </a:xfrm>
          <a:prstGeom prst="roundRect">
            <a:avLst>
              <a:gd name="adj" fmla="val 16000"/>
            </a:avLst>
          </a:prstGeom>
          <a:solidFill>
            <a:srgbClr val="E50040"/>
          </a:solidFill>
          <a:ln>
            <a:noFill/>
          </a:ln>
        </p:spPr>
      </p:sp>
      <p:sp>
        <p:nvSpPr>
          <p:cNvPr id="10" name="col-2-head-text"/>
          <p:cNvSpPr txBox="1"/>
          <p:nvPr/>
        </p:nvSpPr>
        <p:spPr>
          <a:xfrm>
            <a:off x="4762500" y="1905000"/>
            <a:ext cx="2921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FFFFFF"/>
                </a:solidFill>
                <a:latin typeface="MiSans"/>
                <a:ea typeface="MiSans"/>
              </a:rPr>
              <a:t>В работе</a:t>
            </a:r>
            <a:endParaRPr lang="en-US" sz="1600" noProof="1"/>
          </a:p>
        </p:txBody>
      </p:sp>
      <p:sp>
        <p:nvSpPr>
          <p:cNvPr id="11" name="col-2-body"/>
          <p:cNvSpPr/>
          <p:nvPr/>
        </p:nvSpPr>
        <p:spPr>
          <a:xfrm>
            <a:off x="4483100" y="2565400"/>
            <a:ext cx="3467100" cy="33274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2" name="col-2-text"/>
          <p:cNvSpPr txBox="1"/>
          <p:nvPr/>
        </p:nvSpPr>
        <p:spPr>
          <a:xfrm>
            <a:off x="4762500" y="2743200"/>
            <a:ext cx="2921000" cy="294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Рабочий и холодный режимы гидравлики — выгрузка в .md</a:t>
            </a:r>
            <a:endParaRPr lang="en-US" sz="1300" noProof="1"/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Полные формулы расчёта в составе PDF-отчёта</a:t>
            </a:r>
            <a:endParaRPr lang="en-US" sz="1300" noProof="1"/>
          </a:p>
        </p:txBody>
      </p:sp>
      <p:sp>
        <p:nvSpPr>
          <p:cNvPr id="13" name="col-3-head"/>
          <p:cNvSpPr/>
          <p:nvPr/>
        </p:nvSpPr>
        <p:spPr>
          <a:xfrm>
            <a:off x="8204200" y="1905000"/>
            <a:ext cx="3479800" cy="5588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14" name="col-3-head-text"/>
          <p:cNvSpPr txBox="1"/>
          <p:nvPr/>
        </p:nvSpPr>
        <p:spPr>
          <a:xfrm>
            <a:off x="8483600" y="1905000"/>
            <a:ext cx="29464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noProof="1" b="1">
                <a:solidFill>
                  <a:srgbClr val="FFFFFF"/>
                </a:solidFill>
                <a:latin typeface="MiSans"/>
                <a:ea typeface="MiSans"/>
              </a:rPr>
              <a:t>Далее</a:t>
            </a:r>
            <a:endParaRPr lang="en-US" sz="1600" noProof="1"/>
          </a:p>
        </p:txBody>
      </p:sp>
      <p:sp>
        <p:nvSpPr>
          <p:cNvPr id="15" name="col-3-body"/>
          <p:cNvSpPr/>
          <p:nvPr/>
        </p:nvSpPr>
        <p:spPr>
          <a:xfrm>
            <a:off x="8204200" y="2565400"/>
            <a:ext cx="3479800" cy="33274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6" name="col-3-text"/>
          <p:cNvSpPr txBox="1"/>
          <p:nvPr/>
        </p:nvSpPr>
        <p:spPr>
          <a:xfrm>
            <a:off x="8483600" y="2743200"/>
            <a:ext cx="2946400" cy="294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Экспорт отчётов Word и Excel</a:t>
            </a:r>
            <a:endParaRPr lang="en-US" sz="1300" noProof="1"/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Библиотека типовых проектов</a:t>
            </a:r>
            <a:endParaRPr lang="en-US" sz="1300" noProof="1"/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lang="en-US" sz="1300" noProof="1">
                <a:solidFill>
                  <a:srgbClr val="4E4E4E"/>
                </a:solidFill>
                <a:latin typeface="MiSans"/>
                <a:ea typeface="MiSans"/>
              </a:rPr>
              <a:t>Пожелания проектировщиков — по итогам пилота</a:t>
            </a:r>
            <a:endParaRPr lang="en-US" sz="1300" noProof="1"/>
          </a:p>
        </p:txBody>
      </p:sp>
      <p:pic>
        <p:nvPicPr>
          <p:cNvPr id="17" name="footer-logo"/>
          <p:cNvPicPr/>
          <p:nvPr/>
        </p:nvPicPr>
        <p:blipFill>
          <a:blip r:embed="rId2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8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13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slides/slide1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ttern-right"/>
          <p:cNvPicPr/>
          <p:nvPr/>
        </p:nvPicPr>
        <p:blipFill>
          <a:blip r:embed="rId2">
            <a:alphaModFix amt="55000"/>
          </a:blip>
          <a:srcRect l="30987" r="30987"/>
          <a:stretch>
            <a:fillRect/>
          </a:stretch>
        </p:blipFill>
        <p:spPr>
          <a:xfrm>
            <a:off x="8128000" y="0"/>
            <a:ext cx="4064000" cy="6858000"/>
          </a:xfrm>
          <a:prstGeom prst="rect">
            <a:avLst/>
          </a:prstGeom>
          <a:ln>
            <a:noFill/>
          </a:ln>
        </p:spPr>
      </p:pic>
      <p:pic>
        <p:nvPicPr>
          <p:cNvPr id="3" name="logo"/>
          <p:cNvPicPr/>
          <p:nvPr/>
        </p:nvPicPr>
        <p:blipFill>
          <a:blip r:embed="rId3"/>
          <a:srcRect l="-160" r="-160"/>
          <a:stretch>
            <a:fillRect/>
          </a:stretch>
        </p:blipFill>
        <p:spPr>
          <a:xfrm>
            <a:off x="762000" y="2540000"/>
            <a:ext cx="2413000" cy="1270000"/>
          </a:xfrm>
          <a:prstGeom prst="rect">
            <a:avLst/>
          </a:prstGeom>
          <a:ln>
            <a:noFill/>
          </a:ln>
        </p:spPr>
      </p:pic>
      <p:sp>
        <p:nvSpPr>
          <p:cNvPr id="4" name="accent-bar"/>
          <p:cNvSpPr/>
          <p:nvPr/>
        </p:nvSpPr>
        <p:spPr>
          <a:xfrm>
            <a:off x="787400" y="4064000"/>
            <a:ext cx="584200" cy="762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slogan"/>
          <p:cNvSpPr txBox="1"/>
          <p:nvPr/>
        </p:nvSpPr>
        <p:spPr>
          <a:xfrm>
            <a:off x="762000" y="4318000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000" noProof="1">
                <a:solidFill>
                  <a:srgbClr val="FFFFFF"/>
                </a:solidFill>
                <a:latin typeface="MiSans"/>
                <a:ea typeface="MiSans"/>
              </a:rPr>
              <a:t>Решения для дома и бизнеса</a:t>
            </a:r>
            <a:endParaRPr lang="en-US" sz="2000" noProof="1"/>
          </a:p>
        </p:txBody>
      </p:sp>
      <p:sp>
        <p:nvSpPr>
          <p:cNvPr id="6" name="manual-note"/>
          <p:cNvSpPr txBox="1"/>
          <p:nvPr/>
        </p:nvSpPr>
        <p:spPr>
          <a:xfrm>
            <a:off x="762000" y="4876800"/>
            <a:ext cx="6096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200" noProof="1">
                <a:solidFill>
                  <a:srgbClr val="B0B0B0"/>
                </a:solidFill>
                <a:latin typeface="MiSans"/>
                <a:ea typeface="MiSans"/>
              </a:rPr>
              <a:t>В комплекте — руководство пользователя: все расчёты разобраны по шагам на сквозном примере (Екатеринбург, 370 м²)</a:t>
            </a:r>
            <a:endParaRPr lang="en-US" sz="1200" noProof="1"/>
          </a:p>
        </p:txBody>
      </p:sp>
      <p:sp>
        <p:nvSpPr>
          <p:cNvPr id="7" name="contacts"/>
          <p:cNvSpPr txBox="1"/>
          <p:nvPr/>
        </p:nvSpPr>
        <p:spPr>
          <a:xfrm>
            <a:off x="762000" y="5511800"/>
            <a:ext cx="6096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300" noProof="1">
                <a:solidFill>
                  <a:srgbClr val="B0B0B0"/>
                </a:solidFill>
                <a:latin typeface="MiSans"/>
                <a:ea typeface="MiSans"/>
              </a:rPr>
              <a:t>Автор: Асадуллин Айдар</a:t>
            </a:r>
            <a:endParaRPr lang="en-US" sz="1300" noProof="1"/>
          </a:p>
          <a:p>
            <a:pPr algn="l">
              <a:lnSpc>
                <a:spcPct val="150000"/>
              </a:lnSpc>
            </a:pPr>
            <a:r>
              <a:rPr lang="en-US" sz="1300" noProof="1">
                <a:solidFill>
                  <a:srgbClr val="B0B0B0"/>
                </a:solidFill>
                <a:latin typeface="MiSans"/>
                <a:ea typeface="MiSans"/>
              </a:rPr>
              <a:t>aydar.asadullin@rhsolutions.ru · +7 922 157 01 80</a:t>
            </a:r>
            <a:endParaRPr lang="en-US" sz="1300" noProof="1"/>
          </a:p>
        </p:txBody>
      </p:sp>
      <p:sp>
        <p:nvSpPr>
          <p:cNvPr id="8" name="page-num"/>
          <p:cNvSpPr txBox="1"/>
          <p:nvPr/>
        </p:nvSpPr>
        <p:spPr>
          <a:xfrm>
            <a:off x="10922000" y="63246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818181"/>
                </a:solidFill>
                <a:latin typeface="MiSans"/>
                <a:ea typeface="MiSans"/>
              </a:rPr>
              <a:t>14</a:t>
            </a:r>
            <a:endParaRPr lang="en-US" sz="1100" noProof="1"/>
          </a:p>
        </p:txBody>
      </p:sp>
    </p:spTree>
  </p:cSld>
  <p:clrMapOvr>
    <a:masterClrMapping/>
  </p:clrMapOvr>
  <p:transition spd="fast" advClick="1">
    <p:checker dir="horz"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Company>Moonshot</Company>
  <Slides>14</Slides>
</Properties>
</file>

<file path=docProps/core.xml><?xml version="1.0" encoding="utf-8"?>
<cp:coreProperties xmlns:cp="http://schemas.openxmlformats.org/package/2006/metadata/core-properties" xmlns:dc="http://purl.org/dc/elements/1.1/">
  <dc:title>РЕХАУ Калькулятор снеготаяния — техническая презентация</dc:title>
  <dc:subject>РЕХАУ Калькулятор снеготаяния — техническая презентация</dc:subject>
  <dc:creator>Kimi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{"Label":"РЕХАУ Калькулятор снеготаяния — техническая презентация","ContentProducer":"001191110108MACG2KBH8F10000","ProduceID":"rehau_technical","ReservedCode1":"","ContentPropagator":"001191110108MACG2KBH8F20000","PropagateID":"agent:main:main:conversation:0e45d92d-2496-4a30-aac0-f895591856da","ReservedCode2":""}</vt:lpwstr>
  </property>
</Properties>
</file>