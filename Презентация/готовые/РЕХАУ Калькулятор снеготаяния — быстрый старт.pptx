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Relationship Id="rId5" Type="http://schemas.openxmlformats.org/officeDocument/2006/relationships/image" Target="../media/image1_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2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2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Relationship Id="rId3" Type="http://schemas.openxmlformats.org/officeDocument/2006/relationships/image" Target="../media/image2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Relationship Id="rId3" Type="http://schemas.openxmlformats.org/officeDocument/2006/relationships/image" Target="../media/image2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Relationship Id="rId3" Type="http://schemas.openxmlformats.org/officeDocument/2006/relationships/image" Target="../media/image2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2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png"/><Relationship Id="rId3" Type="http://schemas.openxmlformats.org/officeDocument/2006/relationships/image" Target="../media/image11_2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tr"/>
          <p:cNvPicPr/>
          <p:nvPr/>
        </p:nvPicPr>
        <p:blipFill>
          <a:blip r:embed="rId2"/>
          <a:srcRect l="15" r="15"/>
          <a:stretch>
            <a:fillRect/>
          </a:stretch>
        </p:blipFill>
        <p:spPr>
          <a:xfrm>
            <a:off x="8382000" y="0"/>
            <a:ext cx="3810000" cy="23876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379" r="-379"/>
          <a:stretch>
            <a:fillRect/>
          </a:stretch>
        </p:blipFill>
        <p:spPr>
          <a:xfrm>
            <a:off x="762000" y="609600"/>
            <a:ext cx="2286000" cy="825500"/>
          </a:xfrm>
          <a:prstGeom prst="rect">
            <a:avLst/>
          </a:prstGeom>
          <a:ln>
            <a:noFill/>
          </a:ln>
        </p:spPr>
      </p:pic>
      <p:pic>
        <p:nvPicPr>
          <p:cNvPr id="4" name="app-icon"/>
          <p:cNvPicPr/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10058400" y="2844800"/>
            <a:ext cx="1371600" cy="1371600"/>
          </a:xfrm>
          <a:prstGeom prst="rect">
            <a:avLst/>
          </a:prstGeom>
          <a:ln>
            <a:noFill/>
          </a:ln>
        </p:spPr>
      </p:pic>
      <p:sp>
        <p:nvSpPr>
          <p:cNvPr id="5" name="accent-bar"/>
          <p:cNvSpPr/>
          <p:nvPr/>
        </p:nvSpPr>
        <p:spPr>
          <a:xfrm>
            <a:off x="787400" y="27686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62000" y="30226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200" noProof="1" b="1">
                <a:solidFill>
                  <a:srgbClr val="000000"/>
                </a:solidFill>
                <a:latin typeface="MiSans"/>
                <a:ea typeface="MiSans"/>
              </a:rPr>
              <a:t>Быстрый старт</a:t>
            </a:r>
            <a:endParaRPr lang="en-US" sz="4200" noProof="1"/>
          </a:p>
        </p:txBody>
      </p:sp>
      <p:sp>
        <p:nvSpPr>
          <p:cNvPr id="7" name="subtitle"/>
          <p:cNvSpPr txBox="1"/>
          <p:nvPr/>
        </p:nvSpPr>
        <p:spPr>
          <a:xfrm>
            <a:off x="762000" y="3911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700" noProof="1">
                <a:solidFill>
                  <a:srgbClr val="4E4E4E"/>
                </a:solidFill>
                <a:latin typeface="MiSans"/>
                <a:ea typeface="MiSans"/>
              </a:rPr>
              <a:t>Калькулятор снеготаяния РЕХАУ: как пройти путь от нового проекта до готового отчёта PDF</a:t>
            </a:r>
            <a:endParaRPr lang="en-US" sz="1700" noProof="1"/>
          </a:p>
        </p:txBody>
      </p:sp>
      <p:pic>
        <p:nvPicPr>
          <p:cNvPr id="8" name="squares-br"/>
          <p:cNvPicPr/>
          <p:nvPr/>
        </p:nvPicPr>
        <p:blipFill>
          <a:blip r:embed="rId5"/>
          <a:srcRect l="-36" r="-36"/>
          <a:stretch>
            <a:fillRect/>
          </a:stretch>
        </p:blipFill>
        <p:spPr>
          <a:xfrm>
            <a:off x="10871200" y="5080000"/>
            <a:ext cx="711200" cy="1168400"/>
          </a:xfrm>
          <a:prstGeom prst="rect">
            <a:avLst/>
          </a:prstGeom>
          <a:ln>
            <a:noFill/>
          </a:ln>
        </p:spPr>
      </p:pic>
      <p:sp>
        <p:nvSpPr>
          <p:cNvPr id="9" name="slogan"/>
          <p:cNvSpPr txBox="1"/>
          <p:nvPr/>
        </p:nvSpPr>
        <p:spPr>
          <a:xfrm>
            <a:off x="762000" y="607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1300" noProof="1"/>
          </a:p>
        </p:txBody>
      </p:sp>
      <p:sp>
        <p:nvSpPr>
          <p:cNvPr id="10" name="meta"/>
          <p:cNvSpPr txBox="1"/>
          <p:nvPr/>
        </p:nvSpPr>
        <p:spPr>
          <a:xfrm>
            <a:off x="5842000" y="6070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B0B0B0"/>
                </a:solidFill>
                <a:latin typeface="MiSans"/>
                <a:ea typeface="MiSans"/>
              </a:rPr>
              <a:t>Обучающая презентация для пользователей · v1.0 · 2026</a:t>
            </a:r>
            <a:endParaRPr lang="en-US" sz="12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УСТАНОВКА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Три шага до первого запуска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req-card"/>
          <p:cNvSpPr/>
          <p:nvPr/>
        </p:nvSpPr>
        <p:spPr>
          <a:xfrm>
            <a:off x="762000" y="1905000"/>
            <a:ext cx="3810000" cy="381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" name="req-title"/>
          <p:cNvSpPr txBox="1"/>
          <p:nvPr/>
        </p:nvSpPr>
        <p:spPr>
          <a:xfrm>
            <a:off x="1066800" y="21844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Системные требования</a:t>
            </a:r>
            <a:endParaRPr lang="en-US" sz="1600" noProof="1"/>
          </a:p>
        </p:txBody>
      </p:sp>
      <p:sp>
        <p:nvSpPr>
          <p:cNvPr id="7" name="req-body"/>
          <p:cNvSpPr txBox="1"/>
          <p:nvPr/>
        </p:nvSpPr>
        <p:spPr>
          <a:xfrm>
            <a:off x="1066800" y="2667000"/>
            <a:ext cx="32004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D9D9D9"/>
                </a:solidFill>
                <a:latin typeface="MiSans"/>
                <a:ea typeface="MiSans"/>
              </a:rPr>
              <a:t>ОС:</a:t>
            </a:r>
            <a:r>
              <a:rPr lang="en-US" sz="1300" noProof="1">
                <a:solidFill>
                  <a:srgbClr val="D9D9D9"/>
                </a:solidFill>
                <a:latin typeface="MiSans"/>
                <a:ea typeface="MiSans"/>
              </a:rPr>
              <a:t> Windows 10 / 11 (x64)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D9D9D9"/>
                </a:solidFill>
                <a:latin typeface="MiSans"/>
                <a:ea typeface="MiSans"/>
              </a:rPr>
              <a:t>Платформа:</a:t>
            </a:r>
            <a:r>
              <a:rPr lang="en-US" sz="1300" noProof="1">
                <a:solidFill>
                  <a:srgbClr val="D9D9D9"/>
                </a:solidFill>
                <a:latin typeface="MiSans"/>
                <a:ea typeface="MiSans"/>
              </a:rPr>
              <a:t> .NET 8 — уже входит в установщик, отдельно не нужна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D9D9D9"/>
                </a:solidFill>
                <a:latin typeface="MiSans"/>
                <a:ea typeface="MiSans"/>
              </a:rPr>
              <a:t>Экран:</a:t>
            </a:r>
            <a:r>
              <a:rPr lang="en-US" sz="1300" noProof="1">
                <a:solidFill>
                  <a:srgbClr val="D9D9D9"/>
                </a:solidFill>
                <a:latin typeface="MiSans"/>
                <a:ea typeface="MiSans"/>
              </a:rPr>
              <a:t> от 1280×1024, лучше 1920×1080</a:t>
            </a:r>
            <a:endParaRPr lang="en-US" sz="1300" noProof="1"/>
          </a:p>
        </p:txBody>
      </p:sp>
      <p:sp>
        <p:nvSpPr>
          <p:cNvPr id="8" name="step-mark-1"/>
          <p:cNvSpPr/>
          <p:nvPr/>
        </p:nvSpPr>
        <p:spPr>
          <a:xfrm>
            <a:off x="5080000" y="2006600"/>
            <a:ext cx="381000" cy="381000"/>
          </a:xfrm>
          <a:prstGeom prst="ellipse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9" name="step-num-1"/>
          <p:cNvSpPr txBox="1"/>
          <p:nvPr/>
        </p:nvSpPr>
        <p:spPr>
          <a:xfrm>
            <a:off x="5080000" y="2006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500" noProof="1"/>
          </a:p>
        </p:txBody>
      </p:sp>
      <p:sp>
        <p:nvSpPr>
          <p:cNvPr id="10" name="step-text-1"/>
          <p:cNvSpPr txBox="1"/>
          <p:nvPr/>
        </p:nvSpPr>
        <p:spPr>
          <a:xfrm>
            <a:off x="5664200" y="1905000"/>
            <a:ext cx="6019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noProof="1" b="1">
                <a:solidFill>
                  <a:srgbClr val="4E4E4E"/>
                </a:solidFill>
                <a:latin typeface="MiSans"/>
                <a:ea typeface="MiSans"/>
              </a:rPr>
              <a:t>Запустите установщик</a:t>
            </a:r>
            <a:r>
              <a:rPr lang="en-US" sz="1400" noProof="1">
                <a:solidFill>
                  <a:srgbClr val="4E4E4E"/>
                </a:solidFill>
                <a:latin typeface="MiSans"/>
                <a:ea typeface="MiSans"/>
              </a:rPr>
              <a:t> — файл SnowMeltingCalculator-v1.1-Setup.exe из полученного пакета</a:t>
            </a:r>
            <a:endParaRPr lang="en-US" sz="1400" noProof="1"/>
          </a:p>
        </p:txBody>
      </p:sp>
      <p:sp>
        <p:nvSpPr>
          <p:cNvPr id="11" name="step-mark-2"/>
          <p:cNvSpPr/>
          <p:nvPr/>
        </p:nvSpPr>
        <p:spPr>
          <a:xfrm>
            <a:off x="5080000" y="3022600"/>
            <a:ext cx="381000" cy="381000"/>
          </a:xfrm>
          <a:prstGeom prst="ellipse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2" name="step-num-2"/>
          <p:cNvSpPr txBox="1"/>
          <p:nvPr/>
        </p:nvSpPr>
        <p:spPr>
          <a:xfrm>
            <a:off x="5080000" y="302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500" noProof="1"/>
          </a:p>
        </p:txBody>
      </p:sp>
      <p:sp>
        <p:nvSpPr>
          <p:cNvPr id="13" name="step-text-2"/>
          <p:cNvSpPr txBox="1"/>
          <p:nvPr/>
        </p:nvSpPr>
        <p:spPr>
          <a:xfrm>
            <a:off x="5664200" y="2921000"/>
            <a:ext cx="6019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noProof="1" b="1">
                <a:solidFill>
                  <a:srgbClr val="4E4E4E"/>
                </a:solidFill>
                <a:latin typeface="MiSans"/>
                <a:ea typeface="MiSans"/>
              </a:rPr>
              <a:t>Следуйте мастеру установки</a:t>
            </a:r>
            <a:r>
              <a:rPr lang="en-US" sz="1400" noProof="1">
                <a:solidFill>
                  <a:srgbClr val="4E4E4E"/>
                </a:solidFill>
                <a:latin typeface="MiSans"/>
                <a:ea typeface="MiSans"/>
              </a:rPr>
              <a:t> — ярлык появится в меню «Пуск» (папка REHAU), при желании — на рабочем столе</a:t>
            </a:r>
            <a:endParaRPr lang="en-US" sz="1400" noProof="1"/>
          </a:p>
        </p:txBody>
      </p:sp>
      <p:sp>
        <p:nvSpPr>
          <p:cNvPr id="14" name="step-mark-3"/>
          <p:cNvSpPr/>
          <p:nvPr/>
        </p:nvSpPr>
        <p:spPr>
          <a:xfrm>
            <a:off x="5080000" y="4038600"/>
            <a:ext cx="381000" cy="381000"/>
          </a:xfrm>
          <a:prstGeom prst="ellipse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5" name="step-num-3"/>
          <p:cNvSpPr txBox="1"/>
          <p:nvPr/>
        </p:nvSpPr>
        <p:spPr>
          <a:xfrm>
            <a:off x="5080000" y="403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500" noProof="1"/>
          </a:p>
        </p:txBody>
      </p:sp>
      <p:sp>
        <p:nvSpPr>
          <p:cNvPr id="16" name="step-text-3"/>
          <p:cNvSpPr txBox="1"/>
          <p:nvPr/>
        </p:nvSpPr>
        <p:spPr>
          <a:xfrm>
            <a:off x="5664200" y="3937000"/>
            <a:ext cx="6019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noProof="1" b="1">
                <a:solidFill>
                  <a:srgbClr val="4E4E4E"/>
                </a:solidFill>
                <a:latin typeface="MiSans"/>
                <a:ea typeface="MiSans"/>
              </a:rPr>
              <a:t>Запустите программу</a:t>
            </a:r>
            <a:r>
              <a:rPr lang="en-US" sz="1400" noProof="1">
                <a:solidFill>
                  <a:srgbClr val="4E4E4E"/>
                </a:solidFill>
                <a:latin typeface="MiSans"/>
                <a:ea typeface="MiSans"/>
              </a:rPr>
              <a:t> — из меню «Пуск»; при первом запуске она сама проверит базу свойств гликолей и откроется на шаге «Климат»</a:t>
            </a:r>
            <a:endParaRPr lang="en-US" sz="1400" noProof="1"/>
          </a:p>
        </p:txBody>
      </p:sp>
      <p:sp>
        <p:nvSpPr>
          <p:cNvPr id="17" name="note-bar"/>
          <p:cNvSpPr/>
          <p:nvPr/>
        </p:nvSpPr>
        <p:spPr>
          <a:xfrm>
            <a:off x="5080000" y="5080000"/>
            <a:ext cx="6604000" cy="63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8" name="note-text"/>
          <p:cNvSpPr txBox="1"/>
          <p:nvPr/>
        </p:nvSpPr>
        <p:spPr>
          <a:xfrm>
            <a:off x="5334000" y="5080000"/>
            <a:ext cx="609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После установки файлы проектов </a:t>
            </a: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.smc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открываются двойным кликом — расширение ассоциировано с программой</a:t>
            </a:r>
            <a:endParaRPr lang="en-US" sz="1300" noProof="1"/>
          </a:p>
        </p:txBody>
      </p:sp>
      <p:pic>
        <p:nvPicPr>
          <p:cNvPr id="19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0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ИНТЕРФЕЙС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Главное окно: три зоны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zone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zone-1"/>
          <p:cNvSpPr txBox="1"/>
          <p:nvPr/>
        </p:nvSpPr>
        <p:spPr>
          <a:xfrm>
            <a:off x="1066800" y="18034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Заголовок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имя текущего шага, кнопки «Назад» / «Далее»</a:t>
            </a:r>
            <a:endParaRPr lang="en-US" sz="1300" noProof="1"/>
          </a:p>
        </p:txBody>
      </p:sp>
      <p:sp>
        <p:nvSpPr>
          <p:cNvPr id="7" name="zone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zone-2"/>
          <p:cNvSpPr txBox="1"/>
          <p:nvPr/>
        </p:nvSpPr>
        <p:spPr>
          <a:xfrm>
            <a:off x="1066800" y="25400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Панель шагов слева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Климат → Конструкция → Тепловой → Гидравлика → Результаты</a:t>
            </a:r>
            <a:endParaRPr lang="en-US" sz="1300" noProof="1"/>
          </a:p>
        </p:txBody>
      </p:sp>
      <p:sp>
        <p:nvSpPr>
          <p:cNvPr id="9" name="zone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zone-3"/>
          <p:cNvSpPr txBox="1"/>
          <p:nvPr/>
        </p:nvSpPr>
        <p:spPr>
          <a:xfrm>
            <a:off x="1066800" y="32766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Рабочая область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формы и таблицы текущего шага</a:t>
            </a:r>
            <a:endParaRPr lang="en-US" sz="1300" noProof="1"/>
          </a:p>
        </p:txBody>
      </p:sp>
      <p:sp>
        <p:nvSpPr>
          <p:cNvPr id="11" name="zone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zone-4"/>
          <p:cNvSpPr txBox="1"/>
          <p:nvPr/>
        </p:nvSpPr>
        <p:spPr>
          <a:xfrm>
            <a:off x="1066800" y="4013200"/>
            <a:ext cx="355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Бейджи состояния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зелёный: данные актуальны; красный: нужен пересчёт</a:t>
            </a:r>
            <a:endParaRPr lang="en-US" sz="1300" noProof="1"/>
          </a:p>
        </p:txBody>
      </p:sp>
      <p:sp>
        <p:nvSpPr>
          <p:cNvPr id="13" name="zone-tip"/>
          <p:cNvSpPr txBox="1"/>
          <p:nvPr/>
        </p:nvSpPr>
        <p:spPr>
          <a:xfrm>
            <a:off x="762000" y="5080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Совет: по шагам можно ходить в любую сторону — кликом по названию в панели или кнопками «Назад» / «Далее»</a:t>
            </a:r>
            <a:endParaRPr lang="en-US" sz="1200" noProof="1"/>
          </a:p>
        </p:txBody>
      </p:sp>
      <p:pic>
        <p:nvPicPr>
          <p:cNvPr id="14" name="screen"/>
          <p:cNvPicPr/>
          <p:nvPr/>
        </p:nvPicPr>
        <p:blipFill>
          <a:blip r:embed="rId2"/>
          <a:srcRect t="110" b="110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5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6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Главное окно программы — шаг «Климатические данные»</a:t>
            </a:r>
            <a:endParaRPr lang="en-US" sz="1100" noProof="1"/>
          </a:p>
        </p:txBody>
      </p:sp>
      <p:pic>
        <p:nvPicPr>
          <p:cNvPr id="17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ШАГ 1 · КЛИМАТ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Задайте климат объекта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Начните вводить город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подсказка найдёт его в базе 550 городов РФ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Проверьте расчётную температуру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программа выберет её автоматически (−10 / −15 / −20 °C)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Введите снегопад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в мм/ч по водяному эквиваленту: 1 мм/ч воды ≈ 1 см/ч снега</a:t>
            </a:r>
            <a:endParaRPr lang="en-US" sz="1300" noProof="1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Включите «Повышенные требования»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для ответственных объектов — расчёт пойдёт по −20 °C</a:t>
            </a:r>
            <a:endParaRPr lang="en-US" sz="1300" noProof="1"/>
          </a:p>
        </p:txBody>
      </p:sp>
      <p:sp>
        <p:nvSpPr>
          <p:cNvPr id="13" name="tip"/>
          <p:cNvSpPr txBox="1"/>
          <p:nvPr/>
        </p:nvSpPr>
        <p:spPr>
          <a:xfrm>
            <a:off x="762000" y="5054600"/>
            <a:ext cx="38735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Допустимый диапазон температур: −50…+10 °C. Все поля можно поправить вручную, кнопка «Сбросить» вернёт данные города</a:t>
            </a:r>
            <a:endParaRPr lang="en-US" sz="1200" noProof="1"/>
          </a:p>
        </p:txBody>
      </p:sp>
      <p:pic>
        <p:nvPicPr>
          <p:cNvPr id="14" name="screen"/>
          <p:cNvPicPr/>
          <p:nvPr/>
        </p:nvPicPr>
        <p:blipFill>
          <a:blip r:embed="rId2"/>
          <a:srcRect t="110" b="110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5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6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Шаг «Климат» — выбор города с автоподстановкой</a:t>
            </a:r>
            <a:endParaRPr lang="en-US" sz="1100" noProof="1"/>
          </a:p>
        </p:txBody>
      </p:sp>
      <p:pic>
        <p:nvPicPr>
          <p:cNvPr id="17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ШАГ 2 · КОНСТРУКЦИЯ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Соберите «пирог» покрытия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Начните с шаблона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3 готовых: парковка/площадка (бетон), пешеходная дорожка (плитка), въезд в гараж/пандус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Или соберите свои слои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15 материалов, толщина каждого 10–1000 мм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Укажите УГВ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при грунтовых водах выше 1 м λ слоёв под трубой меняется на «влажную»</a:t>
            </a:r>
            <a:endParaRPr lang="en-US" sz="1300" noProof="1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Следите за разрезом справа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визуализация и значения R₁, R₂, λE пересчитываются сразу</a:t>
            </a:r>
            <a:endParaRPr lang="en-US" sz="1300" noProof="1"/>
          </a:p>
        </p:txBody>
      </p:sp>
      <p:sp>
        <p:nvSpPr>
          <p:cNvPr id="13" name="tip"/>
          <p:cNvSpPr txBox="1"/>
          <p:nvPr/>
        </p:nvSpPr>
        <p:spPr>
          <a:xfrm>
            <a:off x="762000" y="5054600"/>
            <a:ext cx="38735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Помните: над трубой минимум 40 мм (без нагрузок) или 50 мм (с нагрузками). Для бетона t подачи не выше 50 °C</a:t>
            </a:r>
            <a:endParaRPr lang="en-US" sz="1200" noProof="1"/>
          </a:p>
        </p:txBody>
      </p:sp>
      <p:pic>
        <p:nvPicPr>
          <p:cNvPr id="14" name="screen"/>
          <p:cNvPicPr/>
          <p:nvPr/>
        </p:nvPicPr>
        <p:blipFill>
          <a:blip r:embed="rId2"/>
          <a:srcRect t="146" b="146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5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6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Шаг «Конструкция» — слои и живой разрез «пирога»</a:t>
            </a:r>
            <a:endParaRPr lang="en-US" sz="1100" noProof="1"/>
          </a:p>
        </p:txBody>
      </p:sp>
      <p:pic>
        <p:nvPicPr>
          <p:cNvPr id="17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05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ШАГ 3 · ТЕПЛОВОЙ РАСЧЁТ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Подберите мощность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Выберите режим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Melting (таяние, поверхность +5 °C) для большинства объектов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Выберите трубу и шаг укладки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RAUTHERM S 17/20/25 мм, чем меньше шаг, тем выше мощность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Нажмите «Рассчитать»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увидите поток вверх q↑, вниз q↓ и суммарную мощность</a:t>
            </a:r>
            <a:endParaRPr lang="en-US" sz="1300" noProof="1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Сверьтесь с подсказкой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программа рекомендует температуру подачи под ΔT = 15 K</a:t>
            </a:r>
            <a:endParaRPr lang="en-US" sz="1300" noProof="1"/>
          </a:p>
        </p:txBody>
      </p:sp>
      <p:sp>
        <p:nvSpPr>
          <p:cNvPr id="13" name="tip"/>
          <p:cNvSpPr txBox="1"/>
          <p:nvPr/>
        </p:nvSpPr>
        <p:spPr>
          <a:xfrm>
            <a:off x="762000" y="5054600"/>
            <a:ext cx="38735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Ориентир: длина одного контура Ø20 не должна превышать 120 м — заложите это при разбивке на контуры</a:t>
            </a:r>
            <a:endParaRPr lang="en-US" sz="1200" noProof="1"/>
          </a:p>
        </p:txBody>
      </p:sp>
      <p:pic>
        <p:nvPicPr>
          <p:cNvPr id="14" name="screen"/>
          <p:cNvPicPr/>
          <p:nvPr/>
        </p:nvPicPr>
        <p:blipFill>
          <a:blip r:embed="rId2"/>
          <a:srcRect t="74" b="7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5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6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Шаг «Тепловой расчёт» — результаты после кнопки «Рассчитать»</a:t>
            </a:r>
            <a:endParaRPr lang="en-US" sz="1100" noProof="1"/>
          </a:p>
        </p:txBody>
      </p:sp>
      <p:pic>
        <p:nvPicPr>
          <p:cNvPr id="17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ШАГ 4 · ГИДРАВЛИКА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Разбейте систему на контуры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Задайте теплоноситель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тип гликоля и концентрацию; свойства подтянутся из базы ASHRAE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Добавьте коллекторы и контуры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длина каждого контура и подводки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Нажмите «Рассчитать»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расходы, скорости и потери давления по каждому контуру</a:t>
            </a:r>
            <a:endParaRPr lang="en-US" sz="1300" noProof="1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Проверьте балансировку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программа выдаст дросселирование и обороты вентилей для монтажа</a:t>
            </a:r>
            <a:endParaRPr lang="en-US" sz="1300" noProof="1"/>
          </a:p>
        </p:txBody>
      </p:sp>
      <p:sp>
        <p:nvSpPr>
          <p:cNvPr id="13" name="tip"/>
          <p:cNvSpPr txBox="1"/>
          <p:nvPr/>
        </p:nvSpPr>
        <p:spPr>
          <a:xfrm>
            <a:off x="762000" y="5054600"/>
            <a:ext cx="38735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Максимально допустимые потери на коллектор — 320 мбар; программа предупредит, если подбор не сошёлся</a:t>
            </a:r>
            <a:endParaRPr lang="en-US" sz="1200" noProof="1"/>
          </a:p>
        </p:txBody>
      </p:sp>
      <p:pic>
        <p:nvPicPr>
          <p:cNvPr id="14" name="screen"/>
          <p:cNvPicPr/>
          <p:nvPr/>
        </p:nvPicPr>
        <p:blipFill>
          <a:blip r:embed="rId2"/>
          <a:srcRect t="146" b="146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5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6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Шаг «Гидравлика» — таблица контуров по коллекторам</a:t>
            </a:r>
            <a:endParaRPr lang="en-US" sz="1100" noProof="1"/>
          </a:p>
        </p:txBody>
      </p:sp>
      <p:pic>
        <p:nvPicPr>
          <p:cNvPr id="17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ШАГ 5 · РЕЗУЛЬТАТЫ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Проверьте и выгрузите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Сверьте КПИ в шапке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мощность, объём, насос, температуры подачи и обратки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Проверьте ведомость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коллекторы, труба, бак: это будущая спецификация заказа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Сохраните проект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файл .smc откроется позже со всеми введёнными данными</a:t>
            </a:r>
            <a:endParaRPr lang="en-US" sz="1300" noProof="1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Выгрузите отчёт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«Предпросмотр» или «Печать» дадут брендированный PDF для заказчика</a:t>
            </a:r>
            <a:endParaRPr lang="en-US" sz="1300" noProof="1"/>
          </a:p>
        </p:txBody>
      </p:sp>
      <p:sp>
        <p:nvSpPr>
          <p:cNvPr id="13" name="tip"/>
          <p:cNvSpPr txBox="1"/>
          <p:nvPr/>
        </p:nvSpPr>
        <p:spPr>
          <a:xfrm>
            <a:off x="762000" y="5054600"/>
            <a:ext cx="38735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Обороты вентилей из отчёта передайте монтажникам — это настройки балансировки на объекте</a:t>
            </a:r>
            <a:endParaRPr lang="en-US" sz="1200" noProof="1"/>
          </a:p>
        </p:txBody>
      </p:sp>
      <p:pic>
        <p:nvPicPr>
          <p:cNvPr id="14" name="screen"/>
          <p:cNvPicPr/>
          <p:nvPr/>
        </p:nvPicPr>
        <p:blipFill>
          <a:blip r:embed="rId2"/>
          <a:srcRect t="146" b="146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5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6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Шаг «Результаты» — КПИ, оборудование и исходные данные</a:t>
            </a:r>
            <a:endParaRPr lang="en-US" sz="1100" noProof="1"/>
          </a:p>
        </p:txBody>
      </p:sp>
      <p:pic>
        <p:nvPicPr>
          <p:cNvPr id="17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ПОЛЕЗНО ЗНАТЬ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Бейджи и типичные ошибки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adge-card"/>
          <p:cNvSpPr/>
          <p:nvPr/>
        </p:nvSpPr>
        <p:spPr>
          <a:xfrm>
            <a:off x="762000" y="1905000"/>
            <a:ext cx="5334000" cy="3810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badge-title"/>
          <p:cNvSpPr txBox="1"/>
          <p:nvPr/>
        </p:nvSpPr>
        <p:spPr>
          <a:xfrm>
            <a:off x="1066800" y="2133600"/>
            <a:ext cx="4699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Как читать бейджи шагов</a:t>
            </a:r>
            <a:endParaRPr lang="en-US" sz="1600" noProof="1"/>
          </a:p>
        </p:txBody>
      </p:sp>
      <p:sp>
        <p:nvSpPr>
          <p:cNvPr id="7" name="badge-mark-1"/>
          <p:cNvSpPr/>
          <p:nvPr/>
        </p:nvSpPr>
        <p:spPr>
          <a:xfrm>
            <a:off x="1092200" y="2717800"/>
            <a:ext cx="177800" cy="177800"/>
          </a:xfrm>
          <a:prstGeom prst="roundRect">
            <a:avLst>
              <a:gd name="adj" fmla="val 30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8" name="badge-text-1"/>
          <p:cNvSpPr txBox="1"/>
          <p:nvPr/>
        </p:nvSpPr>
        <p:spPr>
          <a:xfrm>
            <a:off x="1422400" y="2616200"/>
            <a:ext cx="4368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Зелёный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данные шага актуальны, можно идти дальше</a:t>
            </a:r>
            <a:endParaRPr lang="en-US" sz="1300" noProof="1"/>
          </a:p>
        </p:txBody>
      </p:sp>
      <p:sp>
        <p:nvSpPr>
          <p:cNvPr id="9" name="badge-mark-2"/>
          <p:cNvSpPr/>
          <p:nvPr/>
        </p:nvSpPr>
        <p:spPr>
          <a:xfrm>
            <a:off x="1092200" y="3479800"/>
            <a:ext cx="177800" cy="177800"/>
          </a:xfrm>
          <a:prstGeom prst="roundRect">
            <a:avLst>
              <a:gd name="adj" fmla="val 30000"/>
            </a:avLst>
          </a:prstGeom>
          <a:solidFill>
            <a:srgbClr val="E50040"/>
          </a:solidFill>
          <a:ln>
            <a:noFill/>
          </a:ln>
        </p:spPr>
      </p:sp>
      <p:sp>
        <p:nvSpPr>
          <p:cNvPr id="10" name="badge-text-2"/>
          <p:cNvSpPr txBox="1"/>
          <p:nvPr/>
        </p:nvSpPr>
        <p:spPr>
          <a:xfrm>
            <a:off x="1422400" y="3378200"/>
            <a:ext cx="4368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 b="1">
                <a:solidFill>
                  <a:srgbClr val="4E4E4E"/>
                </a:solidFill>
                <a:latin typeface="MiSans"/>
                <a:ea typeface="MiSans"/>
              </a:rPr>
              <a:t>Красный</a:t>
            </a: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 — параметры изменились: вернитесь на шаг и нажмите «Рассчитать»</a:t>
            </a:r>
            <a:endParaRPr lang="en-US" sz="1300" noProof="1"/>
          </a:p>
        </p:txBody>
      </p:sp>
      <p:sp>
        <p:nvSpPr>
          <p:cNvPr id="11" name="badge-note"/>
          <p:cNvSpPr txBox="1"/>
          <p:nvPr/>
        </p:nvSpPr>
        <p:spPr>
          <a:xfrm>
            <a:off x="1066800" y="4267200"/>
            <a:ext cx="4724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Программа не даёт «уйти вперёд» с устаревшими данными: перед выгрузкой отчёта все бейджи должны быть зелёными</a:t>
            </a:r>
            <a:endParaRPr lang="en-US" sz="1200" noProof="1"/>
          </a:p>
        </p:txBody>
      </p:sp>
      <p:sp>
        <p:nvSpPr>
          <p:cNvPr id="12" name="err-card"/>
          <p:cNvSpPr/>
          <p:nvPr/>
        </p:nvSpPr>
        <p:spPr>
          <a:xfrm>
            <a:off x="6350000" y="1905000"/>
            <a:ext cx="5334000" cy="3810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3" name="err-title"/>
          <p:cNvSpPr txBox="1"/>
          <p:nvPr/>
        </p:nvSpPr>
        <p:spPr>
          <a:xfrm>
            <a:off x="6654800" y="2133600"/>
            <a:ext cx="4699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Частые ошибки новичков</a:t>
            </a:r>
            <a:endParaRPr lang="en-US" sz="1600" noProof="1"/>
          </a:p>
        </p:txBody>
      </p:sp>
      <p:sp>
        <p:nvSpPr>
          <p:cNvPr id="14" name="err-body"/>
          <p:cNvSpPr txBox="1"/>
          <p:nvPr/>
        </p:nvSpPr>
        <p:spPr>
          <a:xfrm>
            <a:off x="6654800" y="2616200"/>
            <a:ext cx="47244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Забыли нажать «Рассчитать» после правки — смотрите на красный бейдж</a:t>
            </a:r>
            <a:endParaRPr lang="en-US" sz="13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Асфальт при t ниже −15 °C — выберите бетон или плитку</a:t>
            </a:r>
            <a:endParaRPr lang="en-US" sz="13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Подача выше 50 °C для бетона — снизьте температуру</a:t>
            </a:r>
            <a:endParaRPr lang="en-US" sz="13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Контур длиннее 120 м (Ø20) — разбейте на два контура</a:t>
            </a:r>
            <a:endParaRPr lang="en-US" sz="1300" noProof="1"/>
          </a:p>
        </p:txBody>
      </p:sp>
      <p:pic>
        <p:nvPicPr>
          <p:cNvPr id="15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6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09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ВОПРОСЫ И ОТВЕТЫ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Частые вопросы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q-card-1"/>
          <p:cNvSpPr/>
          <p:nvPr/>
        </p:nvSpPr>
        <p:spPr>
          <a:xfrm>
            <a:off x="762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q-1-q"/>
          <p:cNvSpPr txBox="1"/>
          <p:nvPr/>
        </p:nvSpPr>
        <p:spPr>
          <a:xfrm>
            <a:off x="1066800" y="21082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E50040"/>
                </a:solidFill>
                <a:latin typeface="MiSans"/>
                <a:ea typeface="MiSans"/>
              </a:rPr>
              <a:t>Моего города нет в базе — что делать?</a:t>
            </a:r>
            <a:endParaRPr lang="en-US" sz="1500" noProof="1"/>
          </a:p>
        </p:txBody>
      </p:sp>
      <p:sp>
        <p:nvSpPr>
          <p:cNvPr id="7" name="q-1-a"/>
          <p:cNvSpPr txBox="1"/>
          <p:nvPr/>
        </p:nvSpPr>
        <p:spPr>
          <a:xfrm>
            <a:off x="1066800" y="2540000"/>
            <a:ext cx="4724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Выберите ближайший город с похожим климатом и скорректируйте температуру, ветер и влажность вручную по СП 131.13330.2025</a:t>
            </a:r>
            <a:endParaRPr lang="en-US" sz="1300" noProof="1"/>
          </a:p>
        </p:txBody>
      </p:sp>
      <p:sp>
        <p:nvSpPr>
          <p:cNvPr id="8" name="q-card-2"/>
          <p:cNvSpPr/>
          <p:nvPr/>
        </p:nvSpPr>
        <p:spPr>
          <a:xfrm>
            <a:off x="6350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9" name="q-2-q"/>
          <p:cNvSpPr txBox="1"/>
          <p:nvPr/>
        </p:nvSpPr>
        <p:spPr>
          <a:xfrm>
            <a:off x="6654800" y="21082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E50040"/>
                </a:solidFill>
                <a:latin typeface="MiSans"/>
                <a:ea typeface="MiSans"/>
              </a:rPr>
              <a:t>Можно ли вернуться к проекту позже?</a:t>
            </a:r>
            <a:endParaRPr lang="en-US" sz="1500" noProof="1"/>
          </a:p>
        </p:txBody>
      </p:sp>
      <p:sp>
        <p:nvSpPr>
          <p:cNvPr id="10" name="q-2-a"/>
          <p:cNvSpPr txBox="1"/>
          <p:nvPr/>
        </p:nvSpPr>
        <p:spPr>
          <a:xfrm>
            <a:off x="6654800" y="2540000"/>
            <a:ext cx="4724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Да. Сохраните проект кнопкой «Сохранить» — файл .smc содержит все введённые данные и открывается через меню «Файл»</a:t>
            </a:r>
            <a:endParaRPr lang="en-US" sz="1300" noProof="1"/>
          </a:p>
        </p:txBody>
      </p:sp>
      <p:sp>
        <p:nvSpPr>
          <p:cNvPr id="11" name="q-card-3"/>
          <p:cNvSpPr/>
          <p:nvPr/>
        </p:nvSpPr>
        <p:spPr>
          <a:xfrm>
            <a:off x="762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2" name="q-3-q"/>
          <p:cNvSpPr txBox="1"/>
          <p:nvPr/>
        </p:nvSpPr>
        <p:spPr>
          <a:xfrm>
            <a:off x="1066800" y="41402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E50040"/>
                </a:solidFill>
                <a:latin typeface="MiSans"/>
                <a:ea typeface="MiSans"/>
              </a:rPr>
              <a:t>Чем отличаются рабочий и холодный режимы?</a:t>
            </a:r>
            <a:endParaRPr lang="en-US" sz="1500" noProof="1"/>
          </a:p>
        </p:txBody>
      </p:sp>
      <p:sp>
        <p:nvSpPr>
          <p:cNvPr id="13" name="q-3-a"/>
          <p:cNvSpPr txBox="1"/>
          <p:nvPr/>
        </p:nvSpPr>
        <p:spPr>
          <a:xfrm>
            <a:off x="1066800" y="4572000"/>
            <a:ext cx="4724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Холодный учитывает вязкость гликоля при запуске системы на морозе: потери давления выше — проверяйте оба значения ΔP в результатах</a:t>
            </a:r>
            <a:endParaRPr lang="en-US" sz="1300" noProof="1"/>
          </a:p>
        </p:txBody>
      </p:sp>
      <p:sp>
        <p:nvSpPr>
          <p:cNvPr id="14" name="q-card-4"/>
          <p:cNvSpPr/>
          <p:nvPr/>
        </p:nvSpPr>
        <p:spPr>
          <a:xfrm>
            <a:off x="6350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5" name="q-4-q"/>
          <p:cNvSpPr txBox="1"/>
          <p:nvPr/>
        </p:nvSpPr>
        <p:spPr>
          <a:xfrm>
            <a:off x="6654800" y="41402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E50040"/>
                </a:solidFill>
                <a:latin typeface="MiSans"/>
                <a:ea typeface="MiSans"/>
              </a:rPr>
              <a:t>Куда передавать результаты?</a:t>
            </a:r>
            <a:endParaRPr lang="en-US" sz="1500" noProof="1"/>
          </a:p>
        </p:txBody>
      </p:sp>
      <p:sp>
        <p:nvSpPr>
          <p:cNvPr id="16" name="q-4-a"/>
          <p:cNvSpPr txBox="1"/>
          <p:nvPr/>
        </p:nvSpPr>
        <p:spPr>
          <a:xfrm>
            <a:off x="6654800" y="4572000"/>
            <a:ext cx="4724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PDF-отчёт — заказчику и в проектную документацию; обороты вентилей — монтажникам для балансировки; ведомость — в закупку</a:t>
            </a:r>
            <a:endParaRPr lang="en-US" sz="1300" noProof="1"/>
          </a:p>
        </p:txBody>
      </p:sp>
      <p:pic>
        <p:nvPicPr>
          <p:cNvPr id="17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10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5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160" r="-160"/>
          <a:stretch>
            <a:fillRect/>
          </a:stretch>
        </p:blipFill>
        <p:spPr>
          <a:xfrm>
            <a:off x="762000" y="2540000"/>
            <a:ext cx="2413000" cy="12700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40640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762000" y="4318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FFFFFF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2000" noProof="1"/>
          </a:p>
        </p:txBody>
      </p:sp>
      <p:sp>
        <p:nvSpPr>
          <p:cNvPr id="6" name="manual-note"/>
          <p:cNvSpPr txBox="1"/>
          <p:nvPr/>
        </p:nvSpPr>
        <p:spPr>
          <a:xfrm>
            <a:off x="762000" y="48768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B0B0B0"/>
                </a:solidFill>
                <a:latin typeface="MiSans"/>
                <a:ea typeface="MiSans"/>
              </a:rPr>
              <a:t>В комплекте — руководство пользователя: все расчёты разобраны по шагам на сквозном примере (Екатеринбург, 370 м²)</a:t>
            </a:r>
            <a:endParaRPr lang="en-US" sz="1200" noProof="1"/>
          </a:p>
        </p:txBody>
      </p:sp>
      <p:sp>
        <p:nvSpPr>
          <p:cNvPr id="7" name="contacts"/>
          <p:cNvSpPr txBox="1"/>
          <p:nvPr/>
        </p:nvSpPr>
        <p:spPr>
          <a:xfrm>
            <a:off x="762000" y="55118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B0B0B0"/>
                </a:solidFill>
                <a:latin typeface="MiSans"/>
                <a:ea typeface="MiSans"/>
              </a:rPr>
              <a:t>Автор: Асадуллин Айдар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B0B0B0"/>
                </a:solidFill>
                <a:latin typeface="MiSans"/>
                <a:ea typeface="MiSans"/>
              </a:rPr>
              <a:t>aydar.asadullin@rhsolutions.ru · +7 922 157 01 80</a:t>
            </a:r>
            <a:endParaRPr lang="en-US" sz="1300" noProof="1"/>
          </a:p>
        </p:txBody>
      </p:sp>
      <p:sp>
        <p:nvSpPr>
          <p:cNvPr id="8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11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11</Slides>
</Properties>
</file>

<file path=docProps/core.xml><?xml version="1.0" encoding="utf-8"?>
<cp:coreProperties xmlns:cp="http://schemas.openxmlformats.org/package/2006/metadata/core-properties" xmlns:dc="http://purl.org/dc/elements/1.1/">
  <dc:title>РЕХАУ Калькулятор снеготаяния — быстрый старт</dc:title>
  <dc:subject>РЕХАУ Калькулятор снеготаяния — быстрый старт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быстрый старт","ContentProducer":"001191110108MACG2KBH8F10000","ProduceID":"rehau_guide","ReservedCode1":"","ContentPropagator":"001191110108MACG2KBH8F20000","PropagateID":"agent:main:main:conversation:0e45d92d-2496-4a30-aac0-f895591856da","ReservedCode2":""}</vt:lpwstr>
  </property>
</Properties>
</file>