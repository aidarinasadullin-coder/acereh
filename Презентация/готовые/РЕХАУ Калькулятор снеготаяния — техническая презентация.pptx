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 type="custom"/>
  <p:notesSz cx="12192000" cy="6858000"/>
</p:presentation>
</file>

<file path=ppt/presProps.xml><?xml version="1.0" encoding="utf-8"?>
<p:presentationPr xmlns:p="http://schemas.openxmlformats.org/presentationml/2006/main" xmlns:a="http://schemas.openxmlformats.org/drawingml/2006/main" xmlns:r="http://schemas.openxmlformats.org/officeDocument/2006/relationships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xmlns:r="http://schemas.openxmlformats.org/officeDocument/2006/relationships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_1.png"/><Relationship Id="rId3" Type="http://schemas.openxmlformats.org/officeDocument/2006/relationships/image" Target="../media/image1_2.png"/><Relationship Id="rId4" Type="http://schemas.openxmlformats.org/officeDocument/2006/relationships/image" Target="../media/image1_3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_1.png"/><Relationship Id="rId3" Type="http://schemas.openxmlformats.org/officeDocument/2006/relationships/image" Target="../media/image2_2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_1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_1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_1.png"/><Relationship Id="rId3" Type="http://schemas.openxmlformats.org/officeDocument/2006/relationships/image" Target="../media/image3_1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_1.png"/><Relationship Id="rId3" Type="http://schemas.openxmlformats.org/officeDocument/2006/relationships/image" Target="../media/image3_1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_1.png"/><Relationship Id="rId3" Type="http://schemas.openxmlformats.org/officeDocument/2006/relationships/image" Target="../media/image3_1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_1.png"/><Relationship Id="rId3" Type="http://schemas.openxmlformats.org/officeDocument/2006/relationships/image" Target="../media/image3_1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_1.png"/><Relationship Id="rId3" Type="http://schemas.openxmlformats.org/officeDocument/2006/relationships/image" Target="../media/image3_1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_1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_1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_1.png"/><Relationship Id="rId3" Type="http://schemas.openxmlformats.org/officeDocument/2006/relationships/image" Target="../media/image12_2.png"/><Relationship Id="rId4" Type="http://schemas.openxmlformats.org/officeDocument/2006/relationships/image" Target="../media/image3_1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_1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_1.png"/><Relationship Id="rId3" Type="http://schemas.openxmlformats.org/officeDocument/2006/relationships/image" Target="../media/image2_2.png"/></Relationships>
</file>

<file path=ppt/slides/slide1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attern-tr"/>
          <p:cNvPicPr/>
          <p:nvPr/>
        </p:nvPicPr>
        <p:blipFill>
          <a:blip r:embed="rId2"/>
          <a:srcRect l="15" r="15"/>
          <a:stretch>
            <a:fillRect/>
          </a:stretch>
        </p:blipFill>
        <p:spPr>
          <a:xfrm>
            <a:off x="8382000" y="0"/>
            <a:ext cx="3810000" cy="2387600"/>
          </a:xfrm>
          <a:prstGeom prst="rect">
            <a:avLst/>
          </a:prstGeom>
          <a:ln>
            <a:noFill/>
          </a:ln>
        </p:spPr>
      </p:pic>
      <p:pic>
        <p:nvPicPr>
          <p:cNvPr id="3" name="logo"/>
          <p:cNvPicPr/>
          <p:nvPr/>
        </p:nvPicPr>
        <p:blipFill>
          <a:blip r:embed="rId3"/>
          <a:srcRect l="-379" r="-379"/>
          <a:stretch>
            <a:fillRect/>
          </a:stretch>
        </p:blipFill>
        <p:spPr>
          <a:xfrm>
            <a:off x="762000" y="609600"/>
            <a:ext cx="2286000" cy="825500"/>
          </a:xfrm>
          <a:prstGeom prst="rect">
            <a:avLst/>
          </a:prstGeom>
          <a:ln>
            <a:noFill/>
          </a:ln>
        </p:spPr>
      </p:pic>
      <p:sp>
        <p:nvSpPr>
          <p:cNvPr id="4" name="accent-bar"/>
          <p:cNvSpPr/>
          <p:nvPr/>
        </p:nvSpPr>
        <p:spPr>
          <a:xfrm>
            <a:off x="787400" y="2768600"/>
            <a:ext cx="584200" cy="76200"/>
          </a:xfrm>
          <a:prstGeom prst="rect">
            <a:avLst/>
          </a:prstGeom>
          <a:solidFill>
            <a:srgbClr val="E50040"/>
          </a:solidFill>
          <a:ln>
            <a:noFill/>
          </a:ln>
        </p:spPr>
      </p:sp>
      <p:sp>
        <p:nvSpPr>
          <p:cNvPr id="5" name="title"/>
          <p:cNvSpPr txBox="1"/>
          <p:nvPr/>
        </p:nvSpPr>
        <p:spPr>
          <a:xfrm>
            <a:off x="762000" y="3022600"/>
            <a:ext cx="8128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4200" b="1">
                <a:solidFill>
                  <a:srgbClr val="000000"/>
                </a:solidFill>
                <a:latin typeface="MiSans"/>
                <a:ea typeface="MiSans"/>
              </a:rPr>
              <a:t>Калькулятор снеготаяния</a:t>
            </a:r>
            <a:endParaRPr lang="en-US" sz="4200"/>
          </a:p>
        </p:txBody>
      </p:sp>
      <p:sp>
        <p:nvSpPr>
          <p:cNvPr id="6" name="subtitle"/>
          <p:cNvSpPr txBox="1"/>
          <p:nvPr/>
        </p:nvSpPr>
        <p:spPr>
          <a:xfrm>
            <a:off x="762000" y="3911600"/>
            <a:ext cx="7112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0000"/>
              </a:lnSpc>
            </a:pPr>
            <a:r>
              <a:rPr lang="en-US" sz="1700">
                <a:solidFill>
                  <a:srgbClr val="4E4E4E"/>
                </a:solidFill>
                <a:latin typeface="MiSans"/>
                <a:ea typeface="MiSans"/>
              </a:rPr>
              <a:t>Тепловой и гидравлический расчёт систем антиобледенения открытых площадок — по нормативам, с продукцией РЕХАУ</a:t>
            </a:r>
            <a:endParaRPr lang="en-US" sz="1700"/>
          </a:p>
        </p:txBody>
      </p:sp>
      <p:pic>
        <p:nvPicPr>
          <p:cNvPr id="7" name="squares-br"/>
          <p:cNvPicPr/>
          <p:nvPr/>
        </p:nvPicPr>
        <p:blipFill>
          <a:blip r:embed="rId4"/>
          <a:srcRect l="-36" r="-36"/>
          <a:stretch>
            <a:fillRect/>
          </a:stretch>
        </p:blipFill>
        <p:spPr>
          <a:xfrm>
            <a:off x="10871200" y="5080000"/>
            <a:ext cx="711200" cy="1168400"/>
          </a:xfrm>
          <a:prstGeom prst="rect">
            <a:avLst/>
          </a:prstGeom>
          <a:ln>
            <a:noFill/>
          </a:ln>
        </p:spPr>
      </p:pic>
      <p:sp>
        <p:nvSpPr>
          <p:cNvPr id="8" name="slogan"/>
          <p:cNvSpPr txBox="1"/>
          <p:nvPr/>
        </p:nvSpPr>
        <p:spPr>
          <a:xfrm>
            <a:off x="762000" y="60706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00">
                <a:solidFill>
                  <a:srgbClr val="818181"/>
                </a:solidFill>
                <a:latin typeface="MiSans"/>
                <a:ea typeface="MiSans"/>
              </a:rPr>
              <a:t>Решения для дома и бизнеса</a:t>
            </a:r>
            <a:endParaRPr lang="en-US" sz="1300"/>
          </a:p>
        </p:txBody>
      </p:sp>
      <p:sp>
        <p:nvSpPr>
          <p:cNvPr id="9" name="meta"/>
          <p:cNvSpPr txBox="1"/>
          <p:nvPr/>
        </p:nvSpPr>
        <p:spPr>
          <a:xfrm>
            <a:off x="5842000" y="6070600"/>
            <a:ext cx="5588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200">
                <a:solidFill>
                  <a:srgbClr val="B0B0B0"/>
                </a:solidFill>
                <a:latin typeface="MiSans"/>
                <a:ea typeface="MiSans"/>
              </a:rPr>
              <a:t>Техническая презентация · кейс «Екатеринбург» · v1.0 · 2026</a:t>
            </a:r>
            <a:endParaRPr lang="en-US" sz="1200"/>
          </a:p>
        </p:txBody>
      </p:sp>
    </p:spTree>
  </p:cSld>
  <p:clrMapOvr>
    <a:masterClrMapping/>
  </p:clrMapOvr>
  <p:transition spd="fast" advClick="1">
    <p:checker dir="horz"/>
  </p:transition>
</p:sld>
</file>

<file path=ppt/slides/slide2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attern-right"/>
          <p:cNvPicPr/>
          <p:nvPr/>
        </p:nvPicPr>
        <p:blipFill>
          <a:blip r:embed="rId2"/>
          <a:srcRect l="29799" r="29799"/>
          <a:stretch>
            <a:fillRect/>
          </a:stretch>
        </p:blipFill>
        <p:spPr>
          <a:xfrm>
            <a:off x="7874000" y="0"/>
            <a:ext cx="4318000" cy="6858000"/>
          </a:xfrm>
          <a:prstGeom prst="rect">
            <a:avLst/>
          </a:prstGeom>
          <a:ln>
            <a:noFill/>
          </a:ln>
        </p:spPr>
      </p:pic>
      <p:pic>
        <p:nvPicPr>
          <p:cNvPr id="3" name="logo"/>
          <p:cNvPicPr/>
          <p:nvPr/>
        </p:nvPicPr>
        <p:blipFill>
          <a:blip r:embed="rId3"/>
          <a:srcRect l="-286" r="-286"/>
          <a:stretch>
            <a:fillRect/>
          </a:stretch>
        </p:blipFill>
        <p:spPr>
          <a:xfrm>
            <a:off x="762000" y="609600"/>
            <a:ext cx="1524000" cy="800100"/>
          </a:xfrm>
          <a:prstGeom prst="rect">
            <a:avLst/>
          </a:prstGeom>
          <a:ln>
            <a:noFill/>
          </a:ln>
        </p:spPr>
      </p:pic>
      <p:sp>
        <p:nvSpPr>
          <p:cNvPr id="4" name="chapter-num"/>
          <p:cNvSpPr txBox="1"/>
          <p:nvPr/>
        </p:nvSpPr>
        <p:spPr>
          <a:xfrm>
            <a:off x="762000" y="2413000"/>
            <a:ext cx="25400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800" b="1">
                <a:solidFill>
                  <a:srgbClr val="E50040"/>
                </a:solidFill>
                <a:latin typeface="MiSans"/>
                <a:ea typeface="MiSans"/>
              </a:rPr>
              <a:t>01</a:t>
            </a:r>
            <a:endParaRPr lang="en-US" sz="8800"/>
          </a:p>
        </p:txBody>
      </p:sp>
      <p:sp>
        <p:nvSpPr>
          <p:cNvPr id="5" name="accent-bar"/>
          <p:cNvSpPr/>
          <p:nvPr/>
        </p:nvSpPr>
        <p:spPr>
          <a:xfrm>
            <a:off x="787400" y="3810000"/>
            <a:ext cx="584200" cy="76200"/>
          </a:xfrm>
          <a:prstGeom prst="rect">
            <a:avLst/>
          </a:prstGeom>
          <a:solidFill>
            <a:srgbClr val="4FC7B5"/>
          </a:solidFill>
          <a:ln>
            <a:noFill/>
          </a:ln>
        </p:spPr>
      </p:sp>
      <p:sp>
        <p:nvSpPr>
          <p:cNvPr id="6" name="chapter-title"/>
          <p:cNvSpPr txBox="1"/>
          <p:nvPr/>
        </p:nvSpPr>
        <p:spPr>
          <a:xfrm>
            <a:off x="762000" y="4064000"/>
            <a:ext cx="6604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3800" b="1">
                <a:solidFill>
                  <a:srgbClr val="FFFFFF"/>
                </a:solidFill>
                <a:latin typeface="MiSans"/>
                <a:ea typeface="MiSans"/>
              </a:rPr>
              <a:t>Основа расчётов</a:t>
            </a:r>
            <a:endParaRPr lang="en-US" sz="3800"/>
          </a:p>
        </p:txBody>
      </p:sp>
      <p:sp>
        <p:nvSpPr>
          <p:cNvPr id="7" name="chapter-sub"/>
          <p:cNvSpPr txBox="1"/>
          <p:nvPr/>
        </p:nvSpPr>
        <p:spPr>
          <a:xfrm>
            <a:off x="762000" y="4927600"/>
            <a:ext cx="6096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rgbClr val="B0B0B0"/>
                </a:solidFill>
                <a:latin typeface="MiSans"/>
                <a:ea typeface="MiSans"/>
              </a:rPr>
              <a:t>Нормативная база и логика из пяти шагов</a:t>
            </a:r>
            <a:endParaRPr lang="en-US" sz="1500"/>
          </a:p>
        </p:txBody>
      </p:sp>
      <p:sp>
        <p:nvSpPr>
          <p:cNvPr id="8" name="page-num"/>
          <p:cNvSpPr txBox="1"/>
          <p:nvPr/>
        </p:nvSpPr>
        <p:spPr>
          <a:xfrm>
            <a:off x="10922000" y="6324600"/>
            <a:ext cx="762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818181"/>
                </a:solidFill>
                <a:latin typeface="MiSans"/>
                <a:ea typeface="MiSans"/>
              </a:rPr>
              <a:t>02</a:t>
            </a:r>
            <a:endParaRPr lang="en-US" sz="1100"/>
          </a:p>
        </p:txBody>
      </p:sp>
    </p:spTree>
  </p:cSld>
  <p:clrMapOvr>
    <a:masterClrMapping/>
  </p:clrMapOvr>
  <p:transition spd="fast" advClick="1">
    <p:checker dir="horz"/>
  </p:transition>
</p:sld>
</file>

<file path=ppt/slides/slide3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 txBox="1"/>
          <p:nvPr/>
        </p:nvSpPr>
        <p:spPr>
          <a:xfrm>
            <a:off x="762000" y="5080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b="1" spc="200" kern="0">
                <a:solidFill>
                  <a:srgbClr val="E50040"/>
                </a:solidFill>
                <a:latin typeface="MiSans"/>
                <a:ea typeface="MiSans"/>
              </a:rPr>
              <a:t>ОСНОВА РАСЧЁТОВ</a:t>
            </a:r>
            <a:endParaRPr lang="en-US" sz="1200"/>
          </a:p>
        </p:txBody>
      </p:sp>
      <p:sp>
        <p:nvSpPr>
          <p:cNvPr id="3" name="title"/>
          <p:cNvSpPr txBox="1"/>
          <p:nvPr/>
        </p:nvSpPr>
        <p:spPr>
          <a:xfrm>
            <a:off x="762000" y="762000"/>
            <a:ext cx="8890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3000" b="1">
                <a:solidFill>
                  <a:srgbClr val="000000"/>
                </a:solidFill>
                <a:latin typeface="MiSans"/>
                <a:ea typeface="MiSans"/>
              </a:rPr>
              <a:t>Методика — только на нормативах</a:t>
            </a:r>
            <a:endParaRPr lang="en-US" sz="3000"/>
          </a:p>
        </p:txBody>
      </p:sp>
      <p:sp>
        <p:nvSpPr>
          <p:cNvPr id="4" name="title-bar"/>
          <p:cNvSpPr/>
          <p:nvPr/>
        </p:nvSpPr>
        <p:spPr>
          <a:xfrm>
            <a:off x="787400" y="1422400"/>
            <a:ext cx="584200" cy="63500"/>
          </a:xfrm>
          <a:prstGeom prst="rect">
            <a:avLst/>
          </a:prstGeom>
          <a:solidFill>
            <a:srgbClr val="E50040"/>
          </a:solidFill>
          <a:ln>
            <a:noFill/>
          </a:ln>
        </p:spPr>
      </p:sp>
      <p:sp>
        <p:nvSpPr>
          <p:cNvPr id="5" name="card-1"/>
          <p:cNvSpPr/>
          <p:nvPr/>
        </p:nvSpPr>
        <p:spPr>
          <a:xfrm>
            <a:off x="762000" y="1905000"/>
            <a:ext cx="5334000" cy="1778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 w="12700">
            <a:solidFill>
              <a:srgbClr val="D9D9D9"/>
            </a:solidFill>
          </a:ln>
        </p:spPr>
      </p:sp>
      <p:sp>
        <p:nvSpPr>
          <p:cNvPr id="6" name="card-1-name"/>
          <p:cNvSpPr txBox="1"/>
          <p:nvPr/>
        </p:nvSpPr>
        <p:spPr>
          <a:xfrm>
            <a:off x="1041400" y="2108200"/>
            <a:ext cx="4826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700" b="1">
                <a:solidFill>
                  <a:srgbClr val="000000"/>
                </a:solidFill>
                <a:latin typeface="MiSans"/>
                <a:ea typeface="MiSans"/>
              </a:rPr>
              <a:t>СП 131.13330.2025</a:t>
            </a:r>
            <a:endParaRPr lang="en-US" sz="1700"/>
          </a:p>
        </p:txBody>
      </p:sp>
      <p:sp>
        <p:nvSpPr>
          <p:cNvPr id="7" name="card-1-desc"/>
          <p:cNvSpPr txBox="1"/>
          <p:nvPr/>
        </p:nvSpPr>
        <p:spPr>
          <a:xfrm>
            <a:off x="1041400" y="2540000"/>
            <a:ext cx="4775200" cy="939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300">
                <a:solidFill>
                  <a:srgbClr val="4E4E4E"/>
                </a:solidFill>
                <a:latin typeface="MiSans"/>
                <a:ea typeface="MiSans"/>
              </a:rPr>
              <a:t>«Строительная климатология»: t холодной пятидневки, ветер, влажность, снеговая нагрузка — база </a:t>
            </a:r>
            <a:r>
              <a:rPr lang="en-US" sz="1300" b="1">
                <a:solidFill>
                  <a:srgbClr val="4E4E4E"/>
                </a:solidFill>
                <a:latin typeface="MiSans"/>
                <a:ea typeface="MiSans"/>
              </a:rPr>
              <a:t>550 городов РФ</a:t>
            </a:r>
            <a:r>
              <a:rPr lang="en-US" sz="1300">
                <a:solidFill>
                  <a:srgbClr val="4E4E4E"/>
                </a:solidFill>
                <a:latin typeface="MiSans"/>
                <a:ea typeface="MiSans"/>
              </a:rPr>
              <a:t> внутри программы</a:t>
            </a:r>
            <a:endParaRPr lang="en-US" sz="1300"/>
          </a:p>
        </p:txBody>
      </p:sp>
      <p:sp>
        <p:nvSpPr>
          <p:cNvPr id="8" name="card-2"/>
          <p:cNvSpPr/>
          <p:nvPr/>
        </p:nvSpPr>
        <p:spPr>
          <a:xfrm>
            <a:off x="6350000" y="1905000"/>
            <a:ext cx="5334000" cy="1778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 w="12700">
            <a:solidFill>
              <a:srgbClr val="D9D9D9"/>
            </a:solidFill>
          </a:ln>
        </p:spPr>
      </p:sp>
      <p:sp>
        <p:nvSpPr>
          <p:cNvPr id="9" name="card-2-name"/>
          <p:cNvSpPr txBox="1"/>
          <p:nvPr/>
        </p:nvSpPr>
        <p:spPr>
          <a:xfrm>
            <a:off x="6629400" y="2108200"/>
            <a:ext cx="4826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700" b="1">
                <a:solidFill>
                  <a:srgbClr val="000000"/>
                </a:solidFill>
                <a:latin typeface="MiSans"/>
                <a:ea typeface="MiSans"/>
              </a:rPr>
              <a:t>VDI 2075</a:t>
            </a:r>
            <a:endParaRPr lang="en-US" sz="1700"/>
          </a:p>
        </p:txBody>
      </p:sp>
      <p:sp>
        <p:nvSpPr>
          <p:cNvPr id="10" name="card-2-desc"/>
          <p:cNvSpPr txBox="1"/>
          <p:nvPr/>
        </p:nvSpPr>
        <p:spPr>
          <a:xfrm>
            <a:off x="6629400" y="2540000"/>
            <a:ext cx="4775200" cy="939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300">
                <a:solidFill>
                  <a:srgbClr val="4E4E4E"/>
                </a:solidFill>
                <a:latin typeface="MiSans"/>
                <a:ea typeface="MiSans"/>
              </a:rPr>
              <a:t>Гидравлическая балансировка контуров: увязка потерь давления дросселированием на коллекторах</a:t>
            </a:r>
            <a:endParaRPr lang="en-US" sz="1300"/>
          </a:p>
        </p:txBody>
      </p:sp>
      <p:sp>
        <p:nvSpPr>
          <p:cNvPr id="11" name="card-3"/>
          <p:cNvSpPr/>
          <p:nvPr/>
        </p:nvSpPr>
        <p:spPr>
          <a:xfrm>
            <a:off x="762000" y="3937000"/>
            <a:ext cx="5334000" cy="1778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 w="12700">
            <a:solidFill>
              <a:srgbClr val="D9D9D9"/>
            </a:solidFill>
          </a:ln>
        </p:spPr>
      </p:sp>
      <p:sp>
        <p:nvSpPr>
          <p:cNvPr id="12" name="card-3-name"/>
          <p:cNvSpPr txBox="1"/>
          <p:nvPr/>
        </p:nvSpPr>
        <p:spPr>
          <a:xfrm>
            <a:off x="1041400" y="4140200"/>
            <a:ext cx="4826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700" b="1">
                <a:solidFill>
                  <a:srgbClr val="000000"/>
                </a:solidFill>
                <a:latin typeface="MiSans"/>
                <a:ea typeface="MiSans"/>
              </a:rPr>
              <a:t>DIN EN 60534</a:t>
            </a:r>
            <a:endParaRPr lang="en-US" sz="1700"/>
          </a:p>
        </p:txBody>
      </p:sp>
      <p:sp>
        <p:nvSpPr>
          <p:cNvPr id="13" name="card-3-desc"/>
          <p:cNvSpPr txBox="1"/>
          <p:nvPr/>
        </p:nvSpPr>
        <p:spPr>
          <a:xfrm>
            <a:off x="1041400" y="4572000"/>
            <a:ext cx="4775200" cy="939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300">
                <a:solidFill>
                  <a:srgbClr val="4E4E4E"/>
                </a:solidFill>
                <a:latin typeface="MiSans"/>
                <a:ea typeface="MiSans"/>
              </a:rPr>
              <a:t>Промышленные регулирующие клапаны: подбор по коэффициенту пропускной способности Kv</a:t>
            </a:r>
            <a:endParaRPr lang="en-US" sz="1300"/>
          </a:p>
        </p:txBody>
      </p:sp>
      <p:sp>
        <p:nvSpPr>
          <p:cNvPr id="14" name="card-4"/>
          <p:cNvSpPr/>
          <p:nvPr/>
        </p:nvSpPr>
        <p:spPr>
          <a:xfrm>
            <a:off x="6350000" y="3937000"/>
            <a:ext cx="5334000" cy="1778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 w="12700">
            <a:solidFill>
              <a:srgbClr val="D9D9D9"/>
            </a:solidFill>
          </a:ln>
        </p:spPr>
      </p:sp>
      <p:sp>
        <p:nvSpPr>
          <p:cNvPr id="15" name="card-4-name"/>
          <p:cNvSpPr txBox="1"/>
          <p:nvPr/>
        </p:nvSpPr>
        <p:spPr>
          <a:xfrm>
            <a:off x="6629400" y="4140200"/>
            <a:ext cx="4826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700" b="1">
                <a:solidFill>
                  <a:srgbClr val="000000"/>
                </a:solidFill>
                <a:latin typeface="MiSans"/>
                <a:ea typeface="MiSans"/>
              </a:rPr>
              <a:t>ASHRAE Handbook</a:t>
            </a:r>
            <a:endParaRPr lang="en-US" sz="1700"/>
          </a:p>
        </p:txBody>
      </p:sp>
      <p:sp>
        <p:nvSpPr>
          <p:cNvPr id="16" name="card-4-desc"/>
          <p:cNvSpPr txBox="1"/>
          <p:nvPr/>
        </p:nvSpPr>
        <p:spPr>
          <a:xfrm>
            <a:off x="6629400" y="4572000"/>
            <a:ext cx="4775200" cy="939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300">
                <a:solidFill>
                  <a:srgbClr val="4E4E4E"/>
                </a:solidFill>
                <a:latin typeface="MiSans"/>
                <a:ea typeface="MiSans"/>
              </a:rPr>
              <a:t>Теплофизика теплоносителей: плотность, вязкость, теплоёмкость растворов этилен- и пропиленгликоля 10–90 %</a:t>
            </a:r>
            <a:endParaRPr lang="en-US" sz="1300"/>
          </a:p>
        </p:txBody>
      </p:sp>
      <p:sp>
        <p:nvSpPr>
          <p:cNvPr id="17" name="note"/>
          <p:cNvSpPr txBox="1"/>
          <p:nvPr/>
        </p:nvSpPr>
        <p:spPr>
          <a:xfrm>
            <a:off x="762000" y="5969000"/>
            <a:ext cx="10922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00">
                <a:solidFill>
                  <a:srgbClr val="818181"/>
                </a:solidFill>
                <a:latin typeface="MiSans"/>
                <a:ea typeface="MiSans"/>
              </a:rPr>
              <a:t>Единая методика для всех проектировщиков — расчёт воспроизводим и проверяем по первоисточникам</a:t>
            </a:r>
            <a:endParaRPr lang="en-US" sz="1300"/>
          </a:p>
        </p:txBody>
      </p:sp>
      <p:pic>
        <p:nvPicPr>
          <p:cNvPr id="18" name="footer-logo"/>
          <p:cNvPicPr/>
          <p:nvPr/>
        </p:nvPicPr>
        <p:blipFill>
          <a:blip r:embed="rId2"/>
          <a:srcRect t="-84" b="-84"/>
          <a:stretch>
            <a:fillRect/>
          </a:stretch>
        </p:blipFill>
        <p:spPr>
          <a:xfrm>
            <a:off x="11074400" y="6350000"/>
            <a:ext cx="304800" cy="317500"/>
          </a:xfrm>
          <a:prstGeom prst="rect">
            <a:avLst/>
          </a:prstGeom>
          <a:ln>
            <a:noFill/>
          </a:ln>
        </p:spPr>
      </p:pic>
      <p:sp>
        <p:nvSpPr>
          <p:cNvPr id="19" name="page-num"/>
          <p:cNvSpPr txBox="1"/>
          <p:nvPr/>
        </p:nvSpPr>
        <p:spPr>
          <a:xfrm>
            <a:off x="11430000" y="6375400"/>
            <a:ext cx="304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818181"/>
                </a:solidFill>
                <a:latin typeface="MiSans"/>
                <a:ea typeface="MiSans"/>
              </a:rPr>
              <a:t>03</a:t>
            </a:r>
            <a:endParaRPr lang="en-US" sz="1100"/>
          </a:p>
        </p:txBody>
      </p:sp>
    </p:spTree>
  </p:cSld>
  <p:clrMapOvr>
    <a:masterClrMapping/>
  </p:clrMapOvr>
  <p:transition spd="fast" advClick="1">
    <p:checker dir="horz"/>
  </p:transition>
</p:sld>
</file>

<file path=ppt/slides/slide4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 txBox="1"/>
          <p:nvPr/>
        </p:nvSpPr>
        <p:spPr>
          <a:xfrm>
            <a:off x="762000" y="5080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b="1" spc="200" kern="0">
                <a:solidFill>
                  <a:srgbClr val="E50040"/>
                </a:solidFill>
                <a:latin typeface="MiSans"/>
                <a:ea typeface="MiSans"/>
              </a:rPr>
              <a:t>ЛОГИКА РАСЧЁТА</a:t>
            </a:r>
            <a:endParaRPr lang="en-US" sz="1200"/>
          </a:p>
        </p:txBody>
      </p:sp>
      <p:sp>
        <p:nvSpPr>
          <p:cNvPr id="3" name="title"/>
          <p:cNvSpPr txBox="1"/>
          <p:nvPr/>
        </p:nvSpPr>
        <p:spPr>
          <a:xfrm>
            <a:off x="762000" y="762000"/>
            <a:ext cx="8890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3000" b="1">
                <a:solidFill>
                  <a:srgbClr val="000000"/>
                </a:solidFill>
                <a:latin typeface="MiSans"/>
                <a:ea typeface="MiSans"/>
              </a:rPr>
              <a:t>Пять шагов — от климата до спецификации</a:t>
            </a:r>
            <a:endParaRPr lang="en-US" sz="3000"/>
          </a:p>
        </p:txBody>
      </p:sp>
      <p:sp>
        <p:nvSpPr>
          <p:cNvPr id="4" name="title-bar"/>
          <p:cNvSpPr/>
          <p:nvPr/>
        </p:nvSpPr>
        <p:spPr>
          <a:xfrm>
            <a:off x="787400" y="1422400"/>
            <a:ext cx="584200" cy="63500"/>
          </a:xfrm>
          <a:prstGeom prst="rect">
            <a:avLst/>
          </a:prstGeom>
          <a:solidFill>
            <a:srgbClr val="E50040"/>
          </a:solidFill>
          <a:ln>
            <a:noFill/>
          </a:ln>
        </p:spPr>
      </p:sp>
      <p:sp>
        <p:nvSpPr>
          <p:cNvPr id="5" name="chev-1"/>
          <p:cNvSpPr/>
          <p:nvPr/>
        </p:nvSpPr>
        <p:spPr>
          <a:xfrm>
            <a:off x="762000" y="2032000"/>
            <a:ext cx="2082800" cy="914400"/>
          </a:xfrm>
          <a:prstGeom prst="homePlate">
            <a:avLst/>
          </a:prstGeom>
          <a:solidFill>
            <a:srgbClr val="E50040"/>
          </a:solidFill>
          <a:ln>
            <a:noFill/>
          </a:ln>
        </p:spPr>
      </p:sp>
      <p:sp>
        <p:nvSpPr>
          <p:cNvPr id="6" name="chev-1-num"/>
          <p:cNvSpPr txBox="1"/>
          <p:nvPr/>
        </p:nvSpPr>
        <p:spPr>
          <a:xfrm>
            <a:off x="914400" y="2133600"/>
            <a:ext cx="1778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600" b="1">
                <a:solidFill>
                  <a:srgbClr val="FFFFFF"/>
                </a:solidFill>
                <a:latin typeface="MiSans"/>
                <a:ea typeface="MiSans"/>
              </a:rPr>
              <a:t>01</a:t>
            </a:r>
            <a:endParaRPr lang="en-US" sz="1600"/>
          </a:p>
        </p:txBody>
      </p:sp>
      <p:sp>
        <p:nvSpPr>
          <p:cNvPr id="7" name="chev-1-name"/>
          <p:cNvSpPr txBox="1"/>
          <p:nvPr/>
        </p:nvSpPr>
        <p:spPr>
          <a:xfrm>
            <a:off x="914400" y="2438400"/>
            <a:ext cx="1778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400" b="1">
                <a:solidFill>
                  <a:srgbClr val="FFFFFF"/>
                </a:solidFill>
                <a:latin typeface="MiSans"/>
                <a:ea typeface="MiSans"/>
              </a:rPr>
              <a:t>Климат</a:t>
            </a:r>
            <a:endParaRPr lang="en-US" sz="1400"/>
          </a:p>
        </p:txBody>
      </p:sp>
      <p:sp>
        <p:nvSpPr>
          <p:cNvPr id="8" name="chev-2"/>
          <p:cNvSpPr/>
          <p:nvPr/>
        </p:nvSpPr>
        <p:spPr>
          <a:xfrm>
            <a:off x="2908300" y="2032000"/>
            <a:ext cx="2082800" cy="914400"/>
          </a:xfrm>
          <a:prstGeom prst="homePlate">
            <a:avLst/>
          </a:prstGeom>
          <a:solidFill>
            <a:srgbClr val="F5F5F5"/>
          </a:solidFill>
          <a:ln w="12700">
            <a:solidFill>
              <a:srgbClr val="D9D9D9"/>
            </a:solidFill>
          </a:ln>
        </p:spPr>
      </p:sp>
      <p:sp>
        <p:nvSpPr>
          <p:cNvPr id="9" name="chev-2-num"/>
          <p:cNvSpPr txBox="1"/>
          <p:nvPr/>
        </p:nvSpPr>
        <p:spPr>
          <a:xfrm>
            <a:off x="3111500" y="2133600"/>
            <a:ext cx="1778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600" b="1">
                <a:solidFill>
                  <a:srgbClr val="E50040"/>
                </a:solidFill>
                <a:latin typeface="MiSans"/>
                <a:ea typeface="MiSans"/>
              </a:rPr>
              <a:t>02</a:t>
            </a:r>
            <a:endParaRPr lang="en-US" sz="1600"/>
          </a:p>
        </p:txBody>
      </p:sp>
      <p:sp>
        <p:nvSpPr>
          <p:cNvPr id="10" name="chev-2-name"/>
          <p:cNvSpPr txBox="1"/>
          <p:nvPr/>
        </p:nvSpPr>
        <p:spPr>
          <a:xfrm>
            <a:off x="3111500" y="2438400"/>
            <a:ext cx="1778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400" b="1">
                <a:solidFill>
                  <a:srgbClr val="000000"/>
                </a:solidFill>
                <a:latin typeface="MiSans"/>
                <a:ea typeface="MiSans"/>
              </a:rPr>
              <a:t>Конструкция</a:t>
            </a:r>
            <a:endParaRPr lang="en-US" sz="1400"/>
          </a:p>
        </p:txBody>
      </p:sp>
      <p:sp>
        <p:nvSpPr>
          <p:cNvPr id="11" name="chev-3"/>
          <p:cNvSpPr/>
          <p:nvPr/>
        </p:nvSpPr>
        <p:spPr>
          <a:xfrm>
            <a:off x="5054600" y="2032000"/>
            <a:ext cx="2082800" cy="914400"/>
          </a:xfrm>
          <a:prstGeom prst="homePlate">
            <a:avLst/>
          </a:prstGeom>
          <a:solidFill>
            <a:srgbClr val="F5F5F5"/>
          </a:solidFill>
          <a:ln w="12700">
            <a:solidFill>
              <a:srgbClr val="D9D9D9"/>
            </a:solidFill>
          </a:ln>
        </p:spPr>
      </p:sp>
      <p:sp>
        <p:nvSpPr>
          <p:cNvPr id="12" name="chev-3-num"/>
          <p:cNvSpPr txBox="1"/>
          <p:nvPr/>
        </p:nvSpPr>
        <p:spPr>
          <a:xfrm>
            <a:off x="5257800" y="2133600"/>
            <a:ext cx="1778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600" b="1">
                <a:solidFill>
                  <a:srgbClr val="E50040"/>
                </a:solidFill>
                <a:latin typeface="MiSans"/>
                <a:ea typeface="MiSans"/>
              </a:rPr>
              <a:t>03</a:t>
            </a:r>
            <a:endParaRPr lang="en-US" sz="1600"/>
          </a:p>
        </p:txBody>
      </p:sp>
      <p:sp>
        <p:nvSpPr>
          <p:cNvPr id="13" name="chev-3-name"/>
          <p:cNvSpPr txBox="1"/>
          <p:nvPr/>
        </p:nvSpPr>
        <p:spPr>
          <a:xfrm>
            <a:off x="5257800" y="2438400"/>
            <a:ext cx="1778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400" b="1">
                <a:solidFill>
                  <a:srgbClr val="000000"/>
                </a:solidFill>
                <a:latin typeface="MiSans"/>
                <a:ea typeface="MiSans"/>
              </a:rPr>
              <a:t>Тепловой</a:t>
            </a:r>
            <a:endParaRPr lang="en-US" sz="1400"/>
          </a:p>
        </p:txBody>
      </p:sp>
      <p:sp>
        <p:nvSpPr>
          <p:cNvPr id="14" name="chev-4"/>
          <p:cNvSpPr/>
          <p:nvPr/>
        </p:nvSpPr>
        <p:spPr>
          <a:xfrm>
            <a:off x="7200900" y="2032000"/>
            <a:ext cx="2082800" cy="914400"/>
          </a:xfrm>
          <a:prstGeom prst="homePlate">
            <a:avLst/>
          </a:prstGeom>
          <a:solidFill>
            <a:srgbClr val="F5F5F5"/>
          </a:solidFill>
          <a:ln w="12700">
            <a:solidFill>
              <a:srgbClr val="D9D9D9"/>
            </a:solidFill>
          </a:ln>
        </p:spPr>
      </p:sp>
      <p:sp>
        <p:nvSpPr>
          <p:cNvPr id="15" name="chev-4-num"/>
          <p:cNvSpPr txBox="1"/>
          <p:nvPr/>
        </p:nvSpPr>
        <p:spPr>
          <a:xfrm>
            <a:off x="7404100" y="2133600"/>
            <a:ext cx="1778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600" b="1">
                <a:solidFill>
                  <a:srgbClr val="E50040"/>
                </a:solidFill>
                <a:latin typeface="MiSans"/>
                <a:ea typeface="MiSans"/>
              </a:rPr>
              <a:t>04</a:t>
            </a:r>
            <a:endParaRPr lang="en-US" sz="1600"/>
          </a:p>
        </p:txBody>
      </p:sp>
      <p:sp>
        <p:nvSpPr>
          <p:cNvPr id="16" name="chev-4-name"/>
          <p:cNvSpPr txBox="1"/>
          <p:nvPr/>
        </p:nvSpPr>
        <p:spPr>
          <a:xfrm>
            <a:off x="7404100" y="2438400"/>
            <a:ext cx="1778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400" b="1">
                <a:solidFill>
                  <a:srgbClr val="000000"/>
                </a:solidFill>
                <a:latin typeface="MiSans"/>
                <a:ea typeface="MiSans"/>
              </a:rPr>
              <a:t>Гидравлика</a:t>
            </a:r>
            <a:endParaRPr lang="en-US" sz="1400"/>
          </a:p>
        </p:txBody>
      </p:sp>
      <p:sp>
        <p:nvSpPr>
          <p:cNvPr id="17" name="chev-5"/>
          <p:cNvSpPr/>
          <p:nvPr/>
        </p:nvSpPr>
        <p:spPr>
          <a:xfrm>
            <a:off x="9347200" y="2032000"/>
            <a:ext cx="2082800" cy="914400"/>
          </a:xfrm>
          <a:prstGeom prst="homePlate">
            <a:avLst/>
          </a:prstGeom>
          <a:solidFill>
            <a:srgbClr val="4FC7B5"/>
          </a:solidFill>
          <a:ln>
            <a:noFill/>
          </a:ln>
        </p:spPr>
      </p:sp>
      <p:sp>
        <p:nvSpPr>
          <p:cNvPr id="18" name="chev-5-num"/>
          <p:cNvSpPr txBox="1"/>
          <p:nvPr/>
        </p:nvSpPr>
        <p:spPr>
          <a:xfrm>
            <a:off x="9550400" y="2133600"/>
            <a:ext cx="1778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600" b="1">
                <a:solidFill>
                  <a:srgbClr val="000000"/>
                </a:solidFill>
                <a:latin typeface="MiSans"/>
                <a:ea typeface="MiSans"/>
              </a:rPr>
              <a:t>05</a:t>
            </a:r>
            <a:endParaRPr lang="en-US" sz="1600"/>
          </a:p>
        </p:txBody>
      </p:sp>
      <p:sp>
        <p:nvSpPr>
          <p:cNvPr id="19" name="chev-5-name"/>
          <p:cNvSpPr txBox="1"/>
          <p:nvPr/>
        </p:nvSpPr>
        <p:spPr>
          <a:xfrm>
            <a:off x="9550400" y="2438400"/>
            <a:ext cx="1778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400" b="1">
                <a:solidFill>
                  <a:srgbClr val="000000"/>
                </a:solidFill>
                <a:latin typeface="MiSans"/>
                <a:ea typeface="MiSans"/>
              </a:rPr>
              <a:t>Результаты</a:t>
            </a:r>
            <a:endParaRPr lang="en-US" sz="1400"/>
          </a:p>
        </p:txBody>
      </p:sp>
      <p:sp>
        <p:nvSpPr>
          <p:cNvPr id="20" name="d-1"/>
          <p:cNvSpPr txBox="1"/>
          <p:nvPr/>
        </p:nvSpPr>
        <p:spPr>
          <a:xfrm>
            <a:off x="762000" y="3200400"/>
            <a:ext cx="20320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</a:pPr>
            <a:r>
              <a:rPr lang="en-US" sz="1200">
                <a:solidFill>
                  <a:srgbClr val="4E4E4E"/>
                </a:solidFill>
                <a:latin typeface="MiSans"/>
                <a:ea typeface="MiSans"/>
              </a:rPr>
              <a:t>Город из базы 550 городов РФ — параметры СП подставляются автоматически</a:t>
            </a:r>
            <a:endParaRPr lang="en-US" sz="1200"/>
          </a:p>
        </p:txBody>
      </p:sp>
      <p:sp>
        <p:nvSpPr>
          <p:cNvPr id="21" name="d-2"/>
          <p:cNvSpPr txBox="1"/>
          <p:nvPr/>
        </p:nvSpPr>
        <p:spPr>
          <a:xfrm>
            <a:off x="2908300" y="3200400"/>
            <a:ext cx="20320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</a:pPr>
            <a:r>
              <a:rPr lang="en-US" sz="1200">
                <a:solidFill>
                  <a:srgbClr val="4E4E4E"/>
                </a:solidFill>
                <a:latin typeface="MiSans"/>
                <a:ea typeface="MiSans"/>
              </a:rPr>
              <a:t>Слои «пирога» над и под трубой, термосопротивления R₁ и R₂</a:t>
            </a:r>
            <a:endParaRPr lang="en-US" sz="1200"/>
          </a:p>
        </p:txBody>
      </p:sp>
      <p:sp>
        <p:nvSpPr>
          <p:cNvPr id="22" name="d-3"/>
          <p:cNvSpPr txBox="1"/>
          <p:nvPr/>
        </p:nvSpPr>
        <p:spPr>
          <a:xfrm>
            <a:off x="5054600" y="3200400"/>
            <a:ext cx="20320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</a:pPr>
            <a:r>
              <a:rPr lang="en-US" sz="1200">
                <a:solidFill>
                  <a:srgbClr val="4E4E4E"/>
                </a:solidFill>
                <a:latin typeface="MiSans"/>
                <a:ea typeface="MiSans"/>
              </a:rPr>
              <a:t>Режим, труба и шаг укладки — удельная мощность, Вт/м²</a:t>
            </a:r>
            <a:endParaRPr lang="en-US" sz="1200"/>
          </a:p>
        </p:txBody>
      </p:sp>
      <p:sp>
        <p:nvSpPr>
          <p:cNvPr id="23" name="d-4"/>
          <p:cNvSpPr txBox="1"/>
          <p:nvPr/>
        </p:nvSpPr>
        <p:spPr>
          <a:xfrm>
            <a:off x="7200900" y="3200400"/>
            <a:ext cx="20320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</a:pPr>
            <a:r>
              <a:rPr lang="en-US" sz="1200">
                <a:solidFill>
                  <a:srgbClr val="4E4E4E"/>
                </a:solidFill>
                <a:latin typeface="MiSans"/>
                <a:ea typeface="MiSans"/>
              </a:rPr>
              <a:t>Контуры по коллекторам, потери давления, балансировка</a:t>
            </a:r>
            <a:endParaRPr lang="en-US" sz="1200"/>
          </a:p>
        </p:txBody>
      </p:sp>
      <p:sp>
        <p:nvSpPr>
          <p:cNvPr id="24" name="d-5"/>
          <p:cNvSpPr txBox="1"/>
          <p:nvPr/>
        </p:nvSpPr>
        <p:spPr>
          <a:xfrm>
            <a:off x="9347200" y="3200400"/>
            <a:ext cx="20320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</a:pPr>
            <a:r>
              <a:rPr lang="en-US" sz="1200">
                <a:solidFill>
                  <a:srgbClr val="4E4E4E"/>
                </a:solidFill>
                <a:latin typeface="MiSans"/>
                <a:ea typeface="MiSans"/>
              </a:rPr>
              <a:t>КПИ, ведомость оборудования, выгрузка отчёта в PDF</a:t>
            </a:r>
            <a:endParaRPr lang="en-US" sz="1200"/>
          </a:p>
        </p:txBody>
      </p:sp>
      <p:sp>
        <p:nvSpPr>
          <p:cNvPr id="25" name="badge-bar"/>
          <p:cNvSpPr/>
          <p:nvPr/>
        </p:nvSpPr>
        <p:spPr>
          <a:xfrm>
            <a:off x="762000" y="4826000"/>
            <a:ext cx="10922000" cy="96520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D9D9D9"/>
            </a:solidFill>
          </a:ln>
        </p:spPr>
      </p:sp>
      <p:sp>
        <p:nvSpPr>
          <p:cNvPr id="26" name="badge-mark-1"/>
          <p:cNvSpPr/>
          <p:nvPr/>
        </p:nvSpPr>
        <p:spPr>
          <a:xfrm>
            <a:off x="1092200" y="5156200"/>
            <a:ext cx="177800" cy="177800"/>
          </a:xfrm>
          <a:prstGeom prst="roundRect">
            <a:avLst>
              <a:gd name="adj" fmla="val 30000"/>
            </a:avLst>
          </a:prstGeom>
          <a:solidFill>
            <a:srgbClr val="4FC7B5"/>
          </a:solidFill>
          <a:ln>
            <a:noFill/>
          </a:ln>
        </p:spPr>
      </p:sp>
      <p:sp>
        <p:nvSpPr>
          <p:cNvPr id="27" name="badge-text-1"/>
          <p:cNvSpPr txBox="1"/>
          <p:nvPr/>
        </p:nvSpPr>
        <p:spPr>
          <a:xfrm>
            <a:off x="1397000" y="5080000"/>
            <a:ext cx="4191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00">
                <a:solidFill>
                  <a:srgbClr val="4E4E4E"/>
                </a:solidFill>
                <a:latin typeface="MiSans"/>
                <a:ea typeface="MiSans"/>
              </a:rPr>
              <a:t>зелёный бейдж — данные актуальны</a:t>
            </a:r>
            <a:endParaRPr lang="en-US" sz="1300"/>
          </a:p>
        </p:txBody>
      </p:sp>
      <p:sp>
        <p:nvSpPr>
          <p:cNvPr id="28" name="badge-mark-2"/>
          <p:cNvSpPr/>
          <p:nvPr/>
        </p:nvSpPr>
        <p:spPr>
          <a:xfrm>
            <a:off x="6096000" y="5156200"/>
            <a:ext cx="177800" cy="177800"/>
          </a:xfrm>
          <a:prstGeom prst="roundRect">
            <a:avLst>
              <a:gd name="adj" fmla="val 30000"/>
            </a:avLst>
          </a:prstGeom>
          <a:solidFill>
            <a:srgbClr val="E50040"/>
          </a:solidFill>
          <a:ln>
            <a:noFill/>
          </a:ln>
        </p:spPr>
      </p:sp>
      <p:sp>
        <p:nvSpPr>
          <p:cNvPr id="29" name="badge-text-2"/>
          <p:cNvSpPr txBox="1"/>
          <p:nvPr/>
        </p:nvSpPr>
        <p:spPr>
          <a:xfrm>
            <a:off x="6400800" y="5080000"/>
            <a:ext cx="4826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00">
                <a:solidFill>
                  <a:srgbClr val="4E4E4E"/>
                </a:solidFill>
                <a:latin typeface="MiSans"/>
                <a:ea typeface="MiSans"/>
              </a:rPr>
              <a:t>красный бейдж — нужен пересчёт после изменений</a:t>
            </a:r>
            <a:endParaRPr lang="en-US" sz="1300"/>
          </a:p>
        </p:txBody>
      </p:sp>
      <p:sp>
        <p:nvSpPr>
          <p:cNvPr id="30" name="badge-caption"/>
          <p:cNvSpPr txBox="1"/>
          <p:nvPr/>
        </p:nvSpPr>
        <p:spPr>
          <a:xfrm>
            <a:off x="762000" y="5943600"/>
            <a:ext cx="10922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818181"/>
                </a:solidFill>
                <a:latin typeface="MiSans"/>
                <a:ea typeface="MiSans"/>
              </a:rPr>
              <a:t>Навигация между шагами свободная: программа сама следит за актуальностью данных на каждом шаге</a:t>
            </a:r>
            <a:endParaRPr lang="en-US" sz="1100"/>
          </a:p>
        </p:txBody>
      </p:sp>
      <p:pic>
        <p:nvPicPr>
          <p:cNvPr id="31" name="footer-logo"/>
          <p:cNvPicPr/>
          <p:nvPr/>
        </p:nvPicPr>
        <p:blipFill>
          <a:blip r:embed="rId2"/>
          <a:srcRect t="-84" b="-84"/>
          <a:stretch>
            <a:fillRect/>
          </a:stretch>
        </p:blipFill>
        <p:spPr>
          <a:xfrm>
            <a:off x="11074400" y="6350000"/>
            <a:ext cx="304800" cy="317500"/>
          </a:xfrm>
          <a:prstGeom prst="rect">
            <a:avLst/>
          </a:prstGeom>
          <a:ln>
            <a:noFill/>
          </a:ln>
        </p:spPr>
      </p:pic>
      <p:sp>
        <p:nvSpPr>
          <p:cNvPr id="32" name="page-num"/>
          <p:cNvSpPr txBox="1"/>
          <p:nvPr/>
        </p:nvSpPr>
        <p:spPr>
          <a:xfrm>
            <a:off x="11430000" y="6375400"/>
            <a:ext cx="304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818181"/>
                </a:solidFill>
                <a:latin typeface="MiSans"/>
                <a:ea typeface="MiSans"/>
              </a:rPr>
              <a:t>04</a:t>
            </a:r>
            <a:endParaRPr lang="en-US" sz="1100"/>
          </a:p>
        </p:txBody>
      </p:sp>
    </p:spTree>
  </p:cSld>
  <p:clrMapOvr>
    <a:masterClrMapping/>
  </p:clrMapOvr>
  <p:transition spd="fast" advClick="1">
    <p:checker dir="horz"/>
  </p:transition>
</p:sld>
</file>

<file path=ppt/slides/slide5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 txBox="1"/>
          <p:nvPr/>
        </p:nvSpPr>
        <p:spPr>
          <a:xfrm>
            <a:off x="762000" y="5080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b="1" spc="200" kern="0">
                <a:solidFill>
                  <a:srgbClr val="E50040"/>
                </a:solidFill>
                <a:latin typeface="MiSans"/>
                <a:ea typeface="MiSans"/>
              </a:rPr>
              <a:t>ШАГ 1 · КЛИМАТ</a:t>
            </a:r>
            <a:endParaRPr lang="en-US" sz="1200"/>
          </a:p>
        </p:txBody>
      </p:sp>
      <p:sp>
        <p:nvSpPr>
          <p:cNvPr id="3" name="title"/>
          <p:cNvSpPr txBox="1"/>
          <p:nvPr/>
        </p:nvSpPr>
        <p:spPr>
          <a:xfrm>
            <a:off x="762000" y="762000"/>
            <a:ext cx="8890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3000" b="1">
                <a:solidFill>
                  <a:srgbClr val="000000"/>
                </a:solidFill>
                <a:latin typeface="MiSans"/>
                <a:ea typeface="MiSans"/>
              </a:rPr>
              <a:t>Климат подставляется сам</a:t>
            </a:r>
            <a:endParaRPr lang="en-US" sz="3000"/>
          </a:p>
        </p:txBody>
      </p:sp>
      <p:sp>
        <p:nvSpPr>
          <p:cNvPr id="4" name="title-bar"/>
          <p:cNvSpPr/>
          <p:nvPr/>
        </p:nvSpPr>
        <p:spPr>
          <a:xfrm>
            <a:off x="787400" y="1422400"/>
            <a:ext cx="584200" cy="63500"/>
          </a:xfrm>
          <a:prstGeom prst="rect">
            <a:avLst/>
          </a:prstGeom>
          <a:solidFill>
            <a:srgbClr val="E50040"/>
          </a:solidFill>
          <a:ln>
            <a:noFill/>
          </a:ln>
        </p:spPr>
      </p:sp>
      <p:sp>
        <p:nvSpPr>
          <p:cNvPr id="5" name="bullet-mark-1"/>
          <p:cNvSpPr/>
          <p:nvPr/>
        </p:nvSpPr>
        <p:spPr>
          <a:xfrm>
            <a:off x="787400" y="1879600"/>
            <a:ext cx="114300" cy="114300"/>
          </a:xfrm>
          <a:prstGeom prst="rect">
            <a:avLst/>
          </a:prstGeom>
          <a:solidFill>
            <a:srgbClr val="E50040"/>
          </a:solidFill>
          <a:ln>
            <a:noFill/>
          </a:ln>
        </p:spPr>
      </p:sp>
      <p:sp>
        <p:nvSpPr>
          <p:cNvPr id="6" name="bullet-1"/>
          <p:cNvSpPr txBox="1"/>
          <p:nvPr/>
        </p:nvSpPr>
        <p:spPr>
          <a:xfrm>
            <a:off x="1066800" y="1803400"/>
            <a:ext cx="37465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300" b="1">
                <a:solidFill>
                  <a:srgbClr val="4E4E4E"/>
                </a:solidFill>
                <a:latin typeface="MiSans"/>
                <a:ea typeface="MiSans"/>
              </a:rPr>
              <a:t>550 городов РФ</a:t>
            </a:r>
            <a:r>
              <a:rPr lang="en-US" sz="1300">
                <a:solidFill>
                  <a:srgbClr val="4E4E4E"/>
                </a:solidFill>
                <a:latin typeface="MiSans"/>
                <a:ea typeface="MiSans"/>
              </a:rPr>
              <a:t> — поиск с автоподстановкой, данные СП 131.13330.2025</a:t>
            </a:r>
            <a:endParaRPr lang="en-US" sz="1300"/>
          </a:p>
        </p:txBody>
      </p:sp>
      <p:sp>
        <p:nvSpPr>
          <p:cNvPr id="7" name="bullet-mark-2"/>
          <p:cNvSpPr/>
          <p:nvPr/>
        </p:nvSpPr>
        <p:spPr>
          <a:xfrm>
            <a:off x="787400" y="2616200"/>
            <a:ext cx="114300" cy="114300"/>
          </a:xfrm>
          <a:prstGeom prst="rect">
            <a:avLst/>
          </a:prstGeom>
          <a:solidFill>
            <a:srgbClr val="4FC7B5"/>
          </a:solidFill>
          <a:ln>
            <a:noFill/>
          </a:ln>
        </p:spPr>
      </p:sp>
      <p:sp>
        <p:nvSpPr>
          <p:cNvPr id="8" name="bullet-2"/>
          <p:cNvSpPr txBox="1"/>
          <p:nvPr/>
        </p:nvSpPr>
        <p:spPr>
          <a:xfrm>
            <a:off x="1066800" y="2540000"/>
            <a:ext cx="37465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300" b="1">
                <a:solidFill>
                  <a:srgbClr val="4E4E4E"/>
                </a:solidFill>
                <a:latin typeface="MiSans"/>
                <a:ea typeface="MiSans"/>
              </a:rPr>
              <a:t>Расчётная t — автоматически</a:t>
            </a:r>
            <a:r>
              <a:rPr lang="en-US" sz="1300">
                <a:solidFill>
                  <a:srgbClr val="4E4E4E"/>
                </a:solidFill>
                <a:latin typeface="MiSans"/>
                <a:ea typeface="MiSans"/>
              </a:rPr>
              <a:t> по таблице 1.6: колонки −10 / −15 / −20 °C</a:t>
            </a:r>
            <a:endParaRPr lang="en-US" sz="1300"/>
          </a:p>
        </p:txBody>
      </p:sp>
      <p:sp>
        <p:nvSpPr>
          <p:cNvPr id="9" name="bullet-mark-3"/>
          <p:cNvSpPr/>
          <p:nvPr/>
        </p:nvSpPr>
        <p:spPr>
          <a:xfrm>
            <a:off x="787400" y="3352800"/>
            <a:ext cx="114300" cy="114300"/>
          </a:xfrm>
          <a:prstGeom prst="rect">
            <a:avLst/>
          </a:prstGeom>
          <a:solidFill>
            <a:srgbClr val="E50040"/>
          </a:solidFill>
          <a:ln>
            <a:noFill/>
          </a:ln>
        </p:spPr>
      </p:sp>
      <p:sp>
        <p:nvSpPr>
          <p:cNvPr id="10" name="bullet-3"/>
          <p:cNvSpPr txBox="1"/>
          <p:nvPr/>
        </p:nvSpPr>
        <p:spPr>
          <a:xfrm>
            <a:off x="1066800" y="3276600"/>
            <a:ext cx="37465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300" b="1">
                <a:solidFill>
                  <a:srgbClr val="4E4E4E"/>
                </a:solidFill>
                <a:latin typeface="MiSans"/>
                <a:ea typeface="MiSans"/>
              </a:rPr>
              <a:t>Ветер, влажность, снегопад</a:t>
            </a:r>
            <a:r>
              <a:rPr lang="en-US" sz="1300">
                <a:solidFill>
                  <a:srgbClr val="4E4E4E"/>
                </a:solidFill>
                <a:latin typeface="MiSans"/>
                <a:ea typeface="MiSans"/>
              </a:rPr>
              <a:t> — из норм, доступна ручная корректировка</a:t>
            </a:r>
            <a:endParaRPr lang="en-US" sz="1300"/>
          </a:p>
        </p:txBody>
      </p:sp>
      <p:sp>
        <p:nvSpPr>
          <p:cNvPr id="11" name="bullet-mark-4"/>
          <p:cNvSpPr/>
          <p:nvPr/>
        </p:nvSpPr>
        <p:spPr>
          <a:xfrm>
            <a:off x="787400" y="4089400"/>
            <a:ext cx="114300" cy="114300"/>
          </a:xfrm>
          <a:prstGeom prst="rect">
            <a:avLst/>
          </a:prstGeom>
          <a:solidFill>
            <a:srgbClr val="4FC7B5"/>
          </a:solidFill>
          <a:ln>
            <a:noFill/>
          </a:ln>
        </p:spPr>
      </p:sp>
      <p:sp>
        <p:nvSpPr>
          <p:cNvPr id="12" name="bullet-4"/>
          <p:cNvSpPr txBox="1"/>
          <p:nvPr/>
        </p:nvSpPr>
        <p:spPr>
          <a:xfrm>
            <a:off x="1066800" y="4013200"/>
            <a:ext cx="37465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300" b="1">
                <a:solidFill>
                  <a:srgbClr val="4E4E4E"/>
                </a:solidFill>
                <a:latin typeface="MiSans"/>
                <a:ea typeface="MiSans"/>
              </a:rPr>
              <a:t>«Повышенные требования»</a:t>
            </a:r>
            <a:r>
              <a:rPr lang="en-US" sz="1300">
                <a:solidFill>
                  <a:srgbClr val="4E4E4E"/>
                </a:solidFill>
                <a:latin typeface="MiSans"/>
                <a:ea typeface="MiSans"/>
              </a:rPr>
              <a:t> — флаг для ответственных объектов: всегда −20 °C</a:t>
            </a:r>
            <a:endParaRPr lang="en-US" sz="1300"/>
          </a:p>
        </p:txBody>
      </p:sp>
      <p:pic>
        <p:nvPicPr>
          <p:cNvPr id="13" name="screen"/>
          <p:cNvPicPr/>
          <p:nvPr/>
        </p:nvPicPr>
        <p:blipFill>
          <a:blip r:embed="rId2"/>
          <a:srcRect t="110" b="110"/>
          <a:stretch>
            <a:fillRect/>
          </a:stretch>
        </p:blipFill>
        <p:spPr>
          <a:xfrm>
            <a:off x="4953000" y="1778000"/>
            <a:ext cx="6731000" cy="3670300"/>
          </a:xfrm>
          <a:prstGeom prst="rect">
            <a:avLst/>
          </a:prstGeom>
          <a:ln>
            <a:noFill/>
          </a:ln>
          <a:effectLst>
            <a:outerShdw blurRad="152400" dist="50800" dir="5400000" sx="100000" sy="100000" kx="0" ky="0" algn="bl" rotWithShape="0">
              <a:srgbClr val="000000">
                <a:alpha val="14902"/>
              </a:srgbClr>
            </a:outerShdw>
          </a:effectLst>
        </p:spPr>
      </p:pic>
      <p:sp>
        <p:nvSpPr>
          <p:cNvPr id="14" name="screen-border"/>
          <p:cNvSpPr/>
          <p:nvPr/>
        </p:nvSpPr>
        <p:spPr>
          <a:xfrm>
            <a:off x="4953000" y="1778000"/>
            <a:ext cx="6731000" cy="3670300"/>
          </a:xfrm>
          <a:prstGeom prst="rect">
            <a:avLst/>
          </a:prstGeom>
          <a:noFill/>
          <a:ln w="12700">
            <a:solidFill>
              <a:srgbClr val="D9D9D9"/>
            </a:solidFill>
          </a:ln>
        </p:spPr>
      </p:sp>
      <p:sp>
        <p:nvSpPr>
          <p:cNvPr id="15" name="screen-caption"/>
          <p:cNvSpPr txBox="1"/>
          <p:nvPr/>
        </p:nvSpPr>
        <p:spPr>
          <a:xfrm>
            <a:off x="4953000" y="5588000"/>
            <a:ext cx="6731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818181"/>
                </a:solidFill>
                <a:latin typeface="MiSans"/>
                <a:ea typeface="MiSans"/>
              </a:rPr>
              <a:t>Екатеринбург: t холодной пятидневки −30 °C, расчётная колонка −15 °C (Zone_M15)</a:t>
            </a:r>
            <a:endParaRPr lang="en-US" sz="1100"/>
          </a:p>
        </p:txBody>
      </p:sp>
      <p:pic>
        <p:nvPicPr>
          <p:cNvPr id="16" name="footer-logo"/>
          <p:cNvPicPr/>
          <p:nvPr/>
        </p:nvPicPr>
        <p:blipFill>
          <a:blip r:embed="rId3"/>
          <a:srcRect t="-84" b="-84"/>
          <a:stretch>
            <a:fillRect/>
          </a:stretch>
        </p:blipFill>
        <p:spPr>
          <a:xfrm>
            <a:off x="11074400" y="6350000"/>
            <a:ext cx="304800" cy="317500"/>
          </a:xfrm>
          <a:prstGeom prst="rect">
            <a:avLst/>
          </a:prstGeom>
          <a:ln>
            <a:noFill/>
          </a:ln>
        </p:spPr>
      </p:pic>
      <p:sp>
        <p:nvSpPr>
          <p:cNvPr id="17" name="page-num"/>
          <p:cNvSpPr txBox="1"/>
          <p:nvPr/>
        </p:nvSpPr>
        <p:spPr>
          <a:xfrm>
            <a:off x="11430000" y="6375400"/>
            <a:ext cx="304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818181"/>
                </a:solidFill>
                <a:latin typeface="MiSans"/>
                <a:ea typeface="MiSans"/>
              </a:rPr>
              <a:t>05</a:t>
            </a:r>
            <a:endParaRPr lang="en-US" sz="1100"/>
          </a:p>
        </p:txBody>
      </p:sp>
    </p:spTree>
  </p:cSld>
  <p:clrMapOvr>
    <a:masterClrMapping/>
  </p:clrMapOvr>
  <p:transition spd="fast" advClick="1">
    <p:checker dir="horz"/>
  </p:transition>
</p:sld>
</file>

<file path=ppt/slides/slide6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 txBox="1"/>
          <p:nvPr/>
        </p:nvSpPr>
        <p:spPr>
          <a:xfrm>
            <a:off x="762000" y="5080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b="1" spc="200" kern="0">
                <a:solidFill>
                  <a:srgbClr val="E50040"/>
                </a:solidFill>
                <a:latin typeface="MiSans"/>
                <a:ea typeface="MiSans"/>
              </a:rPr>
              <a:t>ШАГ 2 · КОНСТРУКЦИЯ</a:t>
            </a:r>
            <a:endParaRPr lang="en-US" sz="1200"/>
          </a:p>
        </p:txBody>
      </p:sp>
      <p:sp>
        <p:nvSpPr>
          <p:cNvPr id="3" name="title"/>
          <p:cNvSpPr txBox="1"/>
          <p:nvPr/>
        </p:nvSpPr>
        <p:spPr>
          <a:xfrm>
            <a:off x="762000" y="762000"/>
            <a:ext cx="8890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3000" b="1">
                <a:solidFill>
                  <a:srgbClr val="000000"/>
                </a:solidFill>
                <a:latin typeface="MiSans"/>
                <a:ea typeface="MiSans"/>
              </a:rPr>
              <a:t>«Пирог» — слой за слоем</a:t>
            </a:r>
            <a:endParaRPr lang="en-US" sz="3000"/>
          </a:p>
        </p:txBody>
      </p:sp>
      <p:sp>
        <p:nvSpPr>
          <p:cNvPr id="4" name="title-bar"/>
          <p:cNvSpPr/>
          <p:nvPr/>
        </p:nvSpPr>
        <p:spPr>
          <a:xfrm>
            <a:off x="787400" y="1422400"/>
            <a:ext cx="584200" cy="63500"/>
          </a:xfrm>
          <a:prstGeom prst="rect">
            <a:avLst/>
          </a:prstGeom>
          <a:solidFill>
            <a:srgbClr val="E50040"/>
          </a:solidFill>
          <a:ln>
            <a:noFill/>
          </a:ln>
        </p:spPr>
      </p:sp>
      <p:sp>
        <p:nvSpPr>
          <p:cNvPr id="5" name="bullet-mark-1"/>
          <p:cNvSpPr/>
          <p:nvPr/>
        </p:nvSpPr>
        <p:spPr>
          <a:xfrm>
            <a:off x="787400" y="1879600"/>
            <a:ext cx="114300" cy="114300"/>
          </a:xfrm>
          <a:prstGeom prst="rect">
            <a:avLst/>
          </a:prstGeom>
          <a:solidFill>
            <a:srgbClr val="E50040"/>
          </a:solidFill>
          <a:ln>
            <a:noFill/>
          </a:ln>
        </p:spPr>
      </p:sp>
      <p:sp>
        <p:nvSpPr>
          <p:cNvPr id="6" name="bullet-1"/>
          <p:cNvSpPr txBox="1"/>
          <p:nvPr/>
        </p:nvSpPr>
        <p:spPr>
          <a:xfrm>
            <a:off x="1066800" y="1803400"/>
            <a:ext cx="37465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300" b="1">
                <a:solidFill>
                  <a:srgbClr val="4E4E4E"/>
                </a:solidFill>
                <a:latin typeface="MiSans"/>
                <a:ea typeface="MiSans"/>
              </a:rPr>
              <a:t>Слои над и под трубой</a:t>
            </a:r>
            <a:r>
              <a:rPr lang="en-US" sz="1300">
                <a:solidFill>
                  <a:srgbClr val="4E4E4E"/>
                </a:solidFill>
                <a:latin typeface="MiSans"/>
                <a:ea typeface="MiSans"/>
              </a:rPr>
              <a:t> — из встроенного справочника материалов</a:t>
            </a:r>
            <a:endParaRPr lang="en-US" sz="1300"/>
          </a:p>
        </p:txBody>
      </p:sp>
      <p:sp>
        <p:nvSpPr>
          <p:cNvPr id="7" name="bullet-mark-2"/>
          <p:cNvSpPr/>
          <p:nvPr/>
        </p:nvSpPr>
        <p:spPr>
          <a:xfrm>
            <a:off x="787400" y="2616200"/>
            <a:ext cx="114300" cy="114300"/>
          </a:xfrm>
          <a:prstGeom prst="rect">
            <a:avLst/>
          </a:prstGeom>
          <a:solidFill>
            <a:srgbClr val="4FC7B5"/>
          </a:solidFill>
          <a:ln>
            <a:noFill/>
          </a:ln>
        </p:spPr>
      </p:sp>
      <p:sp>
        <p:nvSpPr>
          <p:cNvPr id="8" name="bullet-2"/>
          <p:cNvSpPr txBox="1"/>
          <p:nvPr/>
        </p:nvSpPr>
        <p:spPr>
          <a:xfrm>
            <a:off x="1066800" y="2540000"/>
            <a:ext cx="37465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300" b="1">
                <a:solidFill>
                  <a:srgbClr val="4E4E4E"/>
                </a:solidFill>
                <a:latin typeface="MiSans"/>
                <a:ea typeface="MiSans"/>
              </a:rPr>
              <a:t>λА / λБ</a:t>
            </a:r>
            <a:r>
              <a:rPr lang="en-US" sz="1300">
                <a:solidFill>
                  <a:srgbClr val="4E4E4E"/>
                </a:solidFill>
                <a:latin typeface="MiSans"/>
                <a:ea typeface="MiSans"/>
              </a:rPr>
              <a:t> — сухие и влажные условия в зависимости от УГВ</a:t>
            </a:r>
            <a:endParaRPr lang="en-US" sz="1300"/>
          </a:p>
        </p:txBody>
      </p:sp>
      <p:sp>
        <p:nvSpPr>
          <p:cNvPr id="9" name="bullet-mark-3"/>
          <p:cNvSpPr/>
          <p:nvPr/>
        </p:nvSpPr>
        <p:spPr>
          <a:xfrm>
            <a:off x="787400" y="3352800"/>
            <a:ext cx="114300" cy="114300"/>
          </a:xfrm>
          <a:prstGeom prst="rect">
            <a:avLst/>
          </a:prstGeom>
          <a:solidFill>
            <a:srgbClr val="E50040"/>
          </a:solidFill>
          <a:ln>
            <a:noFill/>
          </a:ln>
        </p:spPr>
      </p:sp>
      <p:sp>
        <p:nvSpPr>
          <p:cNvPr id="10" name="bullet-3"/>
          <p:cNvSpPr txBox="1"/>
          <p:nvPr/>
        </p:nvSpPr>
        <p:spPr>
          <a:xfrm>
            <a:off x="1066800" y="3276600"/>
            <a:ext cx="37465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300" b="1">
                <a:solidFill>
                  <a:srgbClr val="4E4E4E"/>
                </a:solidFill>
                <a:latin typeface="MiSans"/>
                <a:ea typeface="MiSans"/>
              </a:rPr>
              <a:t>Визуализация конструкции</a:t>
            </a:r>
            <a:r>
              <a:rPr lang="en-US" sz="1300">
                <a:solidFill>
                  <a:srgbClr val="4E4E4E"/>
                </a:solidFill>
                <a:latin typeface="MiSans"/>
                <a:ea typeface="MiSans"/>
              </a:rPr>
              <a:t> — разрез перерисовывается при каждом изменении</a:t>
            </a:r>
            <a:endParaRPr lang="en-US" sz="1300"/>
          </a:p>
        </p:txBody>
      </p:sp>
      <p:sp>
        <p:nvSpPr>
          <p:cNvPr id="11" name="bullet-mark-4"/>
          <p:cNvSpPr/>
          <p:nvPr/>
        </p:nvSpPr>
        <p:spPr>
          <a:xfrm>
            <a:off x="787400" y="4089400"/>
            <a:ext cx="114300" cy="114300"/>
          </a:xfrm>
          <a:prstGeom prst="rect">
            <a:avLst/>
          </a:prstGeom>
          <a:solidFill>
            <a:srgbClr val="4FC7B5"/>
          </a:solidFill>
          <a:ln>
            <a:noFill/>
          </a:ln>
        </p:spPr>
      </p:sp>
      <p:sp>
        <p:nvSpPr>
          <p:cNvPr id="12" name="bullet-4"/>
          <p:cNvSpPr txBox="1"/>
          <p:nvPr/>
        </p:nvSpPr>
        <p:spPr>
          <a:xfrm>
            <a:off x="1066800" y="4013200"/>
            <a:ext cx="37465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300" b="1">
                <a:solidFill>
                  <a:srgbClr val="4E4E4E"/>
                </a:solidFill>
                <a:latin typeface="MiSans"/>
                <a:ea typeface="MiSans"/>
              </a:rPr>
              <a:t>Автопересчёт</a:t>
            </a:r>
            <a:r>
              <a:rPr lang="en-US" sz="1300">
                <a:solidFill>
                  <a:srgbClr val="4E4E4E"/>
                </a:solidFill>
                <a:latin typeface="MiSans"/>
                <a:ea typeface="MiSans"/>
              </a:rPr>
              <a:t> — R₁ над трубой, R₂ под трубой, эквивалентная λE</a:t>
            </a:r>
            <a:endParaRPr lang="en-US" sz="1300"/>
          </a:p>
        </p:txBody>
      </p:sp>
      <p:pic>
        <p:nvPicPr>
          <p:cNvPr id="13" name="screen"/>
          <p:cNvPicPr/>
          <p:nvPr/>
        </p:nvPicPr>
        <p:blipFill>
          <a:blip r:embed="rId2"/>
          <a:srcRect t="146" b="146"/>
          <a:stretch>
            <a:fillRect/>
          </a:stretch>
        </p:blipFill>
        <p:spPr>
          <a:xfrm>
            <a:off x="4953000" y="1778000"/>
            <a:ext cx="6731000" cy="3670300"/>
          </a:xfrm>
          <a:prstGeom prst="rect">
            <a:avLst/>
          </a:prstGeom>
          <a:ln>
            <a:noFill/>
          </a:ln>
          <a:effectLst>
            <a:outerShdw blurRad="152400" dist="50800" dir="5400000" sx="100000" sy="100000" kx="0" ky="0" algn="bl" rotWithShape="0">
              <a:srgbClr val="000000">
                <a:alpha val="14902"/>
              </a:srgbClr>
            </a:outerShdw>
          </a:effectLst>
        </p:spPr>
      </p:pic>
      <p:sp>
        <p:nvSpPr>
          <p:cNvPr id="14" name="screen-border"/>
          <p:cNvSpPr/>
          <p:nvPr/>
        </p:nvSpPr>
        <p:spPr>
          <a:xfrm>
            <a:off x="4953000" y="1778000"/>
            <a:ext cx="6731000" cy="3670300"/>
          </a:xfrm>
          <a:prstGeom prst="rect">
            <a:avLst/>
          </a:prstGeom>
          <a:noFill/>
          <a:ln w="12700">
            <a:solidFill>
              <a:srgbClr val="D9D9D9"/>
            </a:solidFill>
          </a:ln>
        </p:spPr>
      </p:sp>
      <p:sp>
        <p:nvSpPr>
          <p:cNvPr id="15" name="screen-caption"/>
          <p:cNvSpPr txBox="1"/>
          <p:nvPr/>
        </p:nvSpPr>
        <p:spPr>
          <a:xfrm>
            <a:off x="4953000" y="5588000"/>
            <a:ext cx="6731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818181"/>
                </a:solidFill>
                <a:latin typeface="MiSans"/>
                <a:ea typeface="MiSans"/>
              </a:rPr>
              <a:t>Бетон 100 мм + ЭППС 80 мм + основание: R₁ = 0,0575, R₂ = 5,6374 м²·К/Вт</a:t>
            </a:r>
            <a:endParaRPr lang="en-US" sz="1100"/>
          </a:p>
        </p:txBody>
      </p:sp>
      <p:pic>
        <p:nvPicPr>
          <p:cNvPr id="16" name="footer-logo"/>
          <p:cNvPicPr/>
          <p:nvPr/>
        </p:nvPicPr>
        <p:blipFill>
          <a:blip r:embed="rId3"/>
          <a:srcRect t="-84" b="-84"/>
          <a:stretch>
            <a:fillRect/>
          </a:stretch>
        </p:blipFill>
        <p:spPr>
          <a:xfrm>
            <a:off x="11074400" y="6350000"/>
            <a:ext cx="304800" cy="317500"/>
          </a:xfrm>
          <a:prstGeom prst="rect">
            <a:avLst/>
          </a:prstGeom>
          <a:ln>
            <a:noFill/>
          </a:ln>
        </p:spPr>
      </p:pic>
      <p:sp>
        <p:nvSpPr>
          <p:cNvPr id="17" name="page-num"/>
          <p:cNvSpPr txBox="1"/>
          <p:nvPr/>
        </p:nvSpPr>
        <p:spPr>
          <a:xfrm>
            <a:off x="11430000" y="6375400"/>
            <a:ext cx="304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818181"/>
                </a:solidFill>
                <a:latin typeface="MiSans"/>
                <a:ea typeface="MiSans"/>
              </a:rPr>
              <a:t>06</a:t>
            </a:r>
            <a:endParaRPr lang="en-US" sz="1100"/>
          </a:p>
        </p:txBody>
      </p:sp>
    </p:spTree>
  </p:cSld>
  <p:clrMapOvr>
    <a:masterClrMapping/>
  </p:clrMapOvr>
  <p:transition spd="fast" advClick="1">
    <p:checker dir="horz"/>
  </p:transition>
</p:sld>
</file>

<file path=ppt/slides/slide7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 txBox="1"/>
          <p:nvPr/>
        </p:nvSpPr>
        <p:spPr>
          <a:xfrm>
            <a:off x="762000" y="5080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b="1" spc="200" kern="0">
                <a:solidFill>
                  <a:srgbClr val="E50040"/>
                </a:solidFill>
                <a:latin typeface="MiSans"/>
                <a:ea typeface="MiSans"/>
              </a:rPr>
              <a:t>ШАГ 3 · ТЕПЛОВОЙ РАСЧЁТ</a:t>
            </a:r>
            <a:endParaRPr lang="en-US" sz="1200"/>
          </a:p>
        </p:txBody>
      </p:sp>
      <p:sp>
        <p:nvSpPr>
          <p:cNvPr id="3" name="title"/>
          <p:cNvSpPr txBox="1"/>
          <p:nvPr/>
        </p:nvSpPr>
        <p:spPr>
          <a:xfrm>
            <a:off x="762000" y="762000"/>
            <a:ext cx="8890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3000" b="1">
                <a:solidFill>
                  <a:srgbClr val="000000"/>
                </a:solidFill>
                <a:latin typeface="MiSans"/>
                <a:ea typeface="MiSans"/>
              </a:rPr>
              <a:t>Мощность — за один клик</a:t>
            </a:r>
            <a:endParaRPr lang="en-US" sz="3000"/>
          </a:p>
        </p:txBody>
      </p:sp>
      <p:sp>
        <p:nvSpPr>
          <p:cNvPr id="4" name="title-bar"/>
          <p:cNvSpPr/>
          <p:nvPr/>
        </p:nvSpPr>
        <p:spPr>
          <a:xfrm>
            <a:off x="787400" y="1422400"/>
            <a:ext cx="584200" cy="63500"/>
          </a:xfrm>
          <a:prstGeom prst="rect">
            <a:avLst/>
          </a:prstGeom>
          <a:solidFill>
            <a:srgbClr val="E50040"/>
          </a:solidFill>
          <a:ln>
            <a:noFill/>
          </a:ln>
        </p:spPr>
      </p:sp>
      <p:sp>
        <p:nvSpPr>
          <p:cNvPr id="5" name="bullet-mark-1"/>
          <p:cNvSpPr/>
          <p:nvPr/>
        </p:nvSpPr>
        <p:spPr>
          <a:xfrm>
            <a:off x="787400" y="1879600"/>
            <a:ext cx="114300" cy="114300"/>
          </a:xfrm>
          <a:prstGeom prst="rect">
            <a:avLst/>
          </a:prstGeom>
          <a:solidFill>
            <a:srgbClr val="E50040"/>
          </a:solidFill>
          <a:ln>
            <a:noFill/>
          </a:ln>
        </p:spPr>
      </p:sp>
      <p:sp>
        <p:nvSpPr>
          <p:cNvPr id="6" name="bullet-1"/>
          <p:cNvSpPr txBox="1"/>
          <p:nvPr/>
        </p:nvSpPr>
        <p:spPr>
          <a:xfrm>
            <a:off x="1066800" y="1803400"/>
            <a:ext cx="37465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300" b="1">
                <a:solidFill>
                  <a:srgbClr val="4E4E4E"/>
                </a:solidFill>
                <a:latin typeface="MiSans"/>
                <a:ea typeface="MiSans"/>
              </a:rPr>
              <a:t>Режимы работы</a:t>
            </a:r>
            <a:r>
              <a:rPr lang="en-US" sz="1300">
                <a:solidFill>
                  <a:srgbClr val="4E4E4E"/>
                </a:solidFill>
                <a:latin typeface="MiSans"/>
                <a:ea typeface="MiSans"/>
              </a:rPr>
              <a:t> — таяние (поверхность +5 °C) или поддержание</a:t>
            </a:r>
            <a:endParaRPr lang="en-US" sz="1300"/>
          </a:p>
        </p:txBody>
      </p:sp>
      <p:sp>
        <p:nvSpPr>
          <p:cNvPr id="7" name="bullet-mark-2"/>
          <p:cNvSpPr/>
          <p:nvPr/>
        </p:nvSpPr>
        <p:spPr>
          <a:xfrm>
            <a:off x="787400" y="2616200"/>
            <a:ext cx="114300" cy="114300"/>
          </a:xfrm>
          <a:prstGeom prst="rect">
            <a:avLst/>
          </a:prstGeom>
          <a:solidFill>
            <a:srgbClr val="4FC7B5"/>
          </a:solidFill>
          <a:ln>
            <a:noFill/>
          </a:ln>
        </p:spPr>
      </p:sp>
      <p:sp>
        <p:nvSpPr>
          <p:cNvPr id="8" name="bullet-2"/>
          <p:cNvSpPr txBox="1"/>
          <p:nvPr/>
        </p:nvSpPr>
        <p:spPr>
          <a:xfrm>
            <a:off x="1066800" y="2540000"/>
            <a:ext cx="37465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300" b="1">
                <a:solidFill>
                  <a:srgbClr val="4E4E4E"/>
                </a:solidFill>
                <a:latin typeface="MiSans"/>
                <a:ea typeface="MiSans"/>
              </a:rPr>
              <a:t>Труба и шаг укладки</a:t>
            </a:r>
            <a:r>
              <a:rPr lang="en-US" sz="1300">
                <a:solidFill>
                  <a:srgbClr val="4E4E4E"/>
                </a:solidFill>
                <a:latin typeface="MiSans"/>
                <a:ea typeface="MiSans"/>
              </a:rPr>
              <a:t> — RAUTHERM S 17 / 20 / 25 мм, шаг от 100 мм</a:t>
            </a:r>
            <a:endParaRPr lang="en-US" sz="1300"/>
          </a:p>
        </p:txBody>
      </p:sp>
      <p:sp>
        <p:nvSpPr>
          <p:cNvPr id="9" name="bullet-mark-3"/>
          <p:cNvSpPr/>
          <p:nvPr/>
        </p:nvSpPr>
        <p:spPr>
          <a:xfrm>
            <a:off x="787400" y="3352800"/>
            <a:ext cx="114300" cy="114300"/>
          </a:xfrm>
          <a:prstGeom prst="rect">
            <a:avLst/>
          </a:prstGeom>
          <a:solidFill>
            <a:srgbClr val="E50040"/>
          </a:solidFill>
          <a:ln>
            <a:noFill/>
          </a:ln>
        </p:spPr>
      </p:sp>
      <p:sp>
        <p:nvSpPr>
          <p:cNvPr id="10" name="bullet-3"/>
          <p:cNvSpPr txBox="1"/>
          <p:nvPr/>
        </p:nvSpPr>
        <p:spPr>
          <a:xfrm>
            <a:off x="1066800" y="3276600"/>
            <a:ext cx="37465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300" b="1">
                <a:solidFill>
                  <a:srgbClr val="4E4E4E"/>
                </a:solidFill>
                <a:latin typeface="MiSans"/>
                <a:ea typeface="MiSans"/>
              </a:rPr>
              <a:t>Итог расчёта</a:t>
            </a:r>
            <a:r>
              <a:rPr lang="en-US" sz="1300">
                <a:solidFill>
                  <a:srgbClr val="4E4E4E"/>
                </a:solidFill>
                <a:latin typeface="MiSans"/>
                <a:ea typeface="MiSans"/>
              </a:rPr>
              <a:t> — поток вверх q↑, вниз q↓ и суммарная мощность, Вт/м²</a:t>
            </a:r>
            <a:endParaRPr lang="en-US" sz="1300"/>
          </a:p>
        </p:txBody>
      </p:sp>
      <p:sp>
        <p:nvSpPr>
          <p:cNvPr id="11" name="bullet-mark-4"/>
          <p:cNvSpPr/>
          <p:nvPr/>
        </p:nvSpPr>
        <p:spPr>
          <a:xfrm>
            <a:off x="787400" y="4089400"/>
            <a:ext cx="114300" cy="114300"/>
          </a:xfrm>
          <a:prstGeom prst="rect">
            <a:avLst/>
          </a:prstGeom>
          <a:solidFill>
            <a:srgbClr val="4FC7B5"/>
          </a:solidFill>
          <a:ln>
            <a:noFill/>
          </a:ln>
        </p:spPr>
      </p:sp>
      <p:sp>
        <p:nvSpPr>
          <p:cNvPr id="12" name="bullet-4"/>
          <p:cNvSpPr txBox="1"/>
          <p:nvPr/>
        </p:nvSpPr>
        <p:spPr>
          <a:xfrm>
            <a:off x="1066800" y="4013200"/>
            <a:ext cx="37465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300" b="1">
                <a:solidFill>
                  <a:srgbClr val="4E4E4E"/>
                </a:solidFill>
                <a:latin typeface="MiSans"/>
                <a:ea typeface="MiSans"/>
              </a:rPr>
              <a:t>Подсказки в форме</a:t>
            </a:r>
            <a:r>
              <a:rPr lang="en-US" sz="1300">
                <a:solidFill>
                  <a:srgbClr val="4E4E4E"/>
                </a:solidFill>
                <a:latin typeface="MiSans"/>
                <a:ea typeface="MiSans"/>
              </a:rPr>
              <a:t> — рекомендуемая температура подачи для ΔT = 15 K</a:t>
            </a:r>
            <a:endParaRPr lang="en-US" sz="1300"/>
          </a:p>
        </p:txBody>
      </p:sp>
      <p:pic>
        <p:nvPicPr>
          <p:cNvPr id="13" name="screen"/>
          <p:cNvPicPr/>
          <p:nvPr/>
        </p:nvPicPr>
        <p:blipFill>
          <a:blip r:embed="rId2"/>
          <a:srcRect t="74" b="74"/>
          <a:stretch>
            <a:fillRect/>
          </a:stretch>
        </p:blipFill>
        <p:spPr>
          <a:xfrm>
            <a:off x="4953000" y="1778000"/>
            <a:ext cx="6731000" cy="3670300"/>
          </a:xfrm>
          <a:prstGeom prst="rect">
            <a:avLst/>
          </a:prstGeom>
          <a:ln>
            <a:noFill/>
          </a:ln>
          <a:effectLst>
            <a:outerShdw blurRad="152400" dist="50800" dir="5400000" sx="100000" sy="100000" kx="0" ky="0" algn="bl" rotWithShape="0">
              <a:srgbClr val="000000">
                <a:alpha val="14902"/>
              </a:srgbClr>
            </a:outerShdw>
          </a:effectLst>
        </p:spPr>
      </p:pic>
      <p:sp>
        <p:nvSpPr>
          <p:cNvPr id="14" name="screen-border"/>
          <p:cNvSpPr/>
          <p:nvPr/>
        </p:nvSpPr>
        <p:spPr>
          <a:xfrm>
            <a:off x="4953000" y="1778000"/>
            <a:ext cx="6731000" cy="3670300"/>
          </a:xfrm>
          <a:prstGeom prst="rect">
            <a:avLst/>
          </a:prstGeom>
          <a:noFill/>
          <a:ln w="12700">
            <a:solidFill>
              <a:srgbClr val="D9D9D9"/>
            </a:solidFill>
          </a:ln>
        </p:spPr>
      </p:sp>
      <p:sp>
        <p:nvSpPr>
          <p:cNvPr id="15" name="screen-caption"/>
          <p:cNvSpPr txBox="1"/>
          <p:nvPr/>
        </p:nvSpPr>
        <p:spPr>
          <a:xfrm>
            <a:off x="4953000" y="5588000"/>
            <a:ext cx="6731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818181"/>
                </a:solidFill>
                <a:latin typeface="MiSans"/>
                <a:ea typeface="MiSans"/>
              </a:rPr>
              <a:t>Режим Melting, шаг 200 мм: q↑ = 330,5 Вт/м², суммарная — 335,4 Вт/м²</a:t>
            </a:r>
            <a:endParaRPr lang="en-US" sz="1100"/>
          </a:p>
        </p:txBody>
      </p:sp>
      <p:pic>
        <p:nvPicPr>
          <p:cNvPr id="16" name="footer-logo"/>
          <p:cNvPicPr/>
          <p:nvPr/>
        </p:nvPicPr>
        <p:blipFill>
          <a:blip r:embed="rId3"/>
          <a:srcRect t="-84" b="-84"/>
          <a:stretch>
            <a:fillRect/>
          </a:stretch>
        </p:blipFill>
        <p:spPr>
          <a:xfrm>
            <a:off x="11074400" y="6350000"/>
            <a:ext cx="304800" cy="317500"/>
          </a:xfrm>
          <a:prstGeom prst="rect">
            <a:avLst/>
          </a:prstGeom>
          <a:ln>
            <a:noFill/>
          </a:ln>
        </p:spPr>
      </p:pic>
      <p:sp>
        <p:nvSpPr>
          <p:cNvPr id="17" name="page-num"/>
          <p:cNvSpPr txBox="1"/>
          <p:nvPr/>
        </p:nvSpPr>
        <p:spPr>
          <a:xfrm>
            <a:off x="11430000" y="6375400"/>
            <a:ext cx="304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818181"/>
                </a:solidFill>
                <a:latin typeface="MiSans"/>
                <a:ea typeface="MiSans"/>
              </a:rPr>
              <a:t>07</a:t>
            </a:r>
            <a:endParaRPr lang="en-US" sz="1100"/>
          </a:p>
        </p:txBody>
      </p:sp>
    </p:spTree>
  </p:cSld>
  <p:clrMapOvr>
    <a:masterClrMapping/>
  </p:clrMapOvr>
  <p:transition spd="fast" advClick="1">
    <p:checker dir="horz"/>
  </p:transition>
</p:sld>
</file>

<file path=ppt/slides/slide8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 txBox="1"/>
          <p:nvPr/>
        </p:nvSpPr>
        <p:spPr>
          <a:xfrm>
            <a:off x="762000" y="5080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b="1" spc="200" kern="0">
                <a:solidFill>
                  <a:srgbClr val="E50040"/>
                </a:solidFill>
                <a:latin typeface="MiSans"/>
                <a:ea typeface="MiSans"/>
              </a:rPr>
              <a:t>ШАГ 4 · ГИДРАВЛИКА</a:t>
            </a:r>
            <a:endParaRPr lang="en-US" sz="1200"/>
          </a:p>
        </p:txBody>
      </p:sp>
      <p:sp>
        <p:nvSpPr>
          <p:cNvPr id="3" name="title"/>
          <p:cNvSpPr txBox="1"/>
          <p:nvPr/>
        </p:nvSpPr>
        <p:spPr>
          <a:xfrm>
            <a:off x="762000" y="762000"/>
            <a:ext cx="8890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3000" b="1">
                <a:solidFill>
                  <a:srgbClr val="000000"/>
                </a:solidFill>
                <a:latin typeface="MiSans"/>
                <a:ea typeface="MiSans"/>
              </a:rPr>
              <a:t>Гидравлика с балансировкой контуров</a:t>
            </a:r>
            <a:endParaRPr lang="en-US" sz="3000"/>
          </a:p>
        </p:txBody>
      </p:sp>
      <p:sp>
        <p:nvSpPr>
          <p:cNvPr id="4" name="title-bar"/>
          <p:cNvSpPr/>
          <p:nvPr/>
        </p:nvSpPr>
        <p:spPr>
          <a:xfrm>
            <a:off x="787400" y="1422400"/>
            <a:ext cx="584200" cy="63500"/>
          </a:xfrm>
          <a:prstGeom prst="rect">
            <a:avLst/>
          </a:prstGeom>
          <a:solidFill>
            <a:srgbClr val="E50040"/>
          </a:solidFill>
          <a:ln>
            <a:noFill/>
          </a:ln>
        </p:spPr>
      </p:sp>
      <p:sp>
        <p:nvSpPr>
          <p:cNvPr id="5" name="bullet-mark-1"/>
          <p:cNvSpPr/>
          <p:nvPr/>
        </p:nvSpPr>
        <p:spPr>
          <a:xfrm>
            <a:off x="787400" y="1879600"/>
            <a:ext cx="114300" cy="114300"/>
          </a:xfrm>
          <a:prstGeom prst="rect">
            <a:avLst/>
          </a:prstGeom>
          <a:solidFill>
            <a:srgbClr val="E50040"/>
          </a:solidFill>
          <a:ln>
            <a:noFill/>
          </a:ln>
        </p:spPr>
      </p:sp>
      <p:sp>
        <p:nvSpPr>
          <p:cNvPr id="6" name="bullet-1"/>
          <p:cNvSpPr txBox="1"/>
          <p:nvPr/>
        </p:nvSpPr>
        <p:spPr>
          <a:xfrm>
            <a:off x="1066800" y="1803400"/>
            <a:ext cx="37465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300" b="1">
                <a:solidFill>
                  <a:srgbClr val="4E4E4E"/>
                </a:solidFill>
                <a:latin typeface="MiSans"/>
                <a:ea typeface="MiSans"/>
              </a:rPr>
              <a:t>Теплоноситель</a:t>
            </a:r>
            <a:r>
              <a:rPr lang="en-US" sz="1300">
                <a:solidFill>
                  <a:srgbClr val="4E4E4E"/>
                </a:solidFill>
                <a:latin typeface="MiSans"/>
                <a:ea typeface="MiSans"/>
              </a:rPr>
              <a:t> — этилен-/пропиленгликоль 10–90 %, свойства ASHRAE</a:t>
            </a:r>
            <a:endParaRPr lang="en-US" sz="1300"/>
          </a:p>
        </p:txBody>
      </p:sp>
      <p:sp>
        <p:nvSpPr>
          <p:cNvPr id="7" name="bullet-mark-2"/>
          <p:cNvSpPr/>
          <p:nvPr/>
        </p:nvSpPr>
        <p:spPr>
          <a:xfrm>
            <a:off x="787400" y="2616200"/>
            <a:ext cx="114300" cy="114300"/>
          </a:xfrm>
          <a:prstGeom prst="rect">
            <a:avLst/>
          </a:prstGeom>
          <a:solidFill>
            <a:srgbClr val="4FC7B5"/>
          </a:solidFill>
          <a:ln>
            <a:noFill/>
          </a:ln>
        </p:spPr>
      </p:sp>
      <p:sp>
        <p:nvSpPr>
          <p:cNvPr id="8" name="bullet-2"/>
          <p:cNvSpPr txBox="1"/>
          <p:nvPr/>
        </p:nvSpPr>
        <p:spPr>
          <a:xfrm>
            <a:off x="1066800" y="2540000"/>
            <a:ext cx="37465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300" b="1">
                <a:solidFill>
                  <a:srgbClr val="4E4E4E"/>
                </a:solidFill>
                <a:latin typeface="MiSans"/>
                <a:ea typeface="MiSans"/>
              </a:rPr>
              <a:t>Контуры по коллекторам</a:t>
            </a:r>
            <a:r>
              <a:rPr lang="en-US" sz="1300">
                <a:solidFill>
                  <a:srgbClr val="4E4E4E"/>
                </a:solidFill>
                <a:latin typeface="MiSans"/>
                <a:ea typeface="MiSans"/>
              </a:rPr>
              <a:t> — длины, расходы, скорости в каждом контуре</a:t>
            </a:r>
            <a:endParaRPr lang="en-US" sz="1300"/>
          </a:p>
        </p:txBody>
      </p:sp>
      <p:sp>
        <p:nvSpPr>
          <p:cNvPr id="9" name="bullet-mark-3"/>
          <p:cNvSpPr/>
          <p:nvPr/>
        </p:nvSpPr>
        <p:spPr>
          <a:xfrm>
            <a:off x="787400" y="3352800"/>
            <a:ext cx="114300" cy="114300"/>
          </a:xfrm>
          <a:prstGeom prst="rect">
            <a:avLst/>
          </a:prstGeom>
          <a:solidFill>
            <a:srgbClr val="E50040"/>
          </a:solidFill>
          <a:ln>
            <a:noFill/>
          </a:ln>
        </p:spPr>
      </p:sp>
      <p:sp>
        <p:nvSpPr>
          <p:cNvPr id="10" name="bullet-3"/>
          <p:cNvSpPr txBox="1"/>
          <p:nvPr/>
        </p:nvSpPr>
        <p:spPr>
          <a:xfrm>
            <a:off x="1066800" y="3276600"/>
            <a:ext cx="37465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300" b="1">
                <a:solidFill>
                  <a:srgbClr val="4E4E4E"/>
                </a:solidFill>
                <a:latin typeface="MiSans"/>
                <a:ea typeface="MiSans"/>
              </a:rPr>
              <a:t>Балансировка по VDI 2075</a:t>
            </a:r>
            <a:r>
              <a:rPr lang="en-US" sz="1300">
                <a:solidFill>
                  <a:srgbClr val="4E4E4E"/>
                </a:solidFill>
                <a:latin typeface="MiSans"/>
                <a:ea typeface="MiSans"/>
              </a:rPr>
              <a:t> — дросселирование контуров, обороты вентилей</a:t>
            </a:r>
            <a:endParaRPr lang="en-US" sz="1300"/>
          </a:p>
        </p:txBody>
      </p:sp>
      <p:sp>
        <p:nvSpPr>
          <p:cNvPr id="11" name="bullet-mark-4"/>
          <p:cNvSpPr/>
          <p:nvPr/>
        </p:nvSpPr>
        <p:spPr>
          <a:xfrm>
            <a:off x="787400" y="4089400"/>
            <a:ext cx="114300" cy="114300"/>
          </a:xfrm>
          <a:prstGeom prst="rect">
            <a:avLst/>
          </a:prstGeom>
          <a:solidFill>
            <a:srgbClr val="4FC7B5"/>
          </a:solidFill>
          <a:ln>
            <a:noFill/>
          </a:ln>
        </p:spPr>
      </p:sp>
      <p:sp>
        <p:nvSpPr>
          <p:cNvPr id="12" name="bullet-4"/>
          <p:cNvSpPr txBox="1"/>
          <p:nvPr/>
        </p:nvSpPr>
        <p:spPr>
          <a:xfrm>
            <a:off x="1066800" y="4013200"/>
            <a:ext cx="37465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300" b="1">
                <a:solidFill>
                  <a:srgbClr val="4E4E4E"/>
                </a:solidFill>
                <a:latin typeface="MiSans"/>
                <a:ea typeface="MiSans"/>
              </a:rPr>
              <a:t>Подбор Kv</a:t>
            </a:r>
            <a:r>
              <a:rPr lang="en-US" sz="1300">
                <a:solidFill>
                  <a:srgbClr val="4E4E4E"/>
                </a:solidFill>
                <a:latin typeface="MiSans"/>
                <a:ea typeface="MiSans"/>
              </a:rPr>
              <a:t> — клапаны по DIN EN 60534, потери рабочие и холодные</a:t>
            </a:r>
            <a:endParaRPr lang="en-US" sz="1300"/>
          </a:p>
        </p:txBody>
      </p:sp>
      <p:pic>
        <p:nvPicPr>
          <p:cNvPr id="13" name="screen"/>
          <p:cNvPicPr/>
          <p:nvPr/>
        </p:nvPicPr>
        <p:blipFill>
          <a:blip r:embed="rId2"/>
          <a:srcRect t="146" b="146"/>
          <a:stretch>
            <a:fillRect/>
          </a:stretch>
        </p:blipFill>
        <p:spPr>
          <a:xfrm>
            <a:off x="4953000" y="1778000"/>
            <a:ext cx="6731000" cy="3670300"/>
          </a:xfrm>
          <a:prstGeom prst="rect">
            <a:avLst/>
          </a:prstGeom>
          <a:ln>
            <a:noFill/>
          </a:ln>
          <a:effectLst>
            <a:outerShdw blurRad="152400" dist="50800" dir="5400000" sx="100000" sy="100000" kx="0" ky="0" algn="bl" rotWithShape="0">
              <a:srgbClr val="000000">
                <a:alpha val="14902"/>
              </a:srgbClr>
            </a:outerShdw>
          </a:effectLst>
        </p:spPr>
      </p:pic>
      <p:sp>
        <p:nvSpPr>
          <p:cNvPr id="14" name="screen-border"/>
          <p:cNvSpPr/>
          <p:nvPr/>
        </p:nvSpPr>
        <p:spPr>
          <a:xfrm>
            <a:off x="4953000" y="1778000"/>
            <a:ext cx="6731000" cy="3670300"/>
          </a:xfrm>
          <a:prstGeom prst="rect">
            <a:avLst/>
          </a:prstGeom>
          <a:noFill/>
          <a:ln w="12700">
            <a:solidFill>
              <a:srgbClr val="D9D9D9"/>
            </a:solidFill>
          </a:ln>
        </p:spPr>
      </p:sp>
      <p:sp>
        <p:nvSpPr>
          <p:cNvPr id="15" name="screen-caption"/>
          <p:cNvSpPr txBox="1"/>
          <p:nvPr/>
        </p:nvSpPr>
        <p:spPr>
          <a:xfrm>
            <a:off x="4953000" y="5588000"/>
            <a:ext cx="6731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818181"/>
                </a:solidFill>
                <a:latin typeface="MiSans"/>
                <a:ea typeface="MiSans"/>
              </a:rPr>
              <a:t>Этиленгликоль 40 %: 4 коллектора, 18 контуров, макс. ΔP раб. = 46,2 кПа</a:t>
            </a:r>
            <a:endParaRPr lang="en-US" sz="1100"/>
          </a:p>
        </p:txBody>
      </p:sp>
      <p:pic>
        <p:nvPicPr>
          <p:cNvPr id="16" name="footer-logo"/>
          <p:cNvPicPr/>
          <p:nvPr/>
        </p:nvPicPr>
        <p:blipFill>
          <a:blip r:embed="rId3"/>
          <a:srcRect t="-84" b="-84"/>
          <a:stretch>
            <a:fillRect/>
          </a:stretch>
        </p:blipFill>
        <p:spPr>
          <a:xfrm>
            <a:off x="11074400" y="6350000"/>
            <a:ext cx="304800" cy="317500"/>
          </a:xfrm>
          <a:prstGeom prst="rect">
            <a:avLst/>
          </a:prstGeom>
          <a:ln>
            <a:noFill/>
          </a:ln>
        </p:spPr>
      </p:pic>
      <p:sp>
        <p:nvSpPr>
          <p:cNvPr id="17" name="page-num"/>
          <p:cNvSpPr txBox="1"/>
          <p:nvPr/>
        </p:nvSpPr>
        <p:spPr>
          <a:xfrm>
            <a:off x="11430000" y="6375400"/>
            <a:ext cx="304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818181"/>
                </a:solidFill>
                <a:latin typeface="MiSans"/>
                <a:ea typeface="MiSans"/>
              </a:rPr>
              <a:t>08</a:t>
            </a:r>
            <a:endParaRPr lang="en-US" sz="1100"/>
          </a:p>
        </p:txBody>
      </p:sp>
    </p:spTree>
  </p:cSld>
  <p:clrMapOvr>
    <a:masterClrMapping/>
  </p:clrMapOvr>
  <p:transition spd="fast" advClick="1">
    <p:checker dir="horz"/>
  </p:transition>
</p:sld>
</file>

<file path=ppt/slides/slide9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 txBox="1"/>
          <p:nvPr/>
        </p:nvSpPr>
        <p:spPr>
          <a:xfrm>
            <a:off x="762000" y="5080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b="1" spc="200" kern="0">
                <a:solidFill>
                  <a:srgbClr val="E50040"/>
                </a:solidFill>
                <a:latin typeface="MiSans"/>
                <a:ea typeface="MiSans"/>
              </a:rPr>
              <a:t>ШАГ 5 · РЕЗУЛЬТАТЫ</a:t>
            </a:r>
            <a:endParaRPr lang="en-US" sz="1200"/>
          </a:p>
        </p:txBody>
      </p:sp>
      <p:sp>
        <p:nvSpPr>
          <p:cNvPr id="3" name="title"/>
          <p:cNvSpPr txBox="1"/>
          <p:nvPr/>
        </p:nvSpPr>
        <p:spPr>
          <a:xfrm>
            <a:off x="762000" y="762000"/>
            <a:ext cx="8890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3000" b="1">
                <a:solidFill>
                  <a:srgbClr val="000000"/>
                </a:solidFill>
                <a:latin typeface="MiSans"/>
                <a:ea typeface="MiSans"/>
              </a:rPr>
              <a:t>Спецификация — сразу после расчёта</a:t>
            </a:r>
            <a:endParaRPr lang="en-US" sz="3000"/>
          </a:p>
        </p:txBody>
      </p:sp>
      <p:sp>
        <p:nvSpPr>
          <p:cNvPr id="4" name="title-bar"/>
          <p:cNvSpPr/>
          <p:nvPr/>
        </p:nvSpPr>
        <p:spPr>
          <a:xfrm>
            <a:off x="787400" y="1422400"/>
            <a:ext cx="584200" cy="63500"/>
          </a:xfrm>
          <a:prstGeom prst="rect">
            <a:avLst/>
          </a:prstGeom>
          <a:solidFill>
            <a:srgbClr val="E50040"/>
          </a:solidFill>
          <a:ln>
            <a:noFill/>
          </a:ln>
        </p:spPr>
      </p:sp>
      <p:sp>
        <p:nvSpPr>
          <p:cNvPr id="5" name="bullet-mark-1"/>
          <p:cNvSpPr/>
          <p:nvPr/>
        </p:nvSpPr>
        <p:spPr>
          <a:xfrm>
            <a:off x="787400" y="1879600"/>
            <a:ext cx="114300" cy="114300"/>
          </a:xfrm>
          <a:prstGeom prst="rect">
            <a:avLst/>
          </a:prstGeom>
          <a:solidFill>
            <a:srgbClr val="E50040"/>
          </a:solidFill>
          <a:ln>
            <a:noFill/>
          </a:ln>
        </p:spPr>
      </p:sp>
      <p:sp>
        <p:nvSpPr>
          <p:cNvPr id="6" name="bullet-1"/>
          <p:cNvSpPr txBox="1"/>
          <p:nvPr/>
        </p:nvSpPr>
        <p:spPr>
          <a:xfrm>
            <a:off x="1066800" y="1803400"/>
            <a:ext cx="37465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300" b="1">
                <a:solidFill>
                  <a:srgbClr val="4E4E4E"/>
                </a:solidFill>
                <a:latin typeface="MiSans"/>
                <a:ea typeface="MiSans"/>
              </a:rPr>
              <a:t>Дашборд КПИ</a:t>
            </a:r>
            <a:r>
              <a:rPr lang="en-US" sz="1300">
                <a:solidFill>
                  <a:srgbClr val="4E4E4E"/>
                </a:solidFill>
                <a:latin typeface="MiSans"/>
                <a:ea typeface="MiSans"/>
              </a:rPr>
              <a:t> — мощность, объём системы, насос, температуры</a:t>
            </a:r>
            <a:endParaRPr lang="en-US" sz="1300"/>
          </a:p>
        </p:txBody>
      </p:sp>
      <p:sp>
        <p:nvSpPr>
          <p:cNvPr id="7" name="bullet-mark-2"/>
          <p:cNvSpPr/>
          <p:nvPr/>
        </p:nvSpPr>
        <p:spPr>
          <a:xfrm>
            <a:off x="787400" y="2616200"/>
            <a:ext cx="114300" cy="114300"/>
          </a:xfrm>
          <a:prstGeom prst="rect">
            <a:avLst/>
          </a:prstGeom>
          <a:solidFill>
            <a:srgbClr val="4FC7B5"/>
          </a:solidFill>
          <a:ln>
            <a:noFill/>
          </a:ln>
        </p:spPr>
      </p:sp>
      <p:sp>
        <p:nvSpPr>
          <p:cNvPr id="8" name="bullet-2"/>
          <p:cNvSpPr txBox="1"/>
          <p:nvPr/>
        </p:nvSpPr>
        <p:spPr>
          <a:xfrm>
            <a:off x="1066800" y="2540000"/>
            <a:ext cx="37465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300" b="1">
                <a:solidFill>
                  <a:srgbClr val="4E4E4E"/>
                </a:solidFill>
                <a:latin typeface="MiSans"/>
                <a:ea typeface="MiSans"/>
              </a:rPr>
              <a:t>Ведомость оборудования</a:t>
            </a:r>
            <a:r>
              <a:rPr lang="en-US" sz="1300">
                <a:solidFill>
                  <a:srgbClr val="4E4E4E"/>
                </a:solidFill>
                <a:latin typeface="MiSans"/>
                <a:ea typeface="MiSans"/>
              </a:rPr>
              <a:t> — коллекторы, труба, бак, насос</a:t>
            </a:r>
            <a:endParaRPr lang="en-US" sz="1300"/>
          </a:p>
        </p:txBody>
      </p:sp>
      <p:sp>
        <p:nvSpPr>
          <p:cNvPr id="9" name="bullet-mark-3"/>
          <p:cNvSpPr/>
          <p:nvPr/>
        </p:nvSpPr>
        <p:spPr>
          <a:xfrm>
            <a:off x="787400" y="3352800"/>
            <a:ext cx="114300" cy="114300"/>
          </a:xfrm>
          <a:prstGeom prst="rect">
            <a:avLst/>
          </a:prstGeom>
          <a:solidFill>
            <a:srgbClr val="E50040"/>
          </a:solidFill>
          <a:ln>
            <a:noFill/>
          </a:ln>
        </p:spPr>
      </p:sp>
      <p:sp>
        <p:nvSpPr>
          <p:cNvPr id="10" name="bullet-3"/>
          <p:cNvSpPr txBox="1"/>
          <p:nvPr/>
        </p:nvSpPr>
        <p:spPr>
          <a:xfrm>
            <a:off x="1066800" y="3276600"/>
            <a:ext cx="37465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300" b="1">
                <a:solidFill>
                  <a:srgbClr val="4E4E4E"/>
                </a:solidFill>
                <a:latin typeface="MiSans"/>
                <a:ea typeface="MiSans"/>
              </a:rPr>
              <a:t>Полный контекст</a:t>
            </a:r>
            <a:r>
              <a:rPr lang="en-US" sz="1300">
                <a:solidFill>
                  <a:srgbClr val="4E4E4E"/>
                </a:solidFill>
                <a:latin typeface="MiSans"/>
                <a:ea typeface="MiSans"/>
              </a:rPr>
              <a:t> — схема конструкции и исходные данные рядом с итогами</a:t>
            </a:r>
            <a:endParaRPr lang="en-US" sz="1300"/>
          </a:p>
        </p:txBody>
      </p:sp>
      <p:sp>
        <p:nvSpPr>
          <p:cNvPr id="11" name="bullet-mark-4"/>
          <p:cNvSpPr/>
          <p:nvPr/>
        </p:nvSpPr>
        <p:spPr>
          <a:xfrm>
            <a:off x="787400" y="4089400"/>
            <a:ext cx="114300" cy="114300"/>
          </a:xfrm>
          <a:prstGeom prst="rect">
            <a:avLst/>
          </a:prstGeom>
          <a:solidFill>
            <a:srgbClr val="4FC7B5"/>
          </a:solidFill>
          <a:ln>
            <a:noFill/>
          </a:ln>
        </p:spPr>
      </p:sp>
      <p:sp>
        <p:nvSpPr>
          <p:cNvPr id="12" name="bullet-4"/>
          <p:cNvSpPr txBox="1"/>
          <p:nvPr/>
        </p:nvSpPr>
        <p:spPr>
          <a:xfrm>
            <a:off x="1066800" y="4013200"/>
            <a:ext cx="37465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300" b="1">
                <a:solidFill>
                  <a:srgbClr val="4E4E4E"/>
                </a:solidFill>
                <a:latin typeface="MiSans"/>
                <a:ea typeface="MiSans"/>
              </a:rPr>
              <a:t>Проект в файле .smc</a:t>
            </a:r>
            <a:r>
              <a:rPr lang="en-US" sz="1300">
                <a:solidFill>
                  <a:srgbClr val="4E4E4E"/>
                </a:solidFill>
                <a:latin typeface="MiSans"/>
                <a:ea typeface="MiSans"/>
              </a:rPr>
              <a:t> — сохранение, открытие, предпросмотр и печать</a:t>
            </a:r>
            <a:endParaRPr lang="en-US" sz="1300"/>
          </a:p>
        </p:txBody>
      </p:sp>
      <p:pic>
        <p:nvPicPr>
          <p:cNvPr id="13" name="screen"/>
          <p:cNvPicPr/>
          <p:nvPr/>
        </p:nvPicPr>
        <p:blipFill>
          <a:blip r:embed="rId2"/>
          <a:srcRect t="146" b="146"/>
          <a:stretch>
            <a:fillRect/>
          </a:stretch>
        </p:blipFill>
        <p:spPr>
          <a:xfrm>
            <a:off x="4953000" y="1778000"/>
            <a:ext cx="6731000" cy="3670300"/>
          </a:xfrm>
          <a:prstGeom prst="rect">
            <a:avLst/>
          </a:prstGeom>
          <a:ln>
            <a:noFill/>
          </a:ln>
          <a:effectLst>
            <a:outerShdw blurRad="152400" dist="50800" dir="5400000" sx="100000" sy="100000" kx="0" ky="0" algn="bl" rotWithShape="0">
              <a:srgbClr val="000000">
                <a:alpha val="14902"/>
              </a:srgbClr>
            </a:outerShdw>
          </a:effectLst>
        </p:spPr>
      </p:pic>
      <p:sp>
        <p:nvSpPr>
          <p:cNvPr id="14" name="screen-border"/>
          <p:cNvSpPr/>
          <p:nvPr/>
        </p:nvSpPr>
        <p:spPr>
          <a:xfrm>
            <a:off x="4953000" y="1778000"/>
            <a:ext cx="6731000" cy="3670300"/>
          </a:xfrm>
          <a:prstGeom prst="rect">
            <a:avLst/>
          </a:prstGeom>
          <a:noFill/>
          <a:ln w="12700">
            <a:solidFill>
              <a:srgbClr val="D9D9D9"/>
            </a:solidFill>
          </a:ln>
        </p:spPr>
      </p:sp>
      <p:sp>
        <p:nvSpPr>
          <p:cNvPr id="15" name="screen-caption"/>
          <p:cNvSpPr txBox="1"/>
          <p:nvPr/>
        </p:nvSpPr>
        <p:spPr>
          <a:xfrm>
            <a:off x="4953000" y="5588000"/>
            <a:ext cx="6731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818181"/>
                </a:solidFill>
                <a:latin typeface="MiSans"/>
                <a:ea typeface="MiSans"/>
              </a:rPr>
              <a:t>Проект 9-100000 «Екатеринбург, обогрев наружных поверхностей»</a:t>
            </a:r>
            <a:endParaRPr lang="en-US" sz="1100"/>
          </a:p>
        </p:txBody>
      </p:sp>
      <p:pic>
        <p:nvPicPr>
          <p:cNvPr id="16" name="footer-logo"/>
          <p:cNvPicPr/>
          <p:nvPr/>
        </p:nvPicPr>
        <p:blipFill>
          <a:blip r:embed="rId3"/>
          <a:srcRect t="-84" b="-84"/>
          <a:stretch>
            <a:fillRect/>
          </a:stretch>
        </p:blipFill>
        <p:spPr>
          <a:xfrm>
            <a:off x="11074400" y="6350000"/>
            <a:ext cx="304800" cy="317500"/>
          </a:xfrm>
          <a:prstGeom prst="rect">
            <a:avLst/>
          </a:prstGeom>
          <a:ln>
            <a:noFill/>
          </a:ln>
        </p:spPr>
      </p:pic>
      <p:sp>
        <p:nvSpPr>
          <p:cNvPr id="17" name="page-num"/>
          <p:cNvSpPr txBox="1"/>
          <p:nvPr/>
        </p:nvSpPr>
        <p:spPr>
          <a:xfrm>
            <a:off x="11430000" y="6375400"/>
            <a:ext cx="304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818181"/>
                </a:solidFill>
                <a:latin typeface="MiSans"/>
                <a:ea typeface="MiSans"/>
              </a:rPr>
              <a:t>09</a:t>
            </a:r>
            <a:endParaRPr lang="en-US" sz="1100"/>
          </a:p>
        </p:txBody>
      </p:sp>
    </p:spTree>
  </p:cSld>
  <p:clrMapOvr>
    <a:masterClrMapping/>
  </p:clrMapOvr>
  <p:transition spd="fast" advClick="1">
    <p:checker dir="horz"/>
  </p:transition>
</p:sld>
</file>

<file path=ppt/slides/slide10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 txBox="1"/>
          <p:nvPr/>
        </p:nvSpPr>
        <p:spPr>
          <a:xfrm>
            <a:off x="762000" y="5080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b="1" spc="200" kern="0">
                <a:solidFill>
                  <a:srgbClr val="E50040"/>
                </a:solidFill>
                <a:latin typeface="MiSans"/>
                <a:ea typeface="MiSans"/>
              </a:rPr>
              <a:t>СПЕЦИФИКАЦИЯ</a:t>
            </a:r>
            <a:endParaRPr lang="en-US" sz="1200"/>
          </a:p>
        </p:txBody>
      </p:sp>
      <p:sp>
        <p:nvSpPr>
          <p:cNvPr id="3" name="title"/>
          <p:cNvSpPr txBox="1"/>
          <p:nvPr/>
        </p:nvSpPr>
        <p:spPr>
          <a:xfrm>
            <a:off x="762000" y="762000"/>
            <a:ext cx="9652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3000" b="1">
                <a:solidFill>
                  <a:srgbClr val="000000"/>
                </a:solidFill>
                <a:latin typeface="MiSans"/>
                <a:ea typeface="MiSans"/>
              </a:rPr>
              <a:t>В расчёте — только продукция РЕХАУ</a:t>
            </a:r>
            <a:endParaRPr lang="en-US" sz="3000"/>
          </a:p>
        </p:txBody>
      </p:sp>
      <p:sp>
        <p:nvSpPr>
          <p:cNvPr id="4" name="title-bar"/>
          <p:cNvSpPr/>
          <p:nvPr/>
        </p:nvSpPr>
        <p:spPr>
          <a:xfrm>
            <a:off x="787400" y="1422400"/>
            <a:ext cx="584200" cy="63500"/>
          </a:xfrm>
          <a:prstGeom prst="rect">
            <a:avLst/>
          </a:prstGeom>
          <a:solidFill>
            <a:srgbClr val="E50040"/>
          </a:solidFill>
          <a:ln>
            <a:noFill/>
          </a:ln>
        </p:spPr>
      </p:sp>
      <p:sp>
        <p:nvSpPr>
          <p:cNvPr id="5" name="p-card-1"/>
          <p:cNvSpPr/>
          <p:nvPr/>
        </p:nvSpPr>
        <p:spPr>
          <a:xfrm>
            <a:off x="762000" y="1905000"/>
            <a:ext cx="3467100" cy="31750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D9D9D9"/>
            </a:solidFill>
          </a:ln>
        </p:spPr>
      </p:sp>
      <p:sp>
        <p:nvSpPr>
          <p:cNvPr id="6" name="p-1-mark"/>
          <p:cNvSpPr/>
          <p:nvPr/>
        </p:nvSpPr>
        <p:spPr>
          <a:xfrm>
            <a:off x="1041400" y="2184400"/>
            <a:ext cx="330200" cy="330200"/>
          </a:xfrm>
          <a:prstGeom prst="rect">
            <a:avLst/>
          </a:prstGeom>
          <a:solidFill>
            <a:srgbClr val="E50040"/>
          </a:solidFill>
          <a:ln>
            <a:noFill/>
          </a:ln>
        </p:spPr>
      </p:sp>
      <p:sp>
        <p:nvSpPr>
          <p:cNvPr id="7" name="p-1-name"/>
          <p:cNvSpPr txBox="1"/>
          <p:nvPr/>
        </p:nvSpPr>
        <p:spPr>
          <a:xfrm>
            <a:off x="1041400" y="2667000"/>
            <a:ext cx="2921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800" b="1">
                <a:solidFill>
                  <a:srgbClr val="000000"/>
                </a:solidFill>
                <a:latin typeface="MiSans"/>
                <a:ea typeface="MiSans"/>
              </a:rPr>
              <a:t>Трубы RAUTHERM S</a:t>
            </a:r>
            <a:endParaRPr lang="en-US" sz="1800"/>
          </a:p>
        </p:txBody>
      </p:sp>
      <p:sp>
        <p:nvSpPr>
          <p:cNvPr id="8" name="p-1-desc"/>
          <p:cNvSpPr txBox="1"/>
          <p:nvPr/>
        </p:nvSpPr>
        <p:spPr>
          <a:xfrm>
            <a:off x="1041400" y="3200400"/>
            <a:ext cx="2921000" cy="165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300">
                <a:solidFill>
                  <a:srgbClr val="4E4E4E"/>
                </a:solidFill>
                <a:latin typeface="MiSans"/>
                <a:ea typeface="MiSans"/>
              </a:rPr>
              <a:t>Диаметры 17, 20 и 25 мм для нагревательных контуров открытых площадок</a:t>
            </a:r>
            <a:endParaRPr lang="en-US" sz="1300"/>
          </a:p>
          <a:p>
            <a:pPr algn="l">
              <a:lnSpc>
                <a:spcPct val="145000"/>
              </a:lnSpc>
              <a:spcBef>
                <a:spcPts val="800"/>
              </a:spcBef>
            </a:pPr>
            <a:r>
              <a:rPr lang="en-US" sz="1300">
                <a:solidFill>
                  <a:srgbClr val="818181"/>
                </a:solidFill>
                <a:latin typeface="MiSans"/>
                <a:ea typeface="MiSans"/>
              </a:rPr>
              <a:t>Учитываются реальные диаметры и шероховатость</a:t>
            </a:r>
            <a:endParaRPr lang="en-US" sz="1300"/>
          </a:p>
        </p:txBody>
      </p:sp>
      <p:sp>
        <p:nvSpPr>
          <p:cNvPr id="9" name="p-card-2"/>
          <p:cNvSpPr/>
          <p:nvPr/>
        </p:nvSpPr>
        <p:spPr>
          <a:xfrm>
            <a:off x="4483100" y="1905000"/>
            <a:ext cx="3467100" cy="31750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D9D9D9"/>
            </a:solidFill>
          </a:ln>
        </p:spPr>
      </p:sp>
      <p:sp>
        <p:nvSpPr>
          <p:cNvPr id="10" name="p-2-mark"/>
          <p:cNvSpPr/>
          <p:nvPr/>
        </p:nvSpPr>
        <p:spPr>
          <a:xfrm>
            <a:off x="4762500" y="2184400"/>
            <a:ext cx="330200" cy="330200"/>
          </a:xfrm>
          <a:prstGeom prst="rect">
            <a:avLst/>
          </a:prstGeom>
          <a:solidFill>
            <a:srgbClr val="4FC7B5"/>
          </a:solidFill>
          <a:ln>
            <a:noFill/>
          </a:ln>
        </p:spPr>
      </p:sp>
      <p:sp>
        <p:nvSpPr>
          <p:cNvPr id="11" name="p-2-name"/>
          <p:cNvSpPr txBox="1"/>
          <p:nvPr/>
        </p:nvSpPr>
        <p:spPr>
          <a:xfrm>
            <a:off x="4762500" y="2667000"/>
            <a:ext cx="2921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800" b="1">
                <a:solidFill>
                  <a:srgbClr val="000000"/>
                </a:solidFill>
                <a:latin typeface="MiSans"/>
                <a:ea typeface="MiSans"/>
              </a:rPr>
              <a:t>Коллекторы HKV-D</a:t>
            </a:r>
            <a:endParaRPr lang="en-US" sz="1800"/>
          </a:p>
        </p:txBody>
      </p:sp>
      <p:sp>
        <p:nvSpPr>
          <p:cNvPr id="12" name="p-2-desc"/>
          <p:cNvSpPr txBox="1"/>
          <p:nvPr/>
        </p:nvSpPr>
        <p:spPr>
          <a:xfrm>
            <a:off x="4762500" y="3200400"/>
            <a:ext cx="2921000" cy="165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300">
                <a:solidFill>
                  <a:srgbClr val="4E4E4E"/>
                </a:solidFill>
                <a:latin typeface="MiSans"/>
                <a:ea typeface="MiSans"/>
              </a:rPr>
              <a:t>Бытовые распределительные коллекторы на 2–12 контуров</a:t>
            </a:r>
            <a:endParaRPr lang="en-US" sz="1300"/>
          </a:p>
          <a:p>
            <a:pPr algn="l">
              <a:lnSpc>
                <a:spcPct val="145000"/>
              </a:lnSpc>
              <a:spcBef>
                <a:spcPts val="800"/>
              </a:spcBef>
            </a:pPr>
            <a:r>
              <a:rPr lang="en-US" sz="1300">
                <a:solidFill>
                  <a:srgbClr val="818181"/>
                </a:solidFill>
                <a:latin typeface="MiSans"/>
                <a:ea typeface="MiSans"/>
              </a:rPr>
              <a:t>Подбор по Kv и числу контуров — с артикулами</a:t>
            </a:r>
            <a:endParaRPr lang="en-US" sz="1300"/>
          </a:p>
        </p:txBody>
      </p:sp>
      <p:sp>
        <p:nvSpPr>
          <p:cNvPr id="13" name="p-card-3"/>
          <p:cNvSpPr/>
          <p:nvPr/>
        </p:nvSpPr>
        <p:spPr>
          <a:xfrm>
            <a:off x="8204200" y="1905000"/>
            <a:ext cx="3479800" cy="31750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D9D9D9"/>
            </a:solidFill>
          </a:ln>
        </p:spPr>
      </p:sp>
      <p:sp>
        <p:nvSpPr>
          <p:cNvPr id="14" name="p-3-mark"/>
          <p:cNvSpPr/>
          <p:nvPr/>
        </p:nvSpPr>
        <p:spPr>
          <a:xfrm>
            <a:off x="8483600" y="2184400"/>
            <a:ext cx="330200" cy="330200"/>
          </a:xfrm>
          <a:prstGeom prst="rect">
            <a:avLst/>
          </a:prstGeom>
          <a:solidFill>
            <a:srgbClr val="E50040"/>
          </a:solidFill>
          <a:ln>
            <a:noFill/>
          </a:ln>
        </p:spPr>
      </p:sp>
      <p:sp>
        <p:nvSpPr>
          <p:cNvPr id="15" name="p-3-name"/>
          <p:cNvSpPr txBox="1"/>
          <p:nvPr/>
        </p:nvSpPr>
        <p:spPr>
          <a:xfrm>
            <a:off x="8483600" y="2667000"/>
            <a:ext cx="29464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600" b="1">
                <a:solidFill>
                  <a:srgbClr val="000000"/>
                </a:solidFill>
                <a:latin typeface="MiSans"/>
                <a:ea typeface="MiSans"/>
              </a:rPr>
              <a:t>Промышленные коллекторы IV</a:t>
            </a:r>
            <a:endParaRPr lang="en-US" sz="1600"/>
          </a:p>
        </p:txBody>
      </p:sp>
      <p:sp>
        <p:nvSpPr>
          <p:cNvPr id="16" name="p-3-desc"/>
          <p:cNvSpPr txBox="1"/>
          <p:nvPr/>
        </p:nvSpPr>
        <p:spPr>
          <a:xfrm>
            <a:off x="8483600" y="3200400"/>
            <a:ext cx="2946400" cy="165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300">
                <a:solidFill>
                  <a:srgbClr val="4E4E4E"/>
                </a:solidFill>
                <a:latin typeface="MiSans"/>
                <a:ea typeface="MiSans"/>
              </a:rPr>
              <a:t>IV 1¼" и IV 1½" для крупных площадок и больших расходов</a:t>
            </a:r>
            <a:endParaRPr lang="en-US" sz="1300"/>
          </a:p>
          <a:p>
            <a:pPr algn="l">
              <a:lnSpc>
                <a:spcPct val="145000"/>
              </a:lnSpc>
              <a:spcBef>
                <a:spcPts val="800"/>
              </a:spcBef>
            </a:pPr>
            <a:r>
              <a:rPr lang="en-US" sz="1300">
                <a:solidFill>
                  <a:srgbClr val="818181"/>
                </a:solidFill>
                <a:latin typeface="MiSans"/>
                <a:ea typeface="MiSans"/>
              </a:rPr>
              <a:t>Автоматический выбор типоразмера по нагрузке</a:t>
            </a:r>
            <a:endParaRPr lang="en-US" sz="1300"/>
          </a:p>
        </p:txBody>
      </p:sp>
      <p:sp>
        <p:nvSpPr>
          <p:cNvPr id="17" name="note-bar"/>
          <p:cNvSpPr/>
          <p:nvPr/>
        </p:nvSpPr>
        <p:spPr>
          <a:xfrm>
            <a:off x="762000" y="5461000"/>
            <a:ext cx="10922000" cy="508000"/>
          </a:xfrm>
          <a:prstGeom prst="roundRect">
            <a:avLst>
              <a:gd name="adj" fmla="val 12000"/>
            </a:avLst>
          </a:prstGeom>
          <a:solidFill>
            <a:srgbClr val="4FC7B5"/>
          </a:solidFill>
          <a:ln>
            <a:noFill/>
          </a:ln>
        </p:spPr>
      </p:sp>
      <p:sp>
        <p:nvSpPr>
          <p:cNvPr id="18" name="note-text"/>
          <p:cNvSpPr txBox="1"/>
          <p:nvPr/>
        </p:nvSpPr>
        <p:spPr>
          <a:xfrm>
            <a:off x="1041400" y="5461000"/>
            <a:ext cx="10414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400" b="1">
                <a:solidFill>
                  <a:srgbClr val="000000"/>
                </a:solidFill>
                <a:latin typeface="MiSans"/>
                <a:ea typeface="MiSans"/>
              </a:rPr>
              <a:t>Спецификация формируется с артикулами РЕХАУ</a:t>
            </a:r>
            <a:r>
              <a:rPr lang="en-US" sz="1400">
                <a:solidFill>
                  <a:srgbClr val="000000"/>
                </a:solidFill>
                <a:latin typeface="MiSans"/>
                <a:ea typeface="MiSans"/>
              </a:rPr>
              <a:t> — из расчёта сразу понятно, что заказывать</a:t>
            </a:r>
            <a:endParaRPr lang="en-US" sz="1400"/>
          </a:p>
        </p:txBody>
      </p:sp>
      <p:pic>
        <p:nvPicPr>
          <p:cNvPr id="19" name="footer-logo"/>
          <p:cNvPicPr/>
          <p:nvPr/>
        </p:nvPicPr>
        <p:blipFill>
          <a:blip r:embed="rId2"/>
          <a:srcRect t="-84" b="-84"/>
          <a:stretch>
            <a:fillRect/>
          </a:stretch>
        </p:blipFill>
        <p:spPr>
          <a:xfrm>
            <a:off x="11074400" y="6350000"/>
            <a:ext cx="304800" cy="317500"/>
          </a:xfrm>
          <a:prstGeom prst="rect">
            <a:avLst/>
          </a:prstGeom>
          <a:ln>
            <a:noFill/>
          </a:ln>
        </p:spPr>
      </p:pic>
      <p:sp>
        <p:nvSpPr>
          <p:cNvPr id="20" name="page-num"/>
          <p:cNvSpPr txBox="1"/>
          <p:nvPr/>
        </p:nvSpPr>
        <p:spPr>
          <a:xfrm>
            <a:off x="11430000" y="6375400"/>
            <a:ext cx="304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818181"/>
                </a:solidFill>
                <a:latin typeface="MiSans"/>
                <a:ea typeface="MiSans"/>
              </a:rPr>
              <a:t>10</a:t>
            </a:r>
            <a:endParaRPr lang="en-US" sz="1100"/>
          </a:p>
        </p:txBody>
      </p:sp>
    </p:spTree>
  </p:cSld>
  <p:clrMapOvr>
    <a:masterClrMapping/>
  </p:clrMapOvr>
  <p:transition spd="fast" advClick="1">
    <p:checker dir="horz"/>
  </p:transition>
</p:sld>
</file>

<file path=ppt/slides/slide11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 txBox="1"/>
          <p:nvPr/>
        </p:nvSpPr>
        <p:spPr>
          <a:xfrm>
            <a:off x="762000" y="508000"/>
            <a:ext cx="889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b="1" spc="200" kern="0">
                <a:solidFill>
                  <a:srgbClr val="E50040"/>
                </a:solidFill>
                <a:latin typeface="MiSans"/>
                <a:ea typeface="MiSans"/>
              </a:rPr>
              <a:t>КЕЙС · «ЕКАТЕРИНБУРГ, ОБОГРЕВ НАРУЖНЫХ ПОВЕРХНОСТЕЙ»</a:t>
            </a:r>
            <a:endParaRPr lang="en-US" sz="1200"/>
          </a:p>
        </p:txBody>
      </p:sp>
      <p:sp>
        <p:nvSpPr>
          <p:cNvPr id="3" name="title"/>
          <p:cNvSpPr txBox="1"/>
          <p:nvPr/>
        </p:nvSpPr>
        <p:spPr>
          <a:xfrm>
            <a:off x="762000" y="762000"/>
            <a:ext cx="8128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3000" b="1">
                <a:solidFill>
                  <a:srgbClr val="000000"/>
                </a:solidFill>
                <a:latin typeface="MiSans"/>
                <a:ea typeface="MiSans"/>
              </a:rPr>
              <a:t>Весь расчёт — на одном экране</a:t>
            </a:r>
            <a:endParaRPr lang="en-US" sz="3000"/>
          </a:p>
        </p:txBody>
      </p:sp>
      <p:sp>
        <p:nvSpPr>
          <p:cNvPr id="4" name="title-bar"/>
          <p:cNvSpPr/>
          <p:nvPr/>
        </p:nvSpPr>
        <p:spPr>
          <a:xfrm>
            <a:off x="787400" y="1422400"/>
            <a:ext cx="584200" cy="63500"/>
          </a:xfrm>
          <a:prstGeom prst="rect">
            <a:avLst/>
          </a:prstGeom>
          <a:solidFill>
            <a:srgbClr val="E50040"/>
          </a:solidFill>
          <a:ln>
            <a:noFill/>
          </a:ln>
        </p:spPr>
      </p:sp>
      <p:sp>
        <p:nvSpPr>
          <p:cNvPr id="5" name="kpi-card-1"/>
          <p:cNvSpPr/>
          <p:nvPr/>
        </p:nvSpPr>
        <p:spPr>
          <a:xfrm>
            <a:off x="762000" y="1841500"/>
            <a:ext cx="26035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</p:sp>
      <p:sp>
        <p:nvSpPr>
          <p:cNvPr id="6" name="kpi-val-1"/>
          <p:cNvSpPr txBox="1"/>
          <p:nvPr/>
        </p:nvSpPr>
        <p:spPr>
          <a:xfrm>
            <a:off x="990600" y="2057400"/>
            <a:ext cx="2159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200" b="1">
                <a:solidFill>
                  <a:srgbClr val="E50040"/>
                </a:solidFill>
                <a:latin typeface="MiSans"/>
                <a:ea typeface="MiSans"/>
              </a:rPr>
              <a:t>55,8</a:t>
            </a:r>
            <a:endParaRPr lang="en-US" sz="3200"/>
          </a:p>
        </p:txBody>
      </p:sp>
      <p:sp>
        <p:nvSpPr>
          <p:cNvPr id="7" name="kpi-lbl-1"/>
          <p:cNvSpPr txBox="1"/>
          <p:nvPr/>
        </p:nvSpPr>
        <p:spPr>
          <a:xfrm>
            <a:off x="990600" y="2692400"/>
            <a:ext cx="2159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300">
                <a:solidFill>
                  <a:srgbClr val="818181"/>
                </a:solidFill>
                <a:latin typeface="MiSans"/>
                <a:ea typeface="MiSans"/>
              </a:rPr>
              <a:t>кВт — тепловая мощность системы</a:t>
            </a:r>
            <a:endParaRPr lang="en-US" sz="1300"/>
          </a:p>
        </p:txBody>
      </p:sp>
      <p:sp>
        <p:nvSpPr>
          <p:cNvPr id="8" name="kpi-card-2"/>
          <p:cNvSpPr/>
          <p:nvPr/>
        </p:nvSpPr>
        <p:spPr>
          <a:xfrm>
            <a:off x="3619500" y="1841500"/>
            <a:ext cx="26035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</p:sp>
      <p:sp>
        <p:nvSpPr>
          <p:cNvPr id="9" name="kpi-val-2"/>
          <p:cNvSpPr txBox="1"/>
          <p:nvPr/>
        </p:nvSpPr>
        <p:spPr>
          <a:xfrm>
            <a:off x="3848100" y="2057400"/>
            <a:ext cx="2159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200" b="1">
                <a:solidFill>
                  <a:srgbClr val="E50040"/>
                </a:solidFill>
                <a:latin typeface="MiSans"/>
                <a:ea typeface="MiSans"/>
              </a:rPr>
              <a:t>920</a:t>
            </a:r>
            <a:endParaRPr lang="en-US" sz="3200"/>
          </a:p>
        </p:txBody>
      </p:sp>
      <p:sp>
        <p:nvSpPr>
          <p:cNvPr id="10" name="kpi-lbl-2"/>
          <p:cNvSpPr txBox="1"/>
          <p:nvPr/>
        </p:nvSpPr>
        <p:spPr>
          <a:xfrm>
            <a:off x="3848100" y="2692400"/>
            <a:ext cx="2159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300">
                <a:solidFill>
                  <a:srgbClr val="818181"/>
                </a:solidFill>
                <a:latin typeface="MiSans"/>
                <a:ea typeface="MiSans"/>
              </a:rPr>
              <a:t>м — труба RAUTHERM S 20×2,0</a:t>
            </a:r>
            <a:endParaRPr lang="en-US" sz="1300"/>
          </a:p>
        </p:txBody>
      </p:sp>
      <p:sp>
        <p:nvSpPr>
          <p:cNvPr id="11" name="kpi-card-3"/>
          <p:cNvSpPr/>
          <p:nvPr/>
        </p:nvSpPr>
        <p:spPr>
          <a:xfrm>
            <a:off x="6477000" y="1841500"/>
            <a:ext cx="26035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</p:sp>
      <p:sp>
        <p:nvSpPr>
          <p:cNvPr id="12" name="kpi-val-3"/>
          <p:cNvSpPr txBox="1"/>
          <p:nvPr/>
        </p:nvSpPr>
        <p:spPr>
          <a:xfrm>
            <a:off x="6705600" y="2057400"/>
            <a:ext cx="2159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200" b="1">
                <a:solidFill>
                  <a:srgbClr val="E50040"/>
                </a:solidFill>
                <a:latin typeface="MiSans"/>
                <a:ea typeface="MiSans"/>
              </a:rPr>
              <a:t>2,66</a:t>
            </a:r>
            <a:endParaRPr lang="en-US" sz="3200"/>
          </a:p>
        </p:txBody>
      </p:sp>
      <p:sp>
        <p:nvSpPr>
          <p:cNvPr id="13" name="kpi-lbl-3"/>
          <p:cNvSpPr txBox="1"/>
          <p:nvPr/>
        </p:nvSpPr>
        <p:spPr>
          <a:xfrm>
            <a:off x="6705600" y="2692400"/>
            <a:ext cx="2159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300">
                <a:solidFill>
                  <a:srgbClr val="818181"/>
                </a:solidFill>
                <a:latin typeface="MiSans"/>
                <a:ea typeface="MiSans"/>
              </a:rPr>
              <a:t>м³/ч — расход насоса</a:t>
            </a:r>
            <a:endParaRPr lang="en-US" sz="1300"/>
          </a:p>
        </p:txBody>
      </p:sp>
      <p:sp>
        <p:nvSpPr>
          <p:cNvPr id="14" name="kpi-card-4"/>
          <p:cNvSpPr/>
          <p:nvPr/>
        </p:nvSpPr>
        <p:spPr>
          <a:xfrm>
            <a:off x="9334500" y="1841500"/>
            <a:ext cx="23495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</p:sp>
      <p:sp>
        <p:nvSpPr>
          <p:cNvPr id="15" name="kpi-val-4"/>
          <p:cNvSpPr txBox="1"/>
          <p:nvPr/>
        </p:nvSpPr>
        <p:spPr>
          <a:xfrm>
            <a:off x="9563100" y="2057400"/>
            <a:ext cx="1905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200" b="1">
                <a:solidFill>
                  <a:srgbClr val="E50040"/>
                </a:solidFill>
                <a:latin typeface="MiSans"/>
                <a:ea typeface="MiSans"/>
              </a:rPr>
              <a:t>29,2</a:t>
            </a:r>
            <a:endParaRPr lang="en-US" sz="3200"/>
          </a:p>
        </p:txBody>
      </p:sp>
      <p:sp>
        <p:nvSpPr>
          <p:cNvPr id="16" name="kpi-lbl-4"/>
          <p:cNvSpPr txBox="1"/>
          <p:nvPr/>
        </p:nvSpPr>
        <p:spPr>
          <a:xfrm>
            <a:off x="9563100" y="2692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300">
                <a:solidFill>
                  <a:srgbClr val="818181"/>
                </a:solidFill>
                <a:latin typeface="MiSans"/>
                <a:ea typeface="MiSans"/>
              </a:rPr>
              <a:t>кПа — напор насоса</a:t>
            </a:r>
            <a:endParaRPr lang="en-US" sz="1300"/>
          </a:p>
        </p:txBody>
      </p:sp>
      <p:sp>
        <p:nvSpPr>
          <p:cNvPr id="17" name="sub-card-1"/>
          <p:cNvSpPr/>
          <p:nvPr/>
        </p:nvSpPr>
        <p:spPr>
          <a:xfrm>
            <a:off x="762000" y="3683000"/>
            <a:ext cx="26035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</p:sp>
      <p:sp>
        <p:nvSpPr>
          <p:cNvPr id="18" name="sub-val-1"/>
          <p:cNvSpPr txBox="1"/>
          <p:nvPr/>
        </p:nvSpPr>
        <p:spPr>
          <a:xfrm>
            <a:off x="990600" y="3835400"/>
            <a:ext cx="2159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b="1">
                <a:solidFill>
                  <a:srgbClr val="000000"/>
                </a:solidFill>
                <a:latin typeface="MiSans"/>
                <a:ea typeface="MiSans"/>
              </a:rPr>
              <a:t>53,0 / 37,4 °C</a:t>
            </a:r>
            <a:endParaRPr lang="en-US" sz="2200"/>
          </a:p>
        </p:txBody>
      </p:sp>
      <p:sp>
        <p:nvSpPr>
          <p:cNvPr id="19" name="sub-lbl-1"/>
          <p:cNvSpPr txBox="1"/>
          <p:nvPr/>
        </p:nvSpPr>
        <p:spPr>
          <a:xfrm>
            <a:off x="990600" y="4292600"/>
            <a:ext cx="2159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200">
                <a:solidFill>
                  <a:srgbClr val="818181"/>
                </a:solidFill>
                <a:latin typeface="MiSans"/>
                <a:ea typeface="MiSans"/>
              </a:rPr>
              <a:t>подача / обратка</a:t>
            </a:r>
            <a:endParaRPr lang="en-US" sz="1200"/>
          </a:p>
        </p:txBody>
      </p:sp>
      <p:sp>
        <p:nvSpPr>
          <p:cNvPr id="20" name="sub-card-2"/>
          <p:cNvSpPr/>
          <p:nvPr/>
        </p:nvSpPr>
        <p:spPr>
          <a:xfrm>
            <a:off x="3619500" y="3683000"/>
            <a:ext cx="26035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</p:sp>
      <p:sp>
        <p:nvSpPr>
          <p:cNvPr id="21" name="sub-val-2"/>
          <p:cNvSpPr txBox="1"/>
          <p:nvPr/>
        </p:nvSpPr>
        <p:spPr>
          <a:xfrm>
            <a:off x="3848100" y="3835400"/>
            <a:ext cx="2159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b="1">
                <a:solidFill>
                  <a:srgbClr val="000000"/>
                </a:solidFill>
                <a:latin typeface="MiSans"/>
                <a:ea typeface="MiSans"/>
              </a:rPr>
              <a:t>4 коллектора</a:t>
            </a:r>
            <a:endParaRPr lang="en-US" sz="2200"/>
          </a:p>
        </p:txBody>
      </p:sp>
      <p:sp>
        <p:nvSpPr>
          <p:cNvPr id="22" name="sub-lbl-2"/>
          <p:cNvSpPr txBox="1"/>
          <p:nvPr/>
        </p:nvSpPr>
        <p:spPr>
          <a:xfrm>
            <a:off x="3848100" y="4292600"/>
            <a:ext cx="2159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200">
                <a:solidFill>
                  <a:srgbClr val="818181"/>
                </a:solidFill>
                <a:latin typeface="MiSans"/>
                <a:ea typeface="MiSans"/>
              </a:rPr>
              <a:t>IV 1¼" и HKV-D, 18 контуров</a:t>
            </a:r>
            <a:endParaRPr lang="en-US" sz="1200"/>
          </a:p>
        </p:txBody>
      </p:sp>
      <p:sp>
        <p:nvSpPr>
          <p:cNvPr id="23" name="sub-card-3"/>
          <p:cNvSpPr/>
          <p:nvPr/>
        </p:nvSpPr>
        <p:spPr>
          <a:xfrm>
            <a:off x="6477000" y="3683000"/>
            <a:ext cx="26035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</p:sp>
      <p:sp>
        <p:nvSpPr>
          <p:cNvPr id="24" name="sub-val-3"/>
          <p:cNvSpPr txBox="1"/>
          <p:nvPr/>
        </p:nvSpPr>
        <p:spPr>
          <a:xfrm>
            <a:off x="6705600" y="3835400"/>
            <a:ext cx="2159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b="1">
                <a:solidFill>
                  <a:srgbClr val="000000"/>
                </a:solidFill>
                <a:latin typeface="MiSans"/>
                <a:ea typeface="MiSans"/>
              </a:rPr>
              <a:t>335,4 Вт/м²</a:t>
            </a:r>
            <a:endParaRPr lang="en-US" sz="2200"/>
          </a:p>
        </p:txBody>
      </p:sp>
      <p:sp>
        <p:nvSpPr>
          <p:cNvPr id="25" name="sub-lbl-3"/>
          <p:cNvSpPr txBox="1"/>
          <p:nvPr/>
        </p:nvSpPr>
        <p:spPr>
          <a:xfrm>
            <a:off x="6705600" y="4292600"/>
            <a:ext cx="2159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200">
                <a:solidFill>
                  <a:srgbClr val="818181"/>
                </a:solidFill>
                <a:latin typeface="MiSans"/>
                <a:ea typeface="MiSans"/>
              </a:rPr>
              <a:t>суммарная удельная мощность</a:t>
            </a:r>
            <a:endParaRPr lang="en-US" sz="1200"/>
          </a:p>
        </p:txBody>
      </p:sp>
      <p:sp>
        <p:nvSpPr>
          <p:cNvPr id="26" name="sub-card-4"/>
          <p:cNvSpPr/>
          <p:nvPr/>
        </p:nvSpPr>
        <p:spPr>
          <a:xfrm>
            <a:off x="9334500" y="3683000"/>
            <a:ext cx="23495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</p:sp>
      <p:sp>
        <p:nvSpPr>
          <p:cNvPr id="27" name="sub-val-4"/>
          <p:cNvSpPr txBox="1"/>
          <p:nvPr/>
        </p:nvSpPr>
        <p:spPr>
          <a:xfrm>
            <a:off x="9563100" y="3835400"/>
            <a:ext cx="1905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b="1">
                <a:solidFill>
                  <a:srgbClr val="000000"/>
                </a:solidFill>
                <a:latin typeface="MiSans"/>
                <a:ea typeface="MiSans"/>
              </a:rPr>
              <a:t>7,5 л</a:t>
            </a:r>
            <a:endParaRPr lang="en-US" sz="2200"/>
          </a:p>
        </p:txBody>
      </p:sp>
      <p:sp>
        <p:nvSpPr>
          <p:cNvPr id="28" name="sub-lbl-4"/>
          <p:cNvSpPr txBox="1"/>
          <p:nvPr/>
        </p:nvSpPr>
        <p:spPr>
          <a:xfrm>
            <a:off x="9563100" y="42926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200">
                <a:solidFill>
                  <a:srgbClr val="818181"/>
                </a:solidFill>
                <a:latin typeface="MiSans"/>
                <a:ea typeface="MiSans"/>
              </a:rPr>
              <a:t>расширительный бак</a:t>
            </a:r>
            <a:endParaRPr lang="en-US" sz="1200"/>
          </a:p>
        </p:txBody>
      </p:sp>
      <p:sp>
        <p:nvSpPr>
          <p:cNvPr id="29" name="note-bar"/>
          <p:cNvSpPr/>
          <p:nvPr/>
        </p:nvSpPr>
        <p:spPr>
          <a:xfrm>
            <a:off x="762000" y="5207000"/>
            <a:ext cx="10922000" cy="711200"/>
          </a:xfrm>
          <a:prstGeom prst="roundRect">
            <a:avLst>
              <a:gd name="adj" fmla="val 12000"/>
            </a:avLst>
          </a:prstGeom>
          <a:solidFill>
            <a:srgbClr val="4FC7B5"/>
          </a:solidFill>
          <a:ln>
            <a:noFill/>
          </a:ln>
        </p:spPr>
      </p:sp>
      <p:sp>
        <p:nvSpPr>
          <p:cNvPr id="30" name="note-text"/>
          <p:cNvSpPr txBox="1"/>
          <p:nvPr/>
        </p:nvSpPr>
        <p:spPr>
          <a:xfrm>
            <a:off x="1041400" y="5207000"/>
            <a:ext cx="10414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400" b="1">
                <a:solidFill>
                  <a:srgbClr val="000000"/>
                </a:solidFill>
                <a:latin typeface="MiSans"/>
                <a:ea typeface="MiSans"/>
              </a:rPr>
              <a:t>Итог для объекта:</a:t>
            </a:r>
            <a:r>
              <a:rPr lang="en-US" sz="1400">
                <a:solidFill>
                  <a:srgbClr val="000000"/>
                </a:solidFill>
                <a:latin typeface="MiSans"/>
                <a:ea typeface="MiSans"/>
              </a:rPr>
              <a:t> полная спецификация оборудования и гидравлики сформирована автоматически и готова к выгрузке в PDF</a:t>
            </a:r>
            <a:endParaRPr lang="en-US" sz="1400"/>
          </a:p>
        </p:txBody>
      </p:sp>
      <p:pic>
        <p:nvPicPr>
          <p:cNvPr id="31" name="footer-logo"/>
          <p:cNvPicPr/>
          <p:nvPr/>
        </p:nvPicPr>
        <p:blipFill>
          <a:blip r:embed="rId2"/>
          <a:srcRect t="-84" b="-84"/>
          <a:stretch>
            <a:fillRect/>
          </a:stretch>
        </p:blipFill>
        <p:spPr>
          <a:xfrm>
            <a:off x="11074400" y="6299200"/>
            <a:ext cx="304800" cy="317500"/>
          </a:xfrm>
          <a:prstGeom prst="rect">
            <a:avLst/>
          </a:prstGeom>
          <a:ln>
            <a:noFill/>
          </a:ln>
        </p:spPr>
      </p:pic>
      <p:sp>
        <p:nvSpPr>
          <p:cNvPr id="32" name="page-num"/>
          <p:cNvSpPr txBox="1"/>
          <p:nvPr/>
        </p:nvSpPr>
        <p:spPr>
          <a:xfrm>
            <a:off x="11430000" y="6324600"/>
            <a:ext cx="304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818181"/>
                </a:solidFill>
                <a:latin typeface="MiSans"/>
                <a:ea typeface="MiSans"/>
              </a:rPr>
              <a:t>11</a:t>
            </a:r>
            <a:endParaRPr lang="en-US" sz="1100"/>
          </a:p>
        </p:txBody>
      </p:sp>
    </p:spTree>
  </p:cSld>
  <p:clrMapOvr>
    <a:masterClrMapping/>
  </p:clrMapOvr>
  <p:transition spd="fast" advClick="1">
    <p:checker dir="horz"/>
  </p:transition>
</p:sld>
</file>

<file path=ppt/slides/slide12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 txBox="1"/>
          <p:nvPr/>
        </p:nvSpPr>
        <p:spPr>
          <a:xfrm>
            <a:off x="762000" y="5080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b="1" spc="200" kern="0">
                <a:solidFill>
                  <a:srgbClr val="E50040"/>
                </a:solidFill>
                <a:latin typeface="MiSans"/>
                <a:ea typeface="MiSans"/>
              </a:rPr>
              <a:t>ВЫХОДНОЙ ДОКУМЕНТ</a:t>
            </a:r>
            <a:endParaRPr lang="en-US" sz="1200"/>
          </a:p>
        </p:txBody>
      </p:sp>
      <p:sp>
        <p:nvSpPr>
          <p:cNvPr id="3" name="title"/>
          <p:cNvSpPr txBox="1"/>
          <p:nvPr/>
        </p:nvSpPr>
        <p:spPr>
          <a:xfrm>
            <a:off x="762000" y="762000"/>
            <a:ext cx="8890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3000" b="1">
                <a:solidFill>
                  <a:srgbClr val="000000"/>
                </a:solidFill>
                <a:latin typeface="MiSans"/>
                <a:ea typeface="MiSans"/>
              </a:rPr>
              <a:t>Отчёт в PDF — в один клик</a:t>
            </a:r>
            <a:endParaRPr lang="en-US" sz="3000"/>
          </a:p>
        </p:txBody>
      </p:sp>
      <p:sp>
        <p:nvSpPr>
          <p:cNvPr id="4" name="title-bar"/>
          <p:cNvSpPr/>
          <p:nvPr/>
        </p:nvSpPr>
        <p:spPr>
          <a:xfrm>
            <a:off x="787400" y="1422400"/>
            <a:ext cx="584200" cy="63500"/>
          </a:xfrm>
          <a:prstGeom prst="rect">
            <a:avLst/>
          </a:prstGeom>
          <a:solidFill>
            <a:srgbClr val="E50040"/>
          </a:solidFill>
          <a:ln>
            <a:noFill/>
          </a:ln>
        </p:spPr>
      </p:sp>
      <p:pic>
        <p:nvPicPr>
          <p:cNvPr id="5" name="report-img"/>
          <p:cNvPicPr/>
          <p:nvPr/>
        </p:nvPicPr>
        <p:blipFill>
          <a:blip r:embed="rId2"/>
          <a:srcRect b="12000"/>
          <a:stretch>
            <a:fillRect/>
          </a:stretch>
        </p:blipFill>
        <p:spPr>
          <a:xfrm>
            <a:off x="762000" y="1778000"/>
            <a:ext cx="4064000" cy="2870200"/>
          </a:xfrm>
          <a:prstGeom prst="rect">
            <a:avLst/>
          </a:prstGeom>
          <a:ln>
            <a:noFill/>
          </a:ln>
          <a:effectLst>
            <a:outerShdw blurRad="152400" dist="50800" dir="5400000" sx="100000" sy="100000" kx="0" ky="0" algn="bl" rotWithShape="0">
              <a:srgbClr val="000000">
                <a:alpha val="14902"/>
              </a:srgbClr>
            </a:outerShdw>
          </a:effectLst>
        </p:spPr>
      </p:pic>
      <p:sp>
        <p:nvSpPr>
          <p:cNvPr id="6" name="report-img-border"/>
          <p:cNvSpPr/>
          <p:nvPr/>
        </p:nvSpPr>
        <p:spPr>
          <a:xfrm>
            <a:off x="762000" y="1778000"/>
            <a:ext cx="4064000" cy="2870200"/>
          </a:xfrm>
          <a:prstGeom prst="rect">
            <a:avLst/>
          </a:prstGeom>
          <a:noFill/>
          <a:ln w="12700">
            <a:solidFill>
              <a:srgbClr val="D9D9D9"/>
            </a:solidFill>
          </a:ln>
        </p:spPr>
      </p:sp>
      <p:sp>
        <p:nvSpPr>
          <p:cNvPr id="7" name="report-caption"/>
          <p:cNvSpPr txBox="1"/>
          <p:nvPr/>
        </p:nvSpPr>
        <p:spPr>
          <a:xfrm>
            <a:off x="762000" y="4775200"/>
            <a:ext cx="4064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818181"/>
                </a:solidFill>
                <a:latin typeface="MiSans"/>
                <a:ea typeface="MiSans"/>
              </a:rPr>
              <a:t>Первая страница отчёта — проект 9-100000</a:t>
            </a:r>
            <a:endParaRPr lang="en-US" sz="1100"/>
          </a:p>
        </p:txBody>
      </p:sp>
      <p:sp>
        <p:nvSpPr>
          <p:cNvPr id="8" name="bullet-mark-1"/>
          <p:cNvSpPr/>
          <p:nvPr/>
        </p:nvSpPr>
        <p:spPr>
          <a:xfrm>
            <a:off x="5461000" y="1879600"/>
            <a:ext cx="114300" cy="114300"/>
          </a:xfrm>
          <a:prstGeom prst="rect">
            <a:avLst/>
          </a:prstGeom>
          <a:solidFill>
            <a:srgbClr val="E50040"/>
          </a:solidFill>
          <a:ln>
            <a:noFill/>
          </a:ln>
        </p:spPr>
      </p:sp>
      <p:sp>
        <p:nvSpPr>
          <p:cNvPr id="9" name="bullet-1"/>
          <p:cNvSpPr txBox="1"/>
          <p:nvPr/>
        </p:nvSpPr>
        <p:spPr>
          <a:xfrm>
            <a:off x="5740400" y="1803400"/>
            <a:ext cx="5842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400" b="1">
                <a:solidFill>
                  <a:srgbClr val="4E4E4E"/>
                </a:solidFill>
                <a:latin typeface="MiSans"/>
                <a:ea typeface="MiSans"/>
              </a:rPr>
              <a:t>КПИ и исходные данные</a:t>
            </a:r>
            <a:r>
              <a:rPr lang="en-US" sz="1400">
                <a:solidFill>
                  <a:srgbClr val="4E4E4E"/>
                </a:solidFill>
                <a:latin typeface="MiSans"/>
                <a:ea typeface="MiSans"/>
              </a:rPr>
              <a:t> — мощность, насос, климат, конструкция, теплоноситель</a:t>
            </a:r>
            <a:endParaRPr lang="en-US" sz="1400"/>
          </a:p>
        </p:txBody>
      </p:sp>
      <p:sp>
        <p:nvSpPr>
          <p:cNvPr id="10" name="bullet-mark-2"/>
          <p:cNvSpPr/>
          <p:nvPr/>
        </p:nvSpPr>
        <p:spPr>
          <a:xfrm>
            <a:off x="5461000" y="2540000"/>
            <a:ext cx="114300" cy="114300"/>
          </a:xfrm>
          <a:prstGeom prst="rect">
            <a:avLst/>
          </a:prstGeom>
          <a:solidFill>
            <a:srgbClr val="4FC7B5"/>
          </a:solidFill>
          <a:ln>
            <a:noFill/>
          </a:ln>
        </p:spPr>
      </p:sp>
      <p:sp>
        <p:nvSpPr>
          <p:cNvPr id="11" name="bullet-2"/>
          <p:cNvSpPr txBox="1"/>
          <p:nvPr/>
        </p:nvSpPr>
        <p:spPr>
          <a:xfrm>
            <a:off x="5740400" y="2463800"/>
            <a:ext cx="5842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400" b="1">
                <a:solidFill>
                  <a:srgbClr val="4E4E4E"/>
                </a:solidFill>
                <a:latin typeface="MiSans"/>
                <a:ea typeface="MiSans"/>
              </a:rPr>
              <a:t>Ведомость оборудования и слои «пирога»</a:t>
            </a:r>
            <a:r>
              <a:rPr lang="en-US" sz="1400">
                <a:solidFill>
                  <a:srgbClr val="4E4E4E"/>
                </a:solidFill>
                <a:latin typeface="MiSans"/>
                <a:ea typeface="MiSans"/>
              </a:rPr>
              <a:t> — материалы, толщины, λ, R</a:t>
            </a:r>
            <a:endParaRPr lang="en-US" sz="1400"/>
          </a:p>
        </p:txBody>
      </p:sp>
      <p:sp>
        <p:nvSpPr>
          <p:cNvPr id="12" name="bullet-mark-3"/>
          <p:cNvSpPr/>
          <p:nvPr/>
        </p:nvSpPr>
        <p:spPr>
          <a:xfrm>
            <a:off x="5461000" y="3200400"/>
            <a:ext cx="114300" cy="114300"/>
          </a:xfrm>
          <a:prstGeom prst="rect">
            <a:avLst/>
          </a:prstGeom>
          <a:solidFill>
            <a:srgbClr val="E50040"/>
          </a:solidFill>
          <a:ln>
            <a:noFill/>
          </a:ln>
        </p:spPr>
      </p:sp>
      <p:sp>
        <p:nvSpPr>
          <p:cNvPr id="13" name="bullet-3"/>
          <p:cNvSpPr txBox="1"/>
          <p:nvPr/>
        </p:nvSpPr>
        <p:spPr>
          <a:xfrm>
            <a:off x="5740400" y="3124200"/>
            <a:ext cx="5842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400" b="1">
                <a:solidFill>
                  <a:srgbClr val="4E4E4E"/>
                </a:solidFill>
                <a:latin typeface="MiSans"/>
                <a:ea typeface="MiSans"/>
              </a:rPr>
              <a:t>Приложение по гидравлике</a:t>
            </a:r>
            <a:r>
              <a:rPr lang="en-US" sz="1400">
                <a:solidFill>
                  <a:srgbClr val="4E4E4E"/>
                </a:solidFill>
                <a:latin typeface="MiSans"/>
                <a:ea typeface="MiSans"/>
              </a:rPr>
              <a:t> — таблица каждого контура: расход, ΔP, дросселирование, обороты</a:t>
            </a:r>
            <a:endParaRPr lang="en-US" sz="1400"/>
          </a:p>
        </p:txBody>
      </p:sp>
      <p:sp>
        <p:nvSpPr>
          <p:cNvPr id="14" name="bullet-mark-4"/>
          <p:cNvSpPr/>
          <p:nvPr/>
        </p:nvSpPr>
        <p:spPr>
          <a:xfrm>
            <a:off x="5461000" y="3860800"/>
            <a:ext cx="114300" cy="114300"/>
          </a:xfrm>
          <a:prstGeom prst="rect">
            <a:avLst/>
          </a:prstGeom>
          <a:solidFill>
            <a:srgbClr val="4FC7B5"/>
          </a:solidFill>
          <a:ln>
            <a:noFill/>
          </a:ln>
        </p:spPr>
      </p:sp>
      <p:sp>
        <p:nvSpPr>
          <p:cNvPr id="15" name="bullet-4"/>
          <p:cNvSpPr txBox="1"/>
          <p:nvPr/>
        </p:nvSpPr>
        <p:spPr>
          <a:xfrm>
            <a:off x="5740400" y="3784600"/>
            <a:ext cx="5842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400" b="1">
                <a:solidFill>
                  <a:srgbClr val="4E4E4E"/>
                </a:solidFill>
                <a:latin typeface="MiSans"/>
                <a:ea typeface="MiSans"/>
              </a:rPr>
              <a:t>Брендированный документ</a:t>
            </a:r>
            <a:r>
              <a:rPr lang="en-US" sz="1400">
                <a:solidFill>
                  <a:srgbClr val="4E4E4E"/>
                </a:solidFill>
                <a:latin typeface="MiSans"/>
                <a:ea typeface="MiSans"/>
              </a:rPr>
              <a:t> — шапка РЕХАУ, нумерация, дата, готов к передаче заказчику</a:t>
            </a:r>
            <a:endParaRPr lang="en-US" sz="1400"/>
          </a:p>
        </p:txBody>
      </p:sp>
      <p:pic>
        <p:nvPicPr>
          <p:cNvPr id="16" name="toolbar-img"/>
          <p:cNvPicPr/>
          <p:nvPr/>
        </p:nvPicPr>
        <p:blipFill>
          <a:blip r:embed="rId3"/>
          <a:srcRect l="-63" r="-63"/>
          <a:stretch>
            <a:fillRect/>
          </a:stretch>
        </p:blipFill>
        <p:spPr>
          <a:xfrm>
            <a:off x="5740400" y="4699000"/>
            <a:ext cx="5334000" cy="1130300"/>
          </a:xfrm>
          <a:prstGeom prst="rect">
            <a:avLst/>
          </a:prstGeom>
          <a:ln>
            <a:noFill/>
          </a:ln>
        </p:spPr>
      </p:pic>
      <p:sp>
        <p:nvSpPr>
          <p:cNvPr id="17" name="toolbar-caption"/>
          <p:cNvSpPr txBox="1"/>
          <p:nvPr/>
        </p:nvSpPr>
        <p:spPr>
          <a:xfrm>
            <a:off x="5740400" y="5918200"/>
            <a:ext cx="5842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818181"/>
                </a:solidFill>
                <a:latin typeface="MiSans"/>
                <a:ea typeface="MiSans"/>
              </a:rPr>
              <a:t>Кнопки на экране результатов: предпросмотр, печать, сохранение</a:t>
            </a:r>
            <a:endParaRPr lang="en-US" sz="1100"/>
          </a:p>
        </p:txBody>
      </p:sp>
      <p:pic>
        <p:nvPicPr>
          <p:cNvPr id="18" name="footer-logo"/>
          <p:cNvPicPr/>
          <p:nvPr/>
        </p:nvPicPr>
        <p:blipFill>
          <a:blip r:embed="rId4"/>
          <a:srcRect t="-84" b="-84"/>
          <a:stretch>
            <a:fillRect/>
          </a:stretch>
        </p:blipFill>
        <p:spPr>
          <a:xfrm>
            <a:off x="11074400" y="6350000"/>
            <a:ext cx="304800" cy="317500"/>
          </a:xfrm>
          <a:prstGeom prst="rect">
            <a:avLst/>
          </a:prstGeom>
          <a:ln>
            <a:noFill/>
          </a:ln>
        </p:spPr>
      </p:pic>
      <p:sp>
        <p:nvSpPr>
          <p:cNvPr id="19" name="page-num"/>
          <p:cNvSpPr txBox="1"/>
          <p:nvPr/>
        </p:nvSpPr>
        <p:spPr>
          <a:xfrm>
            <a:off x="11430000" y="6375400"/>
            <a:ext cx="304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818181"/>
                </a:solidFill>
                <a:latin typeface="MiSans"/>
                <a:ea typeface="MiSans"/>
              </a:rPr>
              <a:t>12</a:t>
            </a:r>
            <a:endParaRPr lang="en-US" sz="1100"/>
          </a:p>
        </p:txBody>
      </p:sp>
    </p:spTree>
  </p:cSld>
  <p:clrMapOvr>
    <a:masterClrMapping/>
  </p:clrMapOvr>
  <p:transition spd="fast" advClick="1">
    <p:checker dir="horz"/>
  </p:transition>
</p:sld>
</file>

<file path=ppt/slides/slide13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 txBox="1"/>
          <p:nvPr/>
        </p:nvSpPr>
        <p:spPr>
          <a:xfrm>
            <a:off x="762000" y="5080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b="1" spc="200" kern="0">
                <a:solidFill>
                  <a:srgbClr val="E50040"/>
                </a:solidFill>
                <a:latin typeface="MiSans"/>
                <a:ea typeface="MiSans"/>
              </a:rPr>
              <a:t>РАЗВИТИЕ</a:t>
            </a:r>
            <a:endParaRPr lang="en-US" sz="1200"/>
          </a:p>
        </p:txBody>
      </p:sp>
      <p:sp>
        <p:nvSpPr>
          <p:cNvPr id="3" name="title"/>
          <p:cNvSpPr txBox="1"/>
          <p:nvPr/>
        </p:nvSpPr>
        <p:spPr>
          <a:xfrm>
            <a:off x="762000" y="762000"/>
            <a:ext cx="8890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3000" b="1">
                <a:solidFill>
                  <a:srgbClr val="000000"/>
                </a:solidFill>
                <a:latin typeface="MiSans"/>
                <a:ea typeface="MiSans"/>
              </a:rPr>
              <a:t>Что уже есть и что дальше</a:t>
            </a:r>
            <a:endParaRPr lang="en-US" sz="3000"/>
          </a:p>
        </p:txBody>
      </p:sp>
      <p:sp>
        <p:nvSpPr>
          <p:cNvPr id="4" name="title-bar"/>
          <p:cNvSpPr/>
          <p:nvPr/>
        </p:nvSpPr>
        <p:spPr>
          <a:xfrm>
            <a:off x="787400" y="1422400"/>
            <a:ext cx="584200" cy="63500"/>
          </a:xfrm>
          <a:prstGeom prst="rect">
            <a:avLst/>
          </a:prstGeom>
          <a:solidFill>
            <a:srgbClr val="E50040"/>
          </a:solidFill>
          <a:ln>
            <a:noFill/>
          </a:ln>
        </p:spPr>
      </p:sp>
      <p:sp>
        <p:nvSpPr>
          <p:cNvPr id="5" name="col-1-head"/>
          <p:cNvSpPr/>
          <p:nvPr/>
        </p:nvSpPr>
        <p:spPr>
          <a:xfrm>
            <a:off x="762000" y="1905000"/>
            <a:ext cx="3467100" cy="558800"/>
          </a:xfrm>
          <a:prstGeom prst="roundRect">
            <a:avLst>
              <a:gd name="adj" fmla="val 16000"/>
            </a:avLst>
          </a:prstGeom>
          <a:solidFill>
            <a:srgbClr val="4FC7B5"/>
          </a:solidFill>
          <a:ln>
            <a:noFill/>
          </a:ln>
        </p:spPr>
      </p:sp>
      <p:sp>
        <p:nvSpPr>
          <p:cNvPr id="6" name="col-1-head-text"/>
          <p:cNvSpPr txBox="1"/>
          <p:nvPr/>
        </p:nvSpPr>
        <p:spPr>
          <a:xfrm>
            <a:off x="1041400" y="1905000"/>
            <a:ext cx="2921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600" b="1">
                <a:solidFill>
                  <a:srgbClr val="000000"/>
                </a:solidFill>
                <a:latin typeface="MiSans"/>
                <a:ea typeface="MiSans"/>
              </a:rPr>
              <a:t>Реализовано</a:t>
            </a:r>
            <a:endParaRPr lang="en-US" sz="1600"/>
          </a:p>
        </p:txBody>
      </p:sp>
      <p:sp>
        <p:nvSpPr>
          <p:cNvPr id="7" name="col-1-body"/>
          <p:cNvSpPr/>
          <p:nvPr/>
        </p:nvSpPr>
        <p:spPr>
          <a:xfrm>
            <a:off x="762000" y="2565400"/>
            <a:ext cx="3467100" cy="29210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12700">
            <a:solidFill>
              <a:srgbClr val="D9D9D9"/>
            </a:solidFill>
          </a:ln>
        </p:spPr>
      </p:sp>
      <p:sp>
        <p:nvSpPr>
          <p:cNvPr id="8" name="col-1-text"/>
          <p:cNvSpPr txBox="1"/>
          <p:nvPr/>
        </p:nvSpPr>
        <p:spPr>
          <a:xfrm>
            <a:off x="1041400" y="2794000"/>
            <a:ext cx="2921000" cy="254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0000"/>
              </a:lnSpc>
            </a:pPr>
            <a:r>
              <a:rPr lang="en-US" sz="1300">
                <a:solidFill>
                  <a:srgbClr val="4E4E4E"/>
                </a:solidFill>
                <a:latin typeface="MiSans"/>
                <a:ea typeface="MiSans"/>
              </a:rPr>
              <a:t>Климат: 550 городов по СП 131.13330.2025</a:t>
            </a:r>
            <a:endParaRPr lang="en-US" sz="130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300">
                <a:solidFill>
                  <a:srgbClr val="4E4E4E"/>
                </a:solidFill>
                <a:latin typeface="MiSans"/>
                <a:ea typeface="MiSans"/>
              </a:rPr>
              <a:t>Конструкция с визуализацией «пирога»</a:t>
            </a:r>
            <a:endParaRPr lang="en-US" sz="130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300">
                <a:solidFill>
                  <a:srgbClr val="4E4E4E"/>
                </a:solidFill>
                <a:latin typeface="MiSans"/>
                <a:ea typeface="MiSans"/>
              </a:rPr>
              <a:t>Тепловой расчёт (режимы Melting)</a:t>
            </a:r>
            <a:endParaRPr lang="en-US" sz="130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300">
                <a:solidFill>
                  <a:srgbClr val="4E4E4E"/>
                </a:solidFill>
                <a:latin typeface="MiSans"/>
                <a:ea typeface="MiSans"/>
              </a:rPr>
              <a:t>Гидравлика с балансировкой по VDI 2075</a:t>
            </a:r>
            <a:endParaRPr lang="en-US" sz="130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300">
                <a:solidFill>
                  <a:srgbClr val="4E4E4E"/>
                </a:solidFill>
                <a:latin typeface="MiSans"/>
                <a:ea typeface="MiSans"/>
              </a:rPr>
              <a:t>PDF-отчёт с приложением по контурам</a:t>
            </a:r>
            <a:endParaRPr lang="en-US" sz="1300"/>
          </a:p>
        </p:txBody>
      </p:sp>
      <p:sp>
        <p:nvSpPr>
          <p:cNvPr id="9" name="col-2-head"/>
          <p:cNvSpPr/>
          <p:nvPr/>
        </p:nvSpPr>
        <p:spPr>
          <a:xfrm>
            <a:off x="4483100" y="1905000"/>
            <a:ext cx="3467100" cy="558800"/>
          </a:xfrm>
          <a:prstGeom prst="roundRect">
            <a:avLst>
              <a:gd name="adj" fmla="val 16000"/>
            </a:avLst>
          </a:prstGeom>
          <a:solidFill>
            <a:srgbClr val="E50040"/>
          </a:solidFill>
          <a:ln>
            <a:noFill/>
          </a:ln>
        </p:spPr>
      </p:sp>
      <p:sp>
        <p:nvSpPr>
          <p:cNvPr id="10" name="col-2-head-text"/>
          <p:cNvSpPr txBox="1"/>
          <p:nvPr/>
        </p:nvSpPr>
        <p:spPr>
          <a:xfrm>
            <a:off x="4762500" y="1905000"/>
            <a:ext cx="2921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600" b="1">
                <a:solidFill>
                  <a:srgbClr val="FFFFFF"/>
                </a:solidFill>
                <a:latin typeface="MiSans"/>
                <a:ea typeface="MiSans"/>
              </a:rPr>
              <a:t>В работе</a:t>
            </a:r>
            <a:endParaRPr lang="en-US" sz="1600"/>
          </a:p>
        </p:txBody>
      </p:sp>
      <p:sp>
        <p:nvSpPr>
          <p:cNvPr id="11" name="col-2-body"/>
          <p:cNvSpPr/>
          <p:nvPr/>
        </p:nvSpPr>
        <p:spPr>
          <a:xfrm>
            <a:off x="4483100" y="2565400"/>
            <a:ext cx="3467100" cy="29210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12700">
            <a:solidFill>
              <a:srgbClr val="D9D9D9"/>
            </a:solidFill>
          </a:ln>
        </p:spPr>
      </p:sp>
      <p:sp>
        <p:nvSpPr>
          <p:cNvPr id="12" name="col-2-text"/>
          <p:cNvSpPr txBox="1"/>
          <p:nvPr/>
        </p:nvSpPr>
        <p:spPr>
          <a:xfrm>
            <a:off x="4762500" y="2794000"/>
            <a:ext cx="2921000" cy="254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0000"/>
              </a:lnSpc>
            </a:pPr>
            <a:r>
              <a:rPr lang="en-US" sz="1300">
                <a:solidFill>
                  <a:srgbClr val="4E4E4E"/>
                </a:solidFill>
                <a:latin typeface="MiSans"/>
                <a:ea typeface="MiSans"/>
              </a:rPr>
              <a:t>Рабочий и холодный режимы гидравлики — выгрузка в .md</a:t>
            </a:r>
            <a:endParaRPr lang="en-US" sz="130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300">
                <a:solidFill>
                  <a:srgbClr val="4E4E4E"/>
                </a:solidFill>
                <a:latin typeface="MiSans"/>
                <a:ea typeface="MiSans"/>
              </a:rPr>
              <a:t>Полные формулы расчёта в составе PDF-отчёта</a:t>
            </a:r>
            <a:endParaRPr lang="en-US" sz="1300"/>
          </a:p>
        </p:txBody>
      </p:sp>
      <p:sp>
        <p:nvSpPr>
          <p:cNvPr id="13" name="col-3-head"/>
          <p:cNvSpPr/>
          <p:nvPr/>
        </p:nvSpPr>
        <p:spPr>
          <a:xfrm>
            <a:off x="8204200" y="1905000"/>
            <a:ext cx="3479800" cy="558800"/>
          </a:xfrm>
          <a:prstGeom prst="roundRect">
            <a:avLst>
              <a:gd name="adj" fmla="val 16000"/>
            </a:avLst>
          </a:prstGeom>
          <a:solidFill>
            <a:srgbClr val="000000"/>
          </a:solidFill>
          <a:ln>
            <a:noFill/>
          </a:ln>
        </p:spPr>
      </p:sp>
      <p:sp>
        <p:nvSpPr>
          <p:cNvPr id="14" name="col-3-head-text"/>
          <p:cNvSpPr txBox="1"/>
          <p:nvPr/>
        </p:nvSpPr>
        <p:spPr>
          <a:xfrm>
            <a:off x="8483600" y="1905000"/>
            <a:ext cx="29464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600" b="1">
                <a:solidFill>
                  <a:srgbClr val="FFFFFF"/>
                </a:solidFill>
                <a:latin typeface="MiSans"/>
                <a:ea typeface="MiSans"/>
              </a:rPr>
              <a:t>Далее</a:t>
            </a:r>
            <a:endParaRPr lang="en-US" sz="1600"/>
          </a:p>
        </p:txBody>
      </p:sp>
      <p:sp>
        <p:nvSpPr>
          <p:cNvPr id="15" name="col-3-body"/>
          <p:cNvSpPr/>
          <p:nvPr/>
        </p:nvSpPr>
        <p:spPr>
          <a:xfrm>
            <a:off x="8204200" y="2565400"/>
            <a:ext cx="3479800" cy="29210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12700">
            <a:solidFill>
              <a:srgbClr val="D9D9D9"/>
            </a:solidFill>
          </a:ln>
        </p:spPr>
      </p:sp>
      <p:sp>
        <p:nvSpPr>
          <p:cNvPr id="16" name="col-3-text"/>
          <p:cNvSpPr txBox="1"/>
          <p:nvPr/>
        </p:nvSpPr>
        <p:spPr>
          <a:xfrm>
            <a:off x="8483600" y="2794000"/>
            <a:ext cx="2946400" cy="254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0000"/>
              </a:lnSpc>
            </a:pPr>
            <a:r>
              <a:rPr lang="en-US" sz="1300">
                <a:solidFill>
                  <a:srgbClr val="4E4E4E"/>
                </a:solidFill>
                <a:latin typeface="MiSans"/>
                <a:ea typeface="MiSans"/>
              </a:rPr>
              <a:t>Экспорт отчётов Word и Excel</a:t>
            </a:r>
            <a:endParaRPr lang="en-US" sz="130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300">
                <a:solidFill>
                  <a:srgbClr val="4E4E4E"/>
                </a:solidFill>
                <a:latin typeface="MiSans"/>
                <a:ea typeface="MiSans"/>
              </a:rPr>
              <a:t>Библиотека типовых проектов</a:t>
            </a:r>
            <a:endParaRPr lang="en-US" sz="130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300">
                <a:solidFill>
                  <a:srgbClr val="4E4E4E"/>
                </a:solidFill>
                <a:latin typeface="MiSans"/>
                <a:ea typeface="MiSans"/>
              </a:rPr>
              <a:t>Пожелания проектировщиков — по итогам пилота</a:t>
            </a:r>
            <a:endParaRPr lang="en-US" sz="1300"/>
          </a:p>
        </p:txBody>
      </p:sp>
      <p:pic>
        <p:nvPicPr>
          <p:cNvPr id="17" name="footer-logo"/>
          <p:cNvPicPr/>
          <p:nvPr/>
        </p:nvPicPr>
        <p:blipFill>
          <a:blip r:embed="rId2"/>
          <a:srcRect t="-84" b="-84"/>
          <a:stretch>
            <a:fillRect/>
          </a:stretch>
        </p:blipFill>
        <p:spPr>
          <a:xfrm>
            <a:off x="11074400" y="6350000"/>
            <a:ext cx="304800" cy="317500"/>
          </a:xfrm>
          <a:prstGeom prst="rect">
            <a:avLst/>
          </a:prstGeom>
          <a:ln>
            <a:noFill/>
          </a:ln>
        </p:spPr>
      </p:pic>
      <p:sp>
        <p:nvSpPr>
          <p:cNvPr id="18" name="page-num"/>
          <p:cNvSpPr txBox="1"/>
          <p:nvPr/>
        </p:nvSpPr>
        <p:spPr>
          <a:xfrm>
            <a:off x="11430000" y="6375400"/>
            <a:ext cx="304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818181"/>
                </a:solidFill>
                <a:latin typeface="MiSans"/>
                <a:ea typeface="MiSans"/>
              </a:rPr>
              <a:t>13</a:t>
            </a:r>
            <a:endParaRPr lang="en-US" sz="1100"/>
          </a:p>
        </p:txBody>
      </p:sp>
    </p:spTree>
  </p:cSld>
  <p:clrMapOvr>
    <a:masterClrMapping/>
  </p:clrMapOvr>
  <p:transition spd="fast" advClick="1">
    <p:checker dir="horz"/>
  </p:transition>
</p:sld>
</file>

<file path=ppt/slides/slide14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attern-right"/>
          <p:cNvPicPr/>
          <p:nvPr/>
        </p:nvPicPr>
        <p:blipFill>
          <a:blip r:embed="rId2">
            <a:alphaModFix amt="55000"/>
          </a:blip>
          <a:srcRect l="30987" r="30987"/>
          <a:stretch>
            <a:fillRect/>
          </a:stretch>
        </p:blipFill>
        <p:spPr>
          <a:xfrm>
            <a:off x="8128000" y="0"/>
            <a:ext cx="4064000" cy="6858000"/>
          </a:xfrm>
          <a:prstGeom prst="rect">
            <a:avLst/>
          </a:prstGeom>
          <a:ln>
            <a:noFill/>
          </a:ln>
        </p:spPr>
      </p:pic>
      <p:pic>
        <p:nvPicPr>
          <p:cNvPr id="3" name="logo"/>
          <p:cNvPicPr/>
          <p:nvPr/>
        </p:nvPicPr>
        <p:blipFill>
          <a:blip r:embed="rId3"/>
          <a:srcRect l="-160" r="-160"/>
          <a:stretch>
            <a:fillRect/>
          </a:stretch>
        </p:blipFill>
        <p:spPr>
          <a:xfrm>
            <a:off x="762000" y="2540000"/>
            <a:ext cx="2413000" cy="1270000"/>
          </a:xfrm>
          <a:prstGeom prst="rect">
            <a:avLst/>
          </a:prstGeom>
          <a:ln>
            <a:noFill/>
          </a:ln>
        </p:spPr>
      </p:pic>
      <p:sp>
        <p:nvSpPr>
          <p:cNvPr id="4" name="accent-bar"/>
          <p:cNvSpPr/>
          <p:nvPr/>
        </p:nvSpPr>
        <p:spPr>
          <a:xfrm>
            <a:off x="787400" y="4064000"/>
            <a:ext cx="584200" cy="76200"/>
          </a:xfrm>
          <a:prstGeom prst="rect">
            <a:avLst/>
          </a:prstGeom>
          <a:solidFill>
            <a:srgbClr val="E50040"/>
          </a:solidFill>
          <a:ln>
            <a:noFill/>
          </a:ln>
        </p:spPr>
      </p:sp>
      <p:sp>
        <p:nvSpPr>
          <p:cNvPr id="5" name="slogan"/>
          <p:cNvSpPr txBox="1"/>
          <p:nvPr/>
        </p:nvSpPr>
        <p:spPr>
          <a:xfrm>
            <a:off x="762000" y="4318000"/>
            <a:ext cx="5334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000">
                <a:solidFill>
                  <a:srgbClr val="FFFFFF"/>
                </a:solidFill>
                <a:latin typeface="MiSans"/>
                <a:ea typeface="MiSans"/>
              </a:rPr>
              <a:t>Решения для дома и бизнеса</a:t>
            </a:r>
            <a:endParaRPr lang="en-US" sz="2000"/>
          </a:p>
        </p:txBody>
      </p:sp>
      <p:sp>
        <p:nvSpPr>
          <p:cNvPr id="6" name="contacts"/>
          <p:cNvSpPr txBox="1"/>
          <p:nvPr/>
        </p:nvSpPr>
        <p:spPr>
          <a:xfrm>
            <a:off x="762000" y="5461000"/>
            <a:ext cx="60960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0000"/>
              </a:lnSpc>
            </a:pPr>
            <a:r>
              <a:rPr lang="en-US" sz="1300">
                <a:solidFill>
                  <a:srgbClr val="B0B0B0"/>
                </a:solidFill>
                <a:latin typeface="MiSans"/>
                <a:ea typeface="MiSans"/>
              </a:rPr>
              <a:t>Автор и контакты — placeholder</a:t>
            </a:r>
            <a:endParaRPr lang="en-US" sz="1300"/>
          </a:p>
          <a:p>
            <a:pPr algn="l">
              <a:lnSpc>
                <a:spcPct val="150000"/>
              </a:lnSpc>
            </a:pPr>
            <a:r>
              <a:rPr lang="en-US" sz="1300">
                <a:solidFill>
                  <a:srgbClr val="B0B0B0"/>
                </a:solidFill>
                <a:latin typeface="MiSans"/>
                <a:ea typeface="MiSans"/>
              </a:rPr>
              <a:t>e-mail · телефон · сайт</a:t>
            </a:r>
            <a:endParaRPr lang="en-US" sz="1300"/>
          </a:p>
        </p:txBody>
      </p:sp>
      <p:sp>
        <p:nvSpPr>
          <p:cNvPr id="7" name="page-num"/>
          <p:cNvSpPr txBox="1"/>
          <p:nvPr/>
        </p:nvSpPr>
        <p:spPr>
          <a:xfrm>
            <a:off x="10922000" y="6324600"/>
            <a:ext cx="762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818181"/>
                </a:solidFill>
                <a:latin typeface="MiSans"/>
                <a:ea typeface="MiSans"/>
              </a:rPr>
              <a:t>14</a:t>
            </a:r>
            <a:endParaRPr lang="en-US" sz="1100"/>
          </a:p>
        </p:txBody>
      </p:sp>
    </p:spTree>
  </p:cSld>
  <p:clrMapOvr>
    <a:masterClrMapping/>
  </p:clrMapOvr>
  <p:transition spd="fast" advClick="1">
    <p:checker dir="horz"/>
  </p:transition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Neo Design</Application>
  <Company>Moonshot</Company>
  <Slides>14</Slides>
</Properties>
</file>

<file path=docProps/core.xml><?xml version="1.0" encoding="utf-8"?>
<cp:coreProperties xmlns:cp="http://schemas.openxmlformats.org/package/2006/metadata/core-properties" xmlns:dc="http://purl.org/dc/elements/1.1/">
  <dc:title>РЕХАУ Калькулятор снеготаяния — техническая презентация</dc:title>
  <dc:subject>РЕХАУ Калькулятор снеготаяния — техническая презентация</dc:subject>
  <dc:creator>Kimi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{"Label":"РЕХАУ Калькулятор снеготаяния — техническая презентация","ContentProducer":"001191110108MACG2KBH8F10000","ProduceID":"rehau_technical","ReservedCode1":"","ContentPropagator":"001191110108MACG2KBH8F20000","PropagateID":"agent:main:main:conversation:0e45d92d-2496-4a30-aac0-f895591856da","ReservedCode2":""}</vt:lpwstr>
  </property>
</Properties>
</file>